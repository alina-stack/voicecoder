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583680" y="-1371600"/>
            <a:ext cx="4572000" cy="4572000"/>
          </a:xfrm>
          <a:prstGeom prst="ellipse">
            <a:avLst/>
          </a:prstGeom>
          <a:solidFill>
            <a:srgbClr val="00ACC1">
              <a:alpha val="15000"/>
            </a:srgbClr>
          </a:solidFill>
          <a:ln w="12700">
            <a:solidFill>
              <a:srgbClr val="00ACC1">
                <a:alpha val="15000"/>
              </a:srgbClr>
            </a:solidFill>
            <a:prstDash val="solid"/>
          </a:ln>
        </p:spPr>
      </p:sp>
      <p:sp>
        <p:nvSpPr>
          <p:cNvPr id="3" name="Shape 1"/>
          <p:cNvSpPr/>
          <p:nvPr/>
        </p:nvSpPr>
        <p:spPr>
          <a:xfrm>
            <a:off x="7132320" y="-731520"/>
            <a:ext cx="2926080" cy="2926080"/>
          </a:xfrm>
          <a:prstGeom prst="ellipse">
            <a:avLst/>
          </a:prstGeom>
          <a:solidFill>
            <a:srgbClr val="1565C0">
              <a:alpha val="20000"/>
            </a:srgbClr>
          </a:solidFill>
          <a:ln w="12700">
            <a:solidFill>
              <a:srgbClr val="1565C0">
                <a:alpha val="20000"/>
              </a:srgbClr>
            </a:solidFill>
            <a:prstDash val="solid"/>
          </a:ln>
        </p:spPr>
      </p:sp>
      <p:sp>
        <p:nvSpPr>
          <p:cNvPr id="4" name="Shape 2"/>
          <p:cNvSpPr/>
          <p:nvPr/>
        </p:nvSpPr>
        <p:spPr>
          <a:xfrm>
            <a:off x="0" y="0"/>
            <a:ext cx="109728" cy="5143500"/>
          </a:xfrm>
          <a:prstGeom prst="rect">
            <a:avLst/>
          </a:prstGeom>
          <a:solidFill>
            <a:srgbClr val="00ACC1"/>
          </a:solidFill>
          <a:ln w="12700">
            <a:solidFill>
              <a:srgbClr val="00ACC1"/>
            </a:solidFill>
            <a:prstDash val="solid"/>
          </a:ln>
        </p:spPr>
      </p:sp>
      <p:sp>
        <p:nvSpPr>
          <p:cNvPr id="5" name="Shape 3"/>
          <p:cNvSpPr/>
          <p:nvPr/>
        </p:nvSpPr>
        <p:spPr>
          <a:xfrm>
            <a:off x="365760" y="320040"/>
            <a:ext cx="1280160" cy="292608"/>
          </a:xfrm>
          <a:prstGeom prst="rect">
            <a:avLst/>
          </a:prstGeom>
          <a:solidFill>
            <a:srgbClr val="00ACC1"/>
          </a:solidFill>
          <a:ln w="12700">
            <a:solidFill>
              <a:srgbClr val="00ACC1"/>
            </a:solidFill>
            <a:prstDash val="solid"/>
          </a:ln>
        </p:spPr>
      </p:sp>
      <p:sp>
        <p:nvSpPr>
          <p:cNvPr id="6" name="Text 4"/>
          <p:cNvSpPr/>
          <p:nvPr/>
        </p:nvSpPr>
        <p:spPr>
          <a:xfrm>
            <a:off x="365760" y="320040"/>
            <a:ext cx="1280160" cy="292608"/>
          </a:xfrm>
          <a:prstGeom prst="rect">
            <a:avLst/>
          </a:prstGeom>
          <a:noFill/>
          <a:ln/>
        </p:spPr>
        <p:txBody>
          <a:bodyPr wrap="square" lIns="0" tIns="0" rIns="0" bIns="0" rtlCol="0" anchor="ctr"/>
          <a:lstStyle/>
          <a:p>
            <a:pPr algn="ctr" indent="0" marL="0">
              <a:buNone/>
            </a:pPr>
            <a:r>
              <a:rPr lang="en-US" sz="1000" b="1" dirty="0">
                <a:solidFill>
                  <a:srgbClr val="FFFFFF"/>
                </a:solidFill>
              </a:rPr>
              <a:t>VC-WA01</a:t>
            </a:r>
            <a:endParaRPr lang="en-US" sz="1000" dirty="0"/>
          </a:p>
        </p:txBody>
      </p:sp>
      <p:sp>
        <p:nvSpPr>
          <p:cNvPr id="7" name="Text 5"/>
          <p:cNvSpPr/>
          <p:nvPr/>
        </p:nvSpPr>
        <p:spPr>
          <a:xfrm>
            <a:off x="320040" y="777240"/>
            <a:ext cx="5943600" cy="118872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VoiceCoder AI</a:t>
            </a:r>
            <a:endParaRPr lang="en-US" sz="5200" dirty="0"/>
          </a:p>
        </p:txBody>
      </p:sp>
      <p:sp>
        <p:nvSpPr>
          <p:cNvPr id="8" name="Shape 6"/>
          <p:cNvSpPr/>
          <p:nvPr/>
        </p:nvSpPr>
        <p:spPr>
          <a:xfrm>
            <a:off x="320040" y="1920240"/>
            <a:ext cx="2560320" cy="45720"/>
          </a:xfrm>
          <a:prstGeom prst="rect">
            <a:avLst/>
          </a:prstGeom>
          <a:solidFill>
            <a:srgbClr val="00ACC1"/>
          </a:solidFill>
          <a:ln w="12700">
            <a:solidFill>
              <a:srgbClr val="00ACC1"/>
            </a:solidFill>
            <a:prstDash val="solid"/>
          </a:ln>
        </p:spPr>
      </p:sp>
      <p:sp>
        <p:nvSpPr>
          <p:cNvPr id="9" name="Text 7"/>
          <p:cNvSpPr/>
          <p:nvPr/>
        </p:nvSpPr>
        <p:spPr>
          <a:xfrm>
            <a:off x="320040" y="2057400"/>
            <a:ext cx="6400800" cy="411480"/>
          </a:xfrm>
          <a:prstGeom prst="rect">
            <a:avLst/>
          </a:prstGeom>
          <a:noFill/>
          <a:ln/>
        </p:spPr>
        <p:txBody>
          <a:bodyPr wrap="square" lIns="0" tIns="0" rIns="0" bIns="0" rtlCol="0" anchor="ctr"/>
          <a:lstStyle/>
          <a:p>
            <a:pPr indent="0" marL="0">
              <a:buNone/>
            </a:pPr>
            <a:r>
              <a:rPr lang="en-US" sz="1600" dirty="0">
                <a:solidFill>
                  <a:srgbClr val="B0BEC5"/>
                </a:solidFill>
                <a:latin typeface="Calibri" pitchFamily="34" charset="0"/>
                <a:ea typeface="Calibri" pitchFamily="34" charset="-122"/>
                <a:cs typeface="Calibri" pitchFamily="34" charset="-120"/>
              </a:rPr>
              <a:t>Voice-Controlled C++ Programming Platform</a:t>
            </a:r>
            <a:endParaRPr lang="en-US" sz="1600" dirty="0"/>
          </a:p>
        </p:txBody>
      </p:sp>
      <p:sp>
        <p:nvSpPr>
          <p:cNvPr id="10" name="Shape 8"/>
          <p:cNvSpPr/>
          <p:nvPr/>
        </p:nvSpPr>
        <p:spPr>
          <a:xfrm>
            <a:off x="320040" y="2606040"/>
            <a:ext cx="1572768" cy="274320"/>
          </a:xfrm>
          <a:prstGeom prst="rect">
            <a:avLst/>
          </a:prstGeom>
          <a:solidFill>
            <a:srgbClr val="1A3358"/>
          </a:solidFill>
          <a:ln w="9525">
            <a:solidFill>
              <a:srgbClr val="00ACC1"/>
            </a:solidFill>
            <a:prstDash val="solid"/>
          </a:ln>
        </p:spPr>
      </p:sp>
      <p:sp>
        <p:nvSpPr>
          <p:cNvPr id="11" name="Text 9"/>
          <p:cNvSpPr/>
          <p:nvPr/>
        </p:nvSpPr>
        <p:spPr>
          <a:xfrm>
            <a:off x="320040" y="2606040"/>
            <a:ext cx="1572768" cy="274320"/>
          </a:xfrm>
          <a:prstGeom prst="rect">
            <a:avLst/>
          </a:prstGeom>
          <a:noFill/>
          <a:ln/>
        </p:spPr>
        <p:txBody>
          <a:bodyPr wrap="square" lIns="0" tIns="0" rIns="0" bIns="0" rtlCol="0" anchor="ctr"/>
          <a:lstStyle/>
          <a:p>
            <a:pPr algn="ctr" indent="0" marL="0">
              <a:buNone/>
            </a:pPr>
            <a:r>
              <a:rPr lang="en-US" sz="900" dirty="0">
                <a:solidFill>
                  <a:srgbClr val="00ACC1"/>
                </a:solidFill>
              </a:rPr>
              <a:t>GPT-4o AI</a:t>
            </a:r>
            <a:endParaRPr lang="en-US" sz="900" dirty="0"/>
          </a:p>
        </p:txBody>
      </p:sp>
      <p:sp>
        <p:nvSpPr>
          <p:cNvPr id="12" name="Shape 10"/>
          <p:cNvSpPr/>
          <p:nvPr/>
        </p:nvSpPr>
        <p:spPr>
          <a:xfrm>
            <a:off x="2039112" y="2606040"/>
            <a:ext cx="1572768" cy="274320"/>
          </a:xfrm>
          <a:prstGeom prst="rect">
            <a:avLst/>
          </a:prstGeom>
          <a:solidFill>
            <a:srgbClr val="1A3358"/>
          </a:solidFill>
          <a:ln w="9525">
            <a:solidFill>
              <a:srgbClr val="00ACC1"/>
            </a:solidFill>
            <a:prstDash val="solid"/>
          </a:ln>
        </p:spPr>
      </p:sp>
      <p:sp>
        <p:nvSpPr>
          <p:cNvPr id="13" name="Text 11"/>
          <p:cNvSpPr/>
          <p:nvPr/>
        </p:nvSpPr>
        <p:spPr>
          <a:xfrm>
            <a:off x="2039112" y="2606040"/>
            <a:ext cx="1572768" cy="274320"/>
          </a:xfrm>
          <a:prstGeom prst="rect">
            <a:avLst/>
          </a:prstGeom>
          <a:noFill/>
          <a:ln/>
        </p:spPr>
        <p:txBody>
          <a:bodyPr wrap="square" lIns="0" tIns="0" rIns="0" bIns="0" rtlCol="0" anchor="ctr"/>
          <a:lstStyle/>
          <a:p>
            <a:pPr algn="ctr" indent="0" marL="0">
              <a:buNone/>
            </a:pPr>
            <a:r>
              <a:rPr lang="en-US" sz="900" dirty="0">
                <a:solidFill>
                  <a:srgbClr val="00ACC1"/>
                </a:solidFill>
              </a:rPr>
              <a:t>Web Speech API</a:t>
            </a:r>
            <a:endParaRPr lang="en-US" sz="900" dirty="0"/>
          </a:p>
        </p:txBody>
      </p:sp>
      <p:sp>
        <p:nvSpPr>
          <p:cNvPr id="14" name="Shape 12"/>
          <p:cNvSpPr/>
          <p:nvPr/>
        </p:nvSpPr>
        <p:spPr>
          <a:xfrm>
            <a:off x="3758184" y="2606040"/>
            <a:ext cx="1572768" cy="274320"/>
          </a:xfrm>
          <a:prstGeom prst="rect">
            <a:avLst/>
          </a:prstGeom>
          <a:solidFill>
            <a:srgbClr val="1A3358"/>
          </a:solidFill>
          <a:ln w="9525">
            <a:solidFill>
              <a:srgbClr val="00ACC1"/>
            </a:solidFill>
            <a:prstDash val="solid"/>
          </a:ln>
        </p:spPr>
      </p:sp>
      <p:sp>
        <p:nvSpPr>
          <p:cNvPr id="15" name="Text 13"/>
          <p:cNvSpPr/>
          <p:nvPr/>
        </p:nvSpPr>
        <p:spPr>
          <a:xfrm>
            <a:off x="3758184" y="2606040"/>
            <a:ext cx="1572768" cy="274320"/>
          </a:xfrm>
          <a:prstGeom prst="rect">
            <a:avLst/>
          </a:prstGeom>
          <a:noFill/>
          <a:ln/>
        </p:spPr>
        <p:txBody>
          <a:bodyPr wrap="square" lIns="0" tIns="0" rIns="0" bIns="0" rtlCol="0" anchor="ctr"/>
          <a:lstStyle/>
          <a:p>
            <a:pPr algn="ctr" indent="0" marL="0">
              <a:buNone/>
            </a:pPr>
            <a:r>
              <a:rPr lang="en-US" sz="900" dirty="0">
                <a:solidFill>
                  <a:srgbClr val="00ACC1"/>
                </a:solidFill>
              </a:rPr>
              <a:t>Cloud Compilation</a:t>
            </a:r>
            <a:endParaRPr lang="en-US" sz="900" dirty="0"/>
          </a:p>
        </p:txBody>
      </p:sp>
      <p:sp>
        <p:nvSpPr>
          <p:cNvPr id="16" name="Shape 14"/>
          <p:cNvSpPr/>
          <p:nvPr/>
        </p:nvSpPr>
        <p:spPr>
          <a:xfrm>
            <a:off x="5477256" y="2606040"/>
            <a:ext cx="1572768" cy="274320"/>
          </a:xfrm>
          <a:prstGeom prst="rect">
            <a:avLst/>
          </a:prstGeom>
          <a:solidFill>
            <a:srgbClr val="1A3358"/>
          </a:solidFill>
          <a:ln w="9525">
            <a:solidFill>
              <a:srgbClr val="00ACC1"/>
            </a:solidFill>
            <a:prstDash val="solid"/>
          </a:ln>
        </p:spPr>
      </p:sp>
      <p:sp>
        <p:nvSpPr>
          <p:cNvPr id="17" name="Text 15"/>
          <p:cNvSpPr/>
          <p:nvPr/>
        </p:nvSpPr>
        <p:spPr>
          <a:xfrm>
            <a:off x="5477256" y="2606040"/>
            <a:ext cx="1572768" cy="274320"/>
          </a:xfrm>
          <a:prstGeom prst="rect">
            <a:avLst/>
          </a:prstGeom>
          <a:noFill/>
          <a:ln/>
        </p:spPr>
        <p:txBody>
          <a:bodyPr wrap="square" lIns="0" tIns="0" rIns="0" bIns="0" rtlCol="0" anchor="ctr"/>
          <a:lstStyle/>
          <a:p>
            <a:pPr algn="ctr" indent="0" marL="0">
              <a:buNone/>
            </a:pPr>
            <a:r>
              <a:rPr lang="en-US" sz="900" dirty="0">
                <a:solidFill>
                  <a:srgbClr val="00ACC1"/>
                </a:solidFill>
              </a:rPr>
              <a:t>Urdu TTS</a:t>
            </a:r>
            <a:endParaRPr lang="en-US" sz="900" dirty="0"/>
          </a:p>
        </p:txBody>
      </p:sp>
      <p:sp>
        <p:nvSpPr>
          <p:cNvPr id="18" name="Shape 16"/>
          <p:cNvSpPr/>
          <p:nvPr/>
        </p:nvSpPr>
        <p:spPr>
          <a:xfrm>
            <a:off x="7196328" y="2606040"/>
            <a:ext cx="1572768" cy="274320"/>
          </a:xfrm>
          <a:prstGeom prst="rect">
            <a:avLst/>
          </a:prstGeom>
          <a:solidFill>
            <a:srgbClr val="1A3358"/>
          </a:solidFill>
          <a:ln w="9525">
            <a:solidFill>
              <a:srgbClr val="00ACC1"/>
            </a:solidFill>
            <a:prstDash val="solid"/>
          </a:ln>
        </p:spPr>
      </p:sp>
      <p:sp>
        <p:nvSpPr>
          <p:cNvPr id="19" name="Text 17"/>
          <p:cNvSpPr/>
          <p:nvPr/>
        </p:nvSpPr>
        <p:spPr>
          <a:xfrm>
            <a:off x="7196328" y="2606040"/>
            <a:ext cx="1572768" cy="274320"/>
          </a:xfrm>
          <a:prstGeom prst="rect">
            <a:avLst/>
          </a:prstGeom>
          <a:noFill/>
          <a:ln/>
        </p:spPr>
        <p:txBody>
          <a:bodyPr wrap="square" lIns="0" tIns="0" rIns="0" bIns="0" rtlCol="0" anchor="ctr"/>
          <a:lstStyle/>
          <a:p>
            <a:pPr algn="ctr" indent="0" marL="0">
              <a:buNone/>
            </a:pPr>
            <a:r>
              <a:rPr lang="en-US" sz="900" dirty="0">
                <a:solidFill>
                  <a:srgbClr val="00ACC1"/>
                </a:solidFill>
              </a:rPr>
              <a:t>JWT Auth</a:t>
            </a:r>
            <a:endParaRPr lang="en-US" sz="900" dirty="0"/>
          </a:p>
        </p:txBody>
      </p:sp>
      <p:sp>
        <p:nvSpPr>
          <p:cNvPr id="20" name="Shape 18"/>
          <p:cNvSpPr/>
          <p:nvPr/>
        </p:nvSpPr>
        <p:spPr>
          <a:xfrm>
            <a:off x="0" y="4297680"/>
            <a:ext cx="9144000" cy="845820"/>
          </a:xfrm>
          <a:prstGeom prst="rect">
            <a:avLst/>
          </a:prstGeom>
          <a:solidFill>
            <a:srgbClr val="1A3358"/>
          </a:solidFill>
          <a:ln w="12700">
            <a:solidFill>
              <a:srgbClr val="1A3358"/>
            </a:solidFill>
            <a:prstDash val="solid"/>
          </a:ln>
        </p:spPr>
      </p:sp>
      <p:sp>
        <p:nvSpPr>
          <p:cNvPr id="21" name="Text 19"/>
          <p:cNvSpPr/>
          <p:nvPr/>
        </p:nvSpPr>
        <p:spPr>
          <a:xfrm>
            <a:off x="182880" y="4315968"/>
            <a:ext cx="8778240" cy="804672"/>
          </a:xfrm>
          <a:prstGeom prst="rect">
            <a:avLst/>
          </a:prstGeom>
          <a:noFill/>
          <a:ln/>
        </p:spPr>
        <p:txBody>
          <a:bodyPr wrap="square" lIns="0" tIns="0" rIns="0" bIns="0" rtlCol="0" anchor="ctr"/>
          <a:lstStyle/>
          <a:p>
            <a:pPr indent="0" marL="0">
              <a:buNone/>
            </a:pPr>
            <a:r>
              <a:rPr lang="en-US" sz="1000" b="1" dirty="0">
                <a:solidFill>
                  <a:srgbClr val="00ACC1"/>
                </a:solidFill>
              </a:rPr>
              <a:t>Team: </a:t>
            </a:r>
            <a:pPr indent="0" marL="0">
              <a:buNone/>
            </a:pPr>
            <a:r>
              <a:rPr lang="en-US" sz="1000" dirty="0">
                <a:solidFill>
                  <a:srgbClr val="FFFFFF"/>
                </a:solidFill>
              </a:rPr>
              <a:t>Alina Ahmed (S044)  •  Maryum Javed (S009)  •  Laiba Humayun (S031)  </a:t>
            </a:r>
            <a:pPr indent="0" marL="0">
              <a:buNone/>
            </a:pPr>
            <a:r>
              <a:rPr lang="en-US" sz="1000" b="1" dirty="0">
                <a:solidFill>
                  <a:srgbClr val="00ACC1"/>
                </a:solidFill>
              </a:rPr>
              <a:t>  |  Advisor: </a:t>
            </a:r>
            <a:pPr indent="0" marL="0">
              <a:buNone/>
            </a:pPr>
            <a:r>
              <a:rPr lang="en-US" sz="1000" dirty="0">
                <a:solidFill>
                  <a:srgbClr val="FFFFFF"/>
                </a:solidFill>
              </a:rPr>
              <a:t>Mr. Mudassar Ali Zaidi  •  Dr. Muhammad Ilyas (PM)  </a:t>
            </a:r>
            <a:pPr indent="0" marL="0">
              <a:buNone/>
            </a:pPr>
            <a:r>
              <a:rPr lang="en-US" sz="1000" dirty="0">
                <a:solidFill>
                  <a:srgbClr val="B0BEC5"/>
                </a:solidFill>
              </a:rPr>
              <a:t>  |  </a:t>
            </a:r>
            <a:pPr indent="0" marL="0">
              <a:buNone/>
            </a:pPr>
            <a:r>
              <a:rPr lang="en-US" sz="1000" dirty="0">
                <a:solidFill>
                  <a:srgbClr val="B0BEC5"/>
                </a:solidFill>
              </a:rPr>
              <a:t>University of Sargodha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358"/>
          </a:solidFill>
          <a:ln w="12700">
            <a:solidFill>
              <a:srgbClr val="1A3358"/>
            </a:solidFill>
            <a:prstDash val="solid"/>
          </a:ln>
        </p:spPr>
      </p:sp>
      <p:sp>
        <p:nvSpPr>
          <p:cNvPr id="3" name="Text 1"/>
          <p:cNvSpPr/>
          <p:nvPr/>
        </p:nvSpPr>
        <p:spPr>
          <a:xfrm>
            <a:off x="365760" y="91440"/>
            <a:ext cx="8229600" cy="8229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Presentation Agenda</a:t>
            </a:r>
            <a:endParaRPr lang="en-US" sz="3200" dirty="0"/>
          </a:p>
        </p:txBody>
      </p:sp>
      <p:sp>
        <p:nvSpPr>
          <p:cNvPr id="4" name="Shape 2"/>
          <p:cNvSpPr/>
          <p:nvPr/>
        </p:nvSpPr>
        <p:spPr>
          <a:xfrm>
            <a:off x="274320" y="1143000"/>
            <a:ext cx="4114800" cy="804672"/>
          </a:xfrm>
          <a:prstGeom prst="rect">
            <a:avLst/>
          </a:prstGeom>
          <a:solidFill>
            <a:srgbClr val="1A3358"/>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74320" y="1143000"/>
            <a:ext cx="45720" cy="804672"/>
          </a:xfrm>
          <a:prstGeom prst="rect">
            <a:avLst/>
          </a:prstGeom>
          <a:solidFill>
            <a:srgbClr val="00ACC1"/>
          </a:solidFill>
          <a:ln w="12700">
            <a:solidFill>
              <a:srgbClr val="00ACC1"/>
            </a:solidFill>
            <a:prstDash val="solid"/>
          </a:ln>
        </p:spPr>
      </p:sp>
      <p:sp>
        <p:nvSpPr>
          <p:cNvPr id="6" name="Text 4"/>
          <p:cNvSpPr/>
          <p:nvPr/>
        </p:nvSpPr>
        <p:spPr>
          <a:xfrm>
            <a:off x="384048" y="1143000"/>
            <a:ext cx="411480" cy="804672"/>
          </a:xfrm>
          <a:prstGeom prst="rect">
            <a:avLst/>
          </a:prstGeom>
          <a:noFill/>
          <a:ln/>
        </p:spPr>
        <p:txBody>
          <a:bodyPr wrap="square" lIns="0" tIns="0" rIns="0" bIns="0" rtlCol="0" anchor="ctr"/>
          <a:lstStyle/>
          <a:p>
            <a:pPr indent="0" marL="0">
              <a:buNone/>
            </a:pPr>
            <a:r>
              <a:rPr lang="en-US" sz="2000" b="1" dirty="0">
                <a:solidFill>
                  <a:srgbClr val="00ACC1"/>
                </a:solidFill>
              </a:rPr>
              <a:t>01</a:t>
            </a:r>
            <a:endParaRPr lang="en-US" sz="2000" dirty="0"/>
          </a:p>
        </p:txBody>
      </p:sp>
      <p:sp>
        <p:nvSpPr>
          <p:cNvPr id="7" name="Text 5"/>
          <p:cNvSpPr/>
          <p:nvPr/>
        </p:nvSpPr>
        <p:spPr>
          <a:xfrm>
            <a:off x="804672" y="1234440"/>
            <a:ext cx="3474720" cy="347472"/>
          </a:xfrm>
          <a:prstGeom prst="rect">
            <a:avLst/>
          </a:prstGeom>
          <a:noFill/>
          <a:ln/>
        </p:spPr>
        <p:txBody>
          <a:bodyPr wrap="square" lIns="0" tIns="0" rIns="0" bIns="0" rtlCol="0" anchor="ctr"/>
          <a:lstStyle/>
          <a:p>
            <a:pPr indent="0" marL="0">
              <a:buNone/>
            </a:pPr>
            <a:r>
              <a:rPr lang="en-US" sz="1100" b="1" dirty="0">
                <a:solidFill>
                  <a:srgbClr val="FFFFFF"/>
                </a:solidFill>
              </a:rPr>
              <a:t>Project Overview &amp; Abstract</a:t>
            </a:r>
            <a:endParaRPr lang="en-US" sz="1100" dirty="0"/>
          </a:p>
        </p:txBody>
      </p:sp>
      <p:sp>
        <p:nvSpPr>
          <p:cNvPr id="8" name="Text 6"/>
          <p:cNvSpPr/>
          <p:nvPr/>
        </p:nvSpPr>
        <p:spPr>
          <a:xfrm>
            <a:off x="804672" y="1572768"/>
            <a:ext cx="3474720" cy="274320"/>
          </a:xfrm>
          <a:prstGeom prst="rect">
            <a:avLst/>
          </a:prstGeom>
          <a:noFill/>
          <a:ln/>
        </p:spPr>
        <p:txBody>
          <a:bodyPr wrap="square" lIns="0" tIns="0" rIns="0" bIns="0" rtlCol="0" anchor="ctr"/>
          <a:lstStyle/>
          <a:p>
            <a:pPr indent="0" marL="0">
              <a:buNone/>
            </a:pPr>
            <a:r>
              <a:rPr lang="en-US" sz="900" dirty="0">
                <a:solidFill>
                  <a:srgbClr val="B0BEC5"/>
                </a:solidFill>
              </a:rPr>
              <a:t>Problem, team, and goals</a:t>
            </a:r>
            <a:endParaRPr lang="en-US" sz="900" dirty="0"/>
          </a:p>
        </p:txBody>
      </p:sp>
      <p:sp>
        <p:nvSpPr>
          <p:cNvPr id="9" name="Shape 7"/>
          <p:cNvSpPr/>
          <p:nvPr/>
        </p:nvSpPr>
        <p:spPr>
          <a:xfrm>
            <a:off x="274320" y="2057400"/>
            <a:ext cx="4114800" cy="804672"/>
          </a:xfrm>
          <a:prstGeom prst="rect">
            <a:avLst/>
          </a:prstGeom>
          <a:solidFill>
            <a:srgbClr val="1A3358"/>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74320" y="2057400"/>
            <a:ext cx="45720" cy="804672"/>
          </a:xfrm>
          <a:prstGeom prst="rect">
            <a:avLst/>
          </a:prstGeom>
          <a:solidFill>
            <a:srgbClr val="00ACC1"/>
          </a:solidFill>
          <a:ln w="12700">
            <a:solidFill>
              <a:srgbClr val="00ACC1"/>
            </a:solidFill>
            <a:prstDash val="solid"/>
          </a:ln>
        </p:spPr>
      </p:sp>
      <p:sp>
        <p:nvSpPr>
          <p:cNvPr id="11" name="Text 9"/>
          <p:cNvSpPr/>
          <p:nvPr/>
        </p:nvSpPr>
        <p:spPr>
          <a:xfrm>
            <a:off x="384048" y="2057400"/>
            <a:ext cx="411480" cy="804672"/>
          </a:xfrm>
          <a:prstGeom prst="rect">
            <a:avLst/>
          </a:prstGeom>
          <a:noFill/>
          <a:ln/>
        </p:spPr>
        <p:txBody>
          <a:bodyPr wrap="square" lIns="0" tIns="0" rIns="0" bIns="0" rtlCol="0" anchor="ctr"/>
          <a:lstStyle/>
          <a:p>
            <a:pPr indent="0" marL="0">
              <a:buNone/>
            </a:pPr>
            <a:r>
              <a:rPr lang="en-US" sz="2000" b="1" dirty="0">
                <a:solidFill>
                  <a:srgbClr val="00ACC1"/>
                </a:solidFill>
              </a:rPr>
              <a:t>02</a:t>
            </a:r>
            <a:endParaRPr lang="en-US" sz="2000" dirty="0"/>
          </a:p>
        </p:txBody>
      </p:sp>
      <p:sp>
        <p:nvSpPr>
          <p:cNvPr id="12" name="Text 10"/>
          <p:cNvSpPr/>
          <p:nvPr/>
        </p:nvSpPr>
        <p:spPr>
          <a:xfrm>
            <a:off x="804672" y="2148840"/>
            <a:ext cx="3474720" cy="347472"/>
          </a:xfrm>
          <a:prstGeom prst="rect">
            <a:avLst/>
          </a:prstGeom>
          <a:noFill/>
          <a:ln/>
        </p:spPr>
        <p:txBody>
          <a:bodyPr wrap="square" lIns="0" tIns="0" rIns="0" bIns="0" rtlCol="0" anchor="ctr"/>
          <a:lstStyle/>
          <a:p>
            <a:pPr indent="0" marL="0">
              <a:buNone/>
            </a:pPr>
            <a:r>
              <a:rPr lang="en-US" sz="1100" b="1" dirty="0">
                <a:solidFill>
                  <a:srgbClr val="FFFFFF"/>
                </a:solidFill>
              </a:rPr>
              <a:t>Background &amp; Justification</a:t>
            </a:r>
            <a:endParaRPr lang="en-US" sz="1100" dirty="0"/>
          </a:p>
        </p:txBody>
      </p:sp>
      <p:sp>
        <p:nvSpPr>
          <p:cNvPr id="13" name="Text 11"/>
          <p:cNvSpPr/>
          <p:nvPr/>
        </p:nvSpPr>
        <p:spPr>
          <a:xfrm>
            <a:off x="804672" y="2487168"/>
            <a:ext cx="3474720" cy="274320"/>
          </a:xfrm>
          <a:prstGeom prst="rect">
            <a:avLst/>
          </a:prstGeom>
          <a:noFill/>
          <a:ln/>
        </p:spPr>
        <p:txBody>
          <a:bodyPr wrap="square" lIns="0" tIns="0" rIns="0" bIns="0" rtlCol="0" anchor="ctr"/>
          <a:lstStyle/>
          <a:p>
            <a:pPr indent="0" marL="0">
              <a:buNone/>
            </a:pPr>
            <a:r>
              <a:rPr lang="en-US" sz="900" dirty="0">
                <a:solidFill>
                  <a:srgbClr val="B0BEC5"/>
                </a:solidFill>
              </a:rPr>
              <a:t>Why VoiceCoder AI is needed</a:t>
            </a:r>
            <a:endParaRPr lang="en-US" sz="900" dirty="0"/>
          </a:p>
        </p:txBody>
      </p:sp>
      <p:sp>
        <p:nvSpPr>
          <p:cNvPr id="14" name="Shape 12"/>
          <p:cNvSpPr/>
          <p:nvPr/>
        </p:nvSpPr>
        <p:spPr>
          <a:xfrm>
            <a:off x="274320" y="2971800"/>
            <a:ext cx="4114800" cy="804672"/>
          </a:xfrm>
          <a:prstGeom prst="rect">
            <a:avLst/>
          </a:prstGeom>
          <a:solidFill>
            <a:srgbClr val="1A3358"/>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5" name="Shape 13"/>
          <p:cNvSpPr/>
          <p:nvPr/>
        </p:nvSpPr>
        <p:spPr>
          <a:xfrm>
            <a:off x="274320" y="2971800"/>
            <a:ext cx="45720" cy="804672"/>
          </a:xfrm>
          <a:prstGeom prst="rect">
            <a:avLst/>
          </a:prstGeom>
          <a:solidFill>
            <a:srgbClr val="00ACC1"/>
          </a:solidFill>
          <a:ln w="12700">
            <a:solidFill>
              <a:srgbClr val="00ACC1"/>
            </a:solidFill>
            <a:prstDash val="solid"/>
          </a:ln>
        </p:spPr>
      </p:sp>
      <p:sp>
        <p:nvSpPr>
          <p:cNvPr id="16" name="Text 14"/>
          <p:cNvSpPr/>
          <p:nvPr/>
        </p:nvSpPr>
        <p:spPr>
          <a:xfrm>
            <a:off x="384048" y="2971800"/>
            <a:ext cx="411480" cy="804672"/>
          </a:xfrm>
          <a:prstGeom prst="rect">
            <a:avLst/>
          </a:prstGeom>
          <a:noFill/>
          <a:ln/>
        </p:spPr>
        <p:txBody>
          <a:bodyPr wrap="square" lIns="0" tIns="0" rIns="0" bIns="0" rtlCol="0" anchor="ctr"/>
          <a:lstStyle/>
          <a:p>
            <a:pPr indent="0" marL="0">
              <a:buNone/>
            </a:pPr>
            <a:r>
              <a:rPr lang="en-US" sz="2000" b="1" dirty="0">
                <a:solidFill>
                  <a:srgbClr val="00ACC1"/>
                </a:solidFill>
              </a:rPr>
              <a:t>03</a:t>
            </a:r>
            <a:endParaRPr lang="en-US" sz="2000" dirty="0"/>
          </a:p>
        </p:txBody>
      </p:sp>
      <p:sp>
        <p:nvSpPr>
          <p:cNvPr id="17" name="Text 15"/>
          <p:cNvSpPr/>
          <p:nvPr/>
        </p:nvSpPr>
        <p:spPr>
          <a:xfrm>
            <a:off x="804672" y="3063240"/>
            <a:ext cx="3474720" cy="347472"/>
          </a:xfrm>
          <a:prstGeom prst="rect">
            <a:avLst/>
          </a:prstGeom>
          <a:noFill/>
          <a:ln/>
        </p:spPr>
        <p:txBody>
          <a:bodyPr wrap="square" lIns="0" tIns="0" rIns="0" bIns="0" rtlCol="0" anchor="ctr"/>
          <a:lstStyle/>
          <a:p>
            <a:pPr indent="0" marL="0">
              <a:buNone/>
            </a:pPr>
            <a:r>
              <a:rPr lang="en-US" sz="1100" b="1" dirty="0">
                <a:solidFill>
                  <a:srgbClr val="FFFFFF"/>
                </a:solidFill>
              </a:rPr>
              <a:t>Methodology &amp; Scope</a:t>
            </a:r>
            <a:endParaRPr lang="en-US" sz="1100" dirty="0"/>
          </a:p>
        </p:txBody>
      </p:sp>
      <p:sp>
        <p:nvSpPr>
          <p:cNvPr id="18" name="Text 16"/>
          <p:cNvSpPr/>
          <p:nvPr/>
        </p:nvSpPr>
        <p:spPr>
          <a:xfrm>
            <a:off x="804672" y="3401568"/>
            <a:ext cx="3474720" cy="274320"/>
          </a:xfrm>
          <a:prstGeom prst="rect">
            <a:avLst/>
          </a:prstGeom>
          <a:noFill/>
          <a:ln/>
        </p:spPr>
        <p:txBody>
          <a:bodyPr wrap="square" lIns="0" tIns="0" rIns="0" bIns="0" rtlCol="0" anchor="ctr"/>
          <a:lstStyle/>
          <a:p>
            <a:pPr indent="0" marL="0">
              <a:buNone/>
            </a:pPr>
            <a:r>
              <a:rPr lang="en-US" sz="900" dirty="0">
                <a:solidFill>
                  <a:srgbClr val="B0BEC5"/>
                </a:solidFill>
              </a:rPr>
              <a:t>Development phases and boundaries</a:t>
            </a:r>
            <a:endParaRPr lang="en-US" sz="900" dirty="0"/>
          </a:p>
        </p:txBody>
      </p:sp>
      <p:sp>
        <p:nvSpPr>
          <p:cNvPr id="19" name="Shape 17"/>
          <p:cNvSpPr/>
          <p:nvPr/>
        </p:nvSpPr>
        <p:spPr>
          <a:xfrm>
            <a:off x="274320" y="3886200"/>
            <a:ext cx="4114800" cy="804672"/>
          </a:xfrm>
          <a:prstGeom prst="rect">
            <a:avLst/>
          </a:prstGeom>
          <a:solidFill>
            <a:srgbClr val="1A3358"/>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0" name="Shape 18"/>
          <p:cNvSpPr/>
          <p:nvPr/>
        </p:nvSpPr>
        <p:spPr>
          <a:xfrm>
            <a:off x="274320" y="3886200"/>
            <a:ext cx="45720" cy="804672"/>
          </a:xfrm>
          <a:prstGeom prst="rect">
            <a:avLst/>
          </a:prstGeom>
          <a:solidFill>
            <a:srgbClr val="00ACC1"/>
          </a:solidFill>
          <a:ln w="12700">
            <a:solidFill>
              <a:srgbClr val="00ACC1"/>
            </a:solidFill>
            <a:prstDash val="solid"/>
          </a:ln>
        </p:spPr>
      </p:sp>
      <p:sp>
        <p:nvSpPr>
          <p:cNvPr id="21" name="Text 19"/>
          <p:cNvSpPr/>
          <p:nvPr/>
        </p:nvSpPr>
        <p:spPr>
          <a:xfrm>
            <a:off x="384048" y="3886200"/>
            <a:ext cx="411480" cy="804672"/>
          </a:xfrm>
          <a:prstGeom prst="rect">
            <a:avLst/>
          </a:prstGeom>
          <a:noFill/>
          <a:ln/>
        </p:spPr>
        <p:txBody>
          <a:bodyPr wrap="square" lIns="0" tIns="0" rIns="0" bIns="0" rtlCol="0" anchor="ctr"/>
          <a:lstStyle/>
          <a:p>
            <a:pPr indent="0" marL="0">
              <a:buNone/>
            </a:pPr>
            <a:r>
              <a:rPr lang="en-US" sz="2000" b="1" dirty="0">
                <a:solidFill>
                  <a:srgbClr val="00ACC1"/>
                </a:solidFill>
              </a:rPr>
              <a:t>04</a:t>
            </a:r>
            <a:endParaRPr lang="en-US" sz="2000" dirty="0"/>
          </a:p>
        </p:txBody>
      </p:sp>
      <p:sp>
        <p:nvSpPr>
          <p:cNvPr id="22" name="Text 20"/>
          <p:cNvSpPr/>
          <p:nvPr/>
        </p:nvSpPr>
        <p:spPr>
          <a:xfrm>
            <a:off x="804672" y="3977640"/>
            <a:ext cx="3474720" cy="347472"/>
          </a:xfrm>
          <a:prstGeom prst="rect">
            <a:avLst/>
          </a:prstGeom>
          <a:noFill/>
          <a:ln/>
        </p:spPr>
        <p:txBody>
          <a:bodyPr wrap="square" lIns="0" tIns="0" rIns="0" bIns="0" rtlCol="0" anchor="ctr"/>
          <a:lstStyle/>
          <a:p>
            <a:pPr indent="0" marL="0">
              <a:buNone/>
            </a:pPr>
            <a:r>
              <a:rPr lang="en-US" sz="1100" b="1" dirty="0">
                <a:solidFill>
                  <a:srgbClr val="FFFFFF"/>
                </a:solidFill>
              </a:rPr>
              <a:t>Software Requirements (SRS)</a:t>
            </a:r>
            <a:endParaRPr lang="en-US" sz="1100" dirty="0"/>
          </a:p>
        </p:txBody>
      </p:sp>
      <p:sp>
        <p:nvSpPr>
          <p:cNvPr id="23" name="Text 21"/>
          <p:cNvSpPr/>
          <p:nvPr/>
        </p:nvSpPr>
        <p:spPr>
          <a:xfrm>
            <a:off x="804672" y="4315968"/>
            <a:ext cx="3474720" cy="274320"/>
          </a:xfrm>
          <a:prstGeom prst="rect">
            <a:avLst/>
          </a:prstGeom>
          <a:noFill/>
          <a:ln/>
        </p:spPr>
        <p:txBody>
          <a:bodyPr wrap="square" lIns="0" tIns="0" rIns="0" bIns="0" rtlCol="0" anchor="ctr"/>
          <a:lstStyle/>
          <a:p>
            <a:pPr indent="0" marL="0">
              <a:buNone/>
            </a:pPr>
            <a:r>
              <a:rPr lang="en-US" sz="900" dirty="0">
                <a:solidFill>
                  <a:srgbClr val="B0BEC5"/>
                </a:solidFill>
              </a:rPr>
              <a:t>Functional &amp; non-functional requirements</a:t>
            </a:r>
            <a:endParaRPr lang="en-US" sz="900" dirty="0"/>
          </a:p>
        </p:txBody>
      </p:sp>
      <p:sp>
        <p:nvSpPr>
          <p:cNvPr id="24" name="Shape 22"/>
          <p:cNvSpPr/>
          <p:nvPr/>
        </p:nvSpPr>
        <p:spPr>
          <a:xfrm>
            <a:off x="4663440" y="1143000"/>
            <a:ext cx="4114800" cy="804672"/>
          </a:xfrm>
          <a:prstGeom prst="rect">
            <a:avLst/>
          </a:prstGeom>
          <a:solidFill>
            <a:srgbClr val="1A3358"/>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5" name="Shape 23"/>
          <p:cNvSpPr/>
          <p:nvPr/>
        </p:nvSpPr>
        <p:spPr>
          <a:xfrm>
            <a:off x="4663440" y="1143000"/>
            <a:ext cx="45720" cy="804672"/>
          </a:xfrm>
          <a:prstGeom prst="rect">
            <a:avLst/>
          </a:prstGeom>
          <a:solidFill>
            <a:srgbClr val="00ACC1"/>
          </a:solidFill>
          <a:ln w="12700">
            <a:solidFill>
              <a:srgbClr val="00ACC1"/>
            </a:solidFill>
            <a:prstDash val="solid"/>
          </a:ln>
        </p:spPr>
      </p:sp>
      <p:sp>
        <p:nvSpPr>
          <p:cNvPr id="26" name="Text 24"/>
          <p:cNvSpPr/>
          <p:nvPr/>
        </p:nvSpPr>
        <p:spPr>
          <a:xfrm>
            <a:off x="4773168" y="1143000"/>
            <a:ext cx="411480" cy="804672"/>
          </a:xfrm>
          <a:prstGeom prst="rect">
            <a:avLst/>
          </a:prstGeom>
          <a:noFill/>
          <a:ln/>
        </p:spPr>
        <p:txBody>
          <a:bodyPr wrap="square" lIns="0" tIns="0" rIns="0" bIns="0" rtlCol="0" anchor="ctr"/>
          <a:lstStyle/>
          <a:p>
            <a:pPr indent="0" marL="0">
              <a:buNone/>
            </a:pPr>
            <a:r>
              <a:rPr lang="en-US" sz="2000" b="1" dirty="0">
                <a:solidFill>
                  <a:srgbClr val="00ACC1"/>
                </a:solidFill>
              </a:rPr>
              <a:t>05</a:t>
            </a:r>
            <a:endParaRPr lang="en-US" sz="2000" dirty="0"/>
          </a:p>
        </p:txBody>
      </p:sp>
      <p:sp>
        <p:nvSpPr>
          <p:cNvPr id="27" name="Text 25"/>
          <p:cNvSpPr/>
          <p:nvPr/>
        </p:nvSpPr>
        <p:spPr>
          <a:xfrm>
            <a:off x="5193792" y="1234440"/>
            <a:ext cx="3474720" cy="347472"/>
          </a:xfrm>
          <a:prstGeom prst="rect">
            <a:avLst/>
          </a:prstGeom>
          <a:noFill/>
          <a:ln/>
        </p:spPr>
        <p:txBody>
          <a:bodyPr wrap="square" lIns="0" tIns="0" rIns="0" bIns="0" rtlCol="0" anchor="ctr"/>
          <a:lstStyle/>
          <a:p>
            <a:pPr indent="0" marL="0">
              <a:buNone/>
            </a:pPr>
            <a:r>
              <a:rPr lang="en-US" sz="1100" b="1" dirty="0">
                <a:solidFill>
                  <a:srgbClr val="FFFFFF"/>
                </a:solidFill>
              </a:rPr>
              <a:t>System Architecture (SDS)</a:t>
            </a:r>
            <a:endParaRPr lang="en-US" sz="1100" dirty="0"/>
          </a:p>
        </p:txBody>
      </p:sp>
      <p:sp>
        <p:nvSpPr>
          <p:cNvPr id="28" name="Text 26"/>
          <p:cNvSpPr/>
          <p:nvPr/>
        </p:nvSpPr>
        <p:spPr>
          <a:xfrm>
            <a:off x="5193792" y="1572768"/>
            <a:ext cx="3474720" cy="274320"/>
          </a:xfrm>
          <a:prstGeom prst="rect">
            <a:avLst/>
          </a:prstGeom>
          <a:noFill/>
          <a:ln/>
        </p:spPr>
        <p:txBody>
          <a:bodyPr wrap="square" lIns="0" tIns="0" rIns="0" bIns="0" rtlCol="0" anchor="ctr"/>
          <a:lstStyle/>
          <a:p>
            <a:pPr indent="0" marL="0">
              <a:buNone/>
            </a:pPr>
            <a:r>
              <a:rPr lang="en-US" sz="900" dirty="0">
                <a:solidFill>
                  <a:srgbClr val="B0BEC5"/>
                </a:solidFill>
              </a:rPr>
              <a:t>Three-tier design, components, sub-modules</a:t>
            </a:r>
            <a:endParaRPr lang="en-US" sz="900" dirty="0"/>
          </a:p>
        </p:txBody>
      </p:sp>
      <p:sp>
        <p:nvSpPr>
          <p:cNvPr id="29" name="Shape 27"/>
          <p:cNvSpPr/>
          <p:nvPr/>
        </p:nvSpPr>
        <p:spPr>
          <a:xfrm>
            <a:off x="4663440" y="2057400"/>
            <a:ext cx="4114800" cy="804672"/>
          </a:xfrm>
          <a:prstGeom prst="rect">
            <a:avLst/>
          </a:prstGeom>
          <a:solidFill>
            <a:srgbClr val="1A3358"/>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30" name="Shape 28"/>
          <p:cNvSpPr/>
          <p:nvPr/>
        </p:nvSpPr>
        <p:spPr>
          <a:xfrm>
            <a:off x="4663440" y="2057400"/>
            <a:ext cx="45720" cy="804672"/>
          </a:xfrm>
          <a:prstGeom prst="rect">
            <a:avLst/>
          </a:prstGeom>
          <a:solidFill>
            <a:srgbClr val="00ACC1"/>
          </a:solidFill>
          <a:ln w="12700">
            <a:solidFill>
              <a:srgbClr val="00ACC1"/>
            </a:solidFill>
            <a:prstDash val="solid"/>
          </a:ln>
        </p:spPr>
      </p:sp>
      <p:sp>
        <p:nvSpPr>
          <p:cNvPr id="31" name="Text 29"/>
          <p:cNvSpPr/>
          <p:nvPr/>
        </p:nvSpPr>
        <p:spPr>
          <a:xfrm>
            <a:off x="4773168" y="2057400"/>
            <a:ext cx="411480" cy="804672"/>
          </a:xfrm>
          <a:prstGeom prst="rect">
            <a:avLst/>
          </a:prstGeom>
          <a:noFill/>
          <a:ln/>
        </p:spPr>
        <p:txBody>
          <a:bodyPr wrap="square" lIns="0" tIns="0" rIns="0" bIns="0" rtlCol="0" anchor="ctr"/>
          <a:lstStyle/>
          <a:p>
            <a:pPr indent="0" marL="0">
              <a:buNone/>
            </a:pPr>
            <a:r>
              <a:rPr lang="en-US" sz="2000" b="1" dirty="0">
                <a:solidFill>
                  <a:srgbClr val="00ACC1"/>
                </a:solidFill>
              </a:rPr>
              <a:t>06</a:t>
            </a:r>
            <a:endParaRPr lang="en-US" sz="2000" dirty="0"/>
          </a:p>
        </p:txBody>
      </p:sp>
      <p:sp>
        <p:nvSpPr>
          <p:cNvPr id="32" name="Text 30"/>
          <p:cNvSpPr/>
          <p:nvPr/>
        </p:nvSpPr>
        <p:spPr>
          <a:xfrm>
            <a:off x="5193792" y="2148840"/>
            <a:ext cx="3474720" cy="347472"/>
          </a:xfrm>
          <a:prstGeom prst="rect">
            <a:avLst/>
          </a:prstGeom>
          <a:noFill/>
          <a:ln/>
        </p:spPr>
        <p:txBody>
          <a:bodyPr wrap="square" lIns="0" tIns="0" rIns="0" bIns="0" rtlCol="0" anchor="ctr"/>
          <a:lstStyle/>
          <a:p>
            <a:pPr indent="0" marL="0">
              <a:buNone/>
            </a:pPr>
            <a:r>
              <a:rPr lang="en-US" sz="1100" b="1" dirty="0">
                <a:solidFill>
                  <a:srgbClr val="FFFFFF"/>
                </a:solidFill>
              </a:rPr>
              <a:t>Detailed Design &amp; Data Model</a:t>
            </a:r>
            <a:endParaRPr lang="en-US" sz="1100" dirty="0"/>
          </a:p>
        </p:txBody>
      </p:sp>
      <p:sp>
        <p:nvSpPr>
          <p:cNvPr id="33" name="Text 31"/>
          <p:cNvSpPr/>
          <p:nvPr/>
        </p:nvSpPr>
        <p:spPr>
          <a:xfrm>
            <a:off x="5193792" y="2487168"/>
            <a:ext cx="3474720" cy="274320"/>
          </a:xfrm>
          <a:prstGeom prst="rect">
            <a:avLst/>
          </a:prstGeom>
          <a:noFill/>
          <a:ln/>
        </p:spPr>
        <p:txBody>
          <a:bodyPr wrap="square" lIns="0" tIns="0" rIns="0" bIns="0" rtlCol="0" anchor="ctr"/>
          <a:lstStyle/>
          <a:p>
            <a:pPr indent="0" marL="0">
              <a:buNone/>
            </a:pPr>
            <a:r>
              <a:rPr lang="en-US" sz="900" dirty="0">
                <a:solidFill>
                  <a:srgbClr val="B0BEC5"/>
                </a:solidFill>
              </a:rPr>
              <a:t>Class diagram, sequence, ERD</a:t>
            </a:r>
            <a:endParaRPr lang="en-US" sz="900" dirty="0"/>
          </a:p>
        </p:txBody>
      </p:sp>
      <p:sp>
        <p:nvSpPr>
          <p:cNvPr id="34" name="Shape 32"/>
          <p:cNvSpPr/>
          <p:nvPr/>
        </p:nvSpPr>
        <p:spPr>
          <a:xfrm>
            <a:off x="4663440" y="2971800"/>
            <a:ext cx="4114800" cy="804672"/>
          </a:xfrm>
          <a:prstGeom prst="rect">
            <a:avLst/>
          </a:prstGeom>
          <a:solidFill>
            <a:srgbClr val="1A3358"/>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35" name="Shape 33"/>
          <p:cNvSpPr/>
          <p:nvPr/>
        </p:nvSpPr>
        <p:spPr>
          <a:xfrm>
            <a:off x="4663440" y="2971800"/>
            <a:ext cx="45720" cy="804672"/>
          </a:xfrm>
          <a:prstGeom prst="rect">
            <a:avLst/>
          </a:prstGeom>
          <a:solidFill>
            <a:srgbClr val="00ACC1"/>
          </a:solidFill>
          <a:ln w="12700">
            <a:solidFill>
              <a:srgbClr val="00ACC1"/>
            </a:solidFill>
            <a:prstDash val="solid"/>
          </a:ln>
        </p:spPr>
      </p:sp>
      <p:sp>
        <p:nvSpPr>
          <p:cNvPr id="36" name="Text 34"/>
          <p:cNvSpPr/>
          <p:nvPr/>
        </p:nvSpPr>
        <p:spPr>
          <a:xfrm>
            <a:off x="4773168" y="2971800"/>
            <a:ext cx="411480" cy="804672"/>
          </a:xfrm>
          <a:prstGeom prst="rect">
            <a:avLst/>
          </a:prstGeom>
          <a:noFill/>
          <a:ln/>
        </p:spPr>
        <p:txBody>
          <a:bodyPr wrap="square" lIns="0" tIns="0" rIns="0" bIns="0" rtlCol="0" anchor="ctr"/>
          <a:lstStyle/>
          <a:p>
            <a:pPr indent="0" marL="0">
              <a:buNone/>
            </a:pPr>
            <a:r>
              <a:rPr lang="en-US" sz="2000" b="1" dirty="0">
                <a:solidFill>
                  <a:srgbClr val="00ACC1"/>
                </a:solidFill>
              </a:rPr>
              <a:t>07</a:t>
            </a:r>
            <a:endParaRPr lang="en-US" sz="2000" dirty="0"/>
          </a:p>
        </p:txBody>
      </p:sp>
      <p:sp>
        <p:nvSpPr>
          <p:cNvPr id="37" name="Text 35"/>
          <p:cNvSpPr/>
          <p:nvPr/>
        </p:nvSpPr>
        <p:spPr>
          <a:xfrm>
            <a:off x="5193792" y="3063240"/>
            <a:ext cx="3474720" cy="347472"/>
          </a:xfrm>
          <a:prstGeom prst="rect">
            <a:avLst/>
          </a:prstGeom>
          <a:noFill/>
          <a:ln/>
        </p:spPr>
        <p:txBody>
          <a:bodyPr wrap="square" lIns="0" tIns="0" rIns="0" bIns="0" rtlCol="0" anchor="ctr"/>
          <a:lstStyle/>
          <a:p>
            <a:pPr indent="0" marL="0">
              <a:buNone/>
            </a:pPr>
            <a:r>
              <a:rPr lang="en-US" sz="1100" b="1" dirty="0">
                <a:solidFill>
                  <a:srgbClr val="FFFFFF"/>
                </a:solidFill>
              </a:rPr>
              <a:t>Design Strategies</a:t>
            </a:r>
            <a:endParaRPr lang="en-US" sz="1100" dirty="0"/>
          </a:p>
        </p:txBody>
      </p:sp>
      <p:sp>
        <p:nvSpPr>
          <p:cNvPr id="38" name="Text 36"/>
          <p:cNvSpPr/>
          <p:nvPr/>
        </p:nvSpPr>
        <p:spPr>
          <a:xfrm>
            <a:off x="5193792" y="3401568"/>
            <a:ext cx="3474720" cy="274320"/>
          </a:xfrm>
          <a:prstGeom prst="rect">
            <a:avLst/>
          </a:prstGeom>
          <a:noFill/>
          <a:ln/>
        </p:spPr>
        <p:txBody>
          <a:bodyPr wrap="square" lIns="0" tIns="0" rIns="0" bIns="0" rtlCol="0" anchor="ctr"/>
          <a:lstStyle/>
          <a:p>
            <a:pPr indent="0" marL="0">
              <a:buNone/>
            </a:pPr>
            <a:r>
              <a:rPr lang="en-US" sz="900" dirty="0">
                <a:solidFill>
                  <a:srgbClr val="B0BEC5"/>
                </a:solidFill>
              </a:rPr>
              <a:t>6 key strategies including GPT-4o &amp; security</a:t>
            </a:r>
            <a:endParaRPr lang="en-US" sz="900" dirty="0"/>
          </a:p>
        </p:txBody>
      </p:sp>
      <p:sp>
        <p:nvSpPr>
          <p:cNvPr id="39" name="Shape 37"/>
          <p:cNvSpPr/>
          <p:nvPr/>
        </p:nvSpPr>
        <p:spPr>
          <a:xfrm>
            <a:off x="4663440" y="3886200"/>
            <a:ext cx="4114800" cy="804672"/>
          </a:xfrm>
          <a:prstGeom prst="rect">
            <a:avLst/>
          </a:prstGeom>
          <a:solidFill>
            <a:srgbClr val="1A3358"/>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40" name="Shape 38"/>
          <p:cNvSpPr/>
          <p:nvPr/>
        </p:nvSpPr>
        <p:spPr>
          <a:xfrm>
            <a:off x="4663440" y="3886200"/>
            <a:ext cx="45720" cy="804672"/>
          </a:xfrm>
          <a:prstGeom prst="rect">
            <a:avLst/>
          </a:prstGeom>
          <a:solidFill>
            <a:srgbClr val="00ACC1"/>
          </a:solidFill>
          <a:ln w="12700">
            <a:solidFill>
              <a:srgbClr val="00ACC1"/>
            </a:solidFill>
            <a:prstDash val="solid"/>
          </a:ln>
        </p:spPr>
      </p:sp>
      <p:sp>
        <p:nvSpPr>
          <p:cNvPr id="41" name="Text 39"/>
          <p:cNvSpPr/>
          <p:nvPr/>
        </p:nvSpPr>
        <p:spPr>
          <a:xfrm>
            <a:off x="4773168" y="3886200"/>
            <a:ext cx="411480" cy="804672"/>
          </a:xfrm>
          <a:prstGeom prst="rect">
            <a:avLst/>
          </a:prstGeom>
          <a:noFill/>
          <a:ln/>
        </p:spPr>
        <p:txBody>
          <a:bodyPr wrap="square" lIns="0" tIns="0" rIns="0" bIns="0" rtlCol="0" anchor="ctr"/>
          <a:lstStyle/>
          <a:p>
            <a:pPr indent="0" marL="0">
              <a:buNone/>
            </a:pPr>
            <a:r>
              <a:rPr lang="en-US" sz="2000" b="1" dirty="0">
                <a:solidFill>
                  <a:srgbClr val="00ACC1"/>
                </a:solidFill>
              </a:rPr>
              <a:t>08</a:t>
            </a:r>
            <a:endParaRPr lang="en-US" sz="2000" dirty="0"/>
          </a:p>
        </p:txBody>
      </p:sp>
      <p:sp>
        <p:nvSpPr>
          <p:cNvPr id="42" name="Text 40"/>
          <p:cNvSpPr/>
          <p:nvPr/>
        </p:nvSpPr>
        <p:spPr>
          <a:xfrm>
            <a:off x="5193792" y="3977640"/>
            <a:ext cx="3474720" cy="347472"/>
          </a:xfrm>
          <a:prstGeom prst="rect">
            <a:avLst/>
          </a:prstGeom>
          <a:noFill/>
          <a:ln/>
        </p:spPr>
        <p:txBody>
          <a:bodyPr wrap="square" lIns="0" tIns="0" rIns="0" bIns="0" rtlCol="0" anchor="ctr"/>
          <a:lstStyle/>
          <a:p>
            <a:pPr indent="0" marL="0">
              <a:buNone/>
            </a:pPr>
            <a:r>
              <a:rPr lang="en-US" sz="1100" b="1" dirty="0">
                <a:solidFill>
                  <a:srgbClr val="FFFFFF"/>
                </a:solidFill>
              </a:rPr>
              <a:t>Milestones &amp; Success Metrics</a:t>
            </a:r>
            <a:endParaRPr lang="en-US" sz="1100" dirty="0"/>
          </a:p>
        </p:txBody>
      </p:sp>
      <p:sp>
        <p:nvSpPr>
          <p:cNvPr id="43" name="Text 41"/>
          <p:cNvSpPr/>
          <p:nvPr/>
        </p:nvSpPr>
        <p:spPr>
          <a:xfrm>
            <a:off x="5193792" y="4315968"/>
            <a:ext cx="3474720" cy="274320"/>
          </a:xfrm>
          <a:prstGeom prst="rect">
            <a:avLst/>
          </a:prstGeom>
          <a:noFill/>
          <a:ln/>
        </p:spPr>
        <p:txBody>
          <a:bodyPr wrap="square" lIns="0" tIns="0" rIns="0" bIns="0" rtlCol="0" anchor="ctr"/>
          <a:lstStyle/>
          <a:p>
            <a:pPr indent="0" marL="0">
              <a:buNone/>
            </a:pPr>
            <a:r>
              <a:rPr lang="en-US" sz="900" dirty="0">
                <a:solidFill>
                  <a:srgbClr val="B0BEC5"/>
                </a:solidFill>
              </a:rPr>
              <a:t>Project plan and KPIs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Abstract: Bridging the Coding Gap</a:t>
            </a:r>
            <a:endParaRPr lang="en-US" sz="2600" dirty="0"/>
          </a:p>
        </p:txBody>
      </p:sp>
      <p:sp>
        <p:nvSpPr>
          <p:cNvPr id="4" name="Shape 2"/>
          <p:cNvSpPr/>
          <p:nvPr/>
        </p:nvSpPr>
        <p:spPr>
          <a:xfrm>
            <a:off x="228600" y="1051560"/>
            <a:ext cx="4023360" cy="356616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28600" y="1051560"/>
            <a:ext cx="54864" cy="3566160"/>
          </a:xfrm>
          <a:prstGeom prst="rect">
            <a:avLst/>
          </a:prstGeom>
          <a:solidFill>
            <a:srgbClr val="F57C00"/>
          </a:solidFill>
          <a:ln w="12700">
            <a:solidFill>
              <a:srgbClr val="F57C00"/>
            </a:solidFill>
            <a:prstDash val="solid"/>
          </a:ln>
        </p:spPr>
      </p:sp>
      <p:sp>
        <p:nvSpPr>
          <p:cNvPr id="6" name="Text 4"/>
          <p:cNvSpPr/>
          <p:nvPr/>
        </p:nvSpPr>
        <p:spPr>
          <a:xfrm>
            <a:off x="365760" y="1115568"/>
            <a:ext cx="3749040" cy="347472"/>
          </a:xfrm>
          <a:prstGeom prst="rect">
            <a:avLst/>
          </a:prstGeom>
          <a:noFill/>
          <a:ln/>
        </p:spPr>
        <p:txBody>
          <a:bodyPr wrap="square" lIns="0" tIns="0" rIns="0" bIns="0" rtlCol="0" anchor="ctr"/>
          <a:lstStyle/>
          <a:p>
            <a:pPr indent="0" marL="0">
              <a:buNone/>
            </a:pPr>
            <a:r>
              <a:rPr lang="en-US" sz="1400" b="1" dirty="0">
                <a:solidFill>
                  <a:srgbClr val="0B1F3A"/>
                </a:solidFill>
              </a:rPr>
              <a:t>The Problem</a:t>
            </a:r>
            <a:endParaRPr lang="en-US" sz="1400" dirty="0"/>
          </a:p>
        </p:txBody>
      </p:sp>
      <p:sp>
        <p:nvSpPr>
          <p:cNvPr id="7" name="Text 5"/>
          <p:cNvSpPr/>
          <p:nvPr/>
        </p:nvSpPr>
        <p:spPr>
          <a:xfrm>
            <a:off x="365760" y="1508760"/>
            <a:ext cx="3749040" cy="1371600"/>
          </a:xfrm>
          <a:prstGeom prst="rect">
            <a:avLst/>
          </a:prstGeom>
          <a:noFill/>
          <a:ln/>
        </p:spPr>
        <p:txBody>
          <a:bodyPr wrap="square" lIns="0" tIns="0" rIns="0" bIns="0" rtlCol="0" anchor="ctr"/>
          <a:lstStyle/>
          <a:p>
            <a:pPr indent="0" marL="0">
              <a:buNone/>
            </a:pPr>
            <a:r>
              <a:rPr lang="en-US" sz="1100" dirty="0">
                <a:solidFill>
                  <a:srgbClr val="546E7A"/>
                </a:solidFill>
              </a:rPr>
              <a:t>Traditional programming requires extensive keyboard use, creating barriers for individuals with physical disabilities or repetitive strain injuries (RSI). Existing voice tools (Serenade, Speech2Code) require paid subscriptions, complex installations, or lack AI integration.</a:t>
            </a:r>
            <a:endParaRPr lang="en-US" sz="1100" dirty="0"/>
          </a:p>
        </p:txBody>
      </p:sp>
      <p:sp>
        <p:nvSpPr>
          <p:cNvPr id="8" name="Text 6"/>
          <p:cNvSpPr/>
          <p:nvPr/>
        </p:nvSpPr>
        <p:spPr>
          <a:xfrm>
            <a:off x="365760" y="2944368"/>
            <a:ext cx="3749040" cy="347472"/>
          </a:xfrm>
          <a:prstGeom prst="rect">
            <a:avLst/>
          </a:prstGeom>
          <a:noFill/>
          <a:ln/>
        </p:spPr>
        <p:txBody>
          <a:bodyPr wrap="square" lIns="0" tIns="0" rIns="0" bIns="0" rtlCol="0" anchor="ctr"/>
          <a:lstStyle/>
          <a:p>
            <a:pPr indent="0" marL="0">
              <a:buNone/>
            </a:pPr>
            <a:r>
              <a:rPr lang="en-US" sz="1400" b="1" dirty="0">
                <a:solidFill>
                  <a:srgbClr val="0B1F3A"/>
                </a:solidFill>
              </a:rPr>
              <a:t>Our Solution</a:t>
            </a:r>
            <a:endParaRPr lang="en-US" sz="1400" dirty="0"/>
          </a:p>
        </p:txBody>
      </p:sp>
      <p:sp>
        <p:nvSpPr>
          <p:cNvPr id="9" name="Text 7"/>
          <p:cNvSpPr/>
          <p:nvPr/>
        </p:nvSpPr>
        <p:spPr>
          <a:xfrm>
            <a:off x="365760" y="3310128"/>
            <a:ext cx="3749040" cy="1097280"/>
          </a:xfrm>
          <a:prstGeom prst="rect">
            <a:avLst/>
          </a:prstGeom>
          <a:noFill/>
          <a:ln/>
        </p:spPr>
        <p:txBody>
          <a:bodyPr wrap="square" lIns="0" tIns="0" rIns="0" bIns="0" rtlCol="0" anchor="ctr"/>
          <a:lstStyle/>
          <a:p>
            <a:pPr indent="0" marL="0">
              <a:buNone/>
            </a:pPr>
            <a:r>
              <a:rPr lang="en-US" sz="1100" dirty="0">
                <a:solidFill>
                  <a:srgbClr val="546E7A"/>
                </a:solidFill>
              </a:rPr>
              <a:t>VoiceCoder AI — a free, web-based voice-controlled C++ coding platform with GPT-4o AI integration, Urdu TTS, JWT-authenticated cloud storage, and real-time cloud compilation. No installation required.</a:t>
            </a:r>
            <a:endParaRPr lang="en-US" sz="1100" dirty="0"/>
          </a:p>
        </p:txBody>
      </p:sp>
      <p:sp>
        <p:nvSpPr>
          <p:cNvPr id="10" name="Shape 8"/>
          <p:cNvSpPr/>
          <p:nvPr/>
        </p:nvSpPr>
        <p:spPr>
          <a:xfrm>
            <a:off x="4480560" y="1051560"/>
            <a:ext cx="4434840" cy="1115568"/>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1" name="Shape 9"/>
          <p:cNvSpPr/>
          <p:nvPr/>
        </p:nvSpPr>
        <p:spPr>
          <a:xfrm>
            <a:off x="4553712" y="1280160"/>
            <a:ext cx="502920" cy="502920"/>
          </a:xfrm>
          <a:prstGeom prst="ellipse">
            <a:avLst/>
          </a:prstGeom>
          <a:solidFill>
            <a:srgbClr val="1565C0"/>
          </a:solidFill>
          <a:ln w="12700">
            <a:solidFill>
              <a:srgbClr val="1565C0"/>
            </a:solidFill>
            <a:prstDash val="solid"/>
          </a:ln>
        </p:spPr>
      </p:sp>
      <p:pic>
        <p:nvPicPr>
          <p:cNvPr id="12" name="Image 0" descr="preencoded.png">    </p:cNvPr>
          <p:cNvPicPr>
            <a:picLocks noChangeAspect="1"/>
          </p:cNvPicPr>
          <p:nvPr/>
        </p:nvPicPr>
        <p:blipFill>
          <a:blip r:embed="rId1"/>
          <a:stretch>
            <a:fillRect/>
          </a:stretch>
        </p:blipFill>
        <p:spPr>
          <a:xfrm>
            <a:off x="4626864" y="1344168"/>
            <a:ext cx="347472" cy="347472"/>
          </a:xfrm>
          <a:prstGeom prst="rect">
            <a:avLst/>
          </a:prstGeom>
        </p:spPr>
      </p:pic>
      <p:sp>
        <p:nvSpPr>
          <p:cNvPr id="13" name="Text 10"/>
          <p:cNvSpPr/>
          <p:nvPr/>
        </p:nvSpPr>
        <p:spPr>
          <a:xfrm>
            <a:off x="5166360" y="1188720"/>
            <a:ext cx="3611880" cy="347472"/>
          </a:xfrm>
          <a:prstGeom prst="rect">
            <a:avLst/>
          </a:prstGeom>
          <a:noFill/>
          <a:ln/>
        </p:spPr>
        <p:txBody>
          <a:bodyPr wrap="square" lIns="0" tIns="0" rIns="0" bIns="0" rtlCol="0" anchor="ctr"/>
          <a:lstStyle/>
          <a:p>
            <a:pPr indent="0" marL="0">
              <a:buNone/>
            </a:pPr>
            <a:r>
              <a:rPr lang="en-US" sz="1200" b="1" dirty="0">
                <a:solidFill>
                  <a:srgbClr val="0B1F3A"/>
                </a:solidFill>
              </a:rPr>
              <a:t>Inclusive Education</a:t>
            </a:r>
            <a:endParaRPr lang="en-US" sz="1200" dirty="0"/>
          </a:p>
        </p:txBody>
      </p:sp>
      <p:sp>
        <p:nvSpPr>
          <p:cNvPr id="14" name="Text 11"/>
          <p:cNvSpPr/>
          <p:nvPr/>
        </p:nvSpPr>
        <p:spPr>
          <a:xfrm>
            <a:off x="5166360" y="1527048"/>
            <a:ext cx="3611880" cy="530352"/>
          </a:xfrm>
          <a:prstGeom prst="rect">
            <a:avLst/>
          </a:prstGeom>
          <a:noFill/>
          <a:ln/>
        </p:spPr>
        <p:txBody>
          <a:bodyPr wrap="square" lIns="0" tIns="0" rIns="0" bIns="0" rtlCol="0" anchor="ctr"/>
          <a:lstStyle/>
          <a:p>
            <a:pPr indent="0" marL="0">
              <a:buNone/>
            </a:pPr>
            <a:r>
              <a:rPr lang="en-US" sz="1000" dirty="0">
                <a:solidFill>
                  <a:srgbClr val="546E7A"/>
                </a:solidFill>
              </a:rPr>
              <a:t>Accessible programming tools for all users [4]</a:t>
            </a:r>
            <a:endParaRPr lang="en-US" sz="1000" dirty="0"/>
          </a:p>
        </p:txBody>
      </p:sp>
      <p:sp>
        <p:nvSpPr>
          <p:cNvPr id="15" name="Shape 12"/>
          <p:cNvSpPr/>
          <p:nvPr/>
        </p:nvSpPr>
        <p:spPr>
          <a:xfrm>
            <a:off x="4480560" y="2313432"/>
            <a:ext cx="4434840" cy="1115568"/>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6" name="Shape 13"/>
          <p:cNvSpPr/>
          <p:nvPr/>
        </p:nvSpPr>
        <p:spPr>
          <a:xfrm>
            <a:off x="4553712" y="2542032"/>
            <a:ext cx="502920" cy="502920"/>
          </a:xfrm>
          <a:prstGeom prst="ellipse">
            <a:avLst/>
          </a:prstGeom>
          <a:solidFill>
            <a:srgbClr val="F57C00"/>
          </a:solidFill>
          <a:ln w="12700">
            <a:solidFill>
              <a:srgbClr val="F57C00"/>
            </a:solidFill>
            <a:prstDash val="solid"/>
          </a:ln>
        </p:spPr>
      </p:sp>
      <p:pic>
        <p:nvPicPr>
          <p:cNvPr id="17" name="Image 1" descr="preencoded.png">    </p:cNvPr>
          <p:cNvPicPr>
            <a:picLocks noChangeAspect="1"/>
          </p:cNvPicPr>
          <p:nvPr/>
        </p:nvPicPr>
        <p:blipFill>
          <a:blip r:embed="rId2"/>
          <a:stretch>
            <a:fillRect/>
          </a:stretch>
        </p:blipFill>
        <p:spPr>
          <a:xfrm>
            <a:off x="4626864" y="2606040"/>
            <a:ext cx="347472" cy="347472"/>
          </a:xfrm>
          <a:prstGeom prst="rect">
            <a:avLst/>
          </a:prstGeom>
        </p:spPr>
      </p:pic>
      <p:sp>
        <p:nvSpPr>
          <p:cNvPr id="18" name="Text 14"/>
          <p:cNvSpPr/>
          <p:nvPr/>
        </p:nvSpPr>
        <p:spPr>
          <a:xfrm>
            <a:off x="5166360" y="2450592"/>
            <a:ext cx="3611880" cy="347472"/>
          </a:xfrm>
          <a:prstGeom prst="rect">
            <a:avLst/>
          </a:prstGeom>
          <a:noFill/>
          <a:ln/>
        </p:spPr>
        <p:txBody>
          <a:bodyPr wrap="square" lIns="0" tIns="0" rIns="0" bIns="0" rtlCol="0" anchor="ctr"/>
          <a:lstStyle/>
          <a:p>
            <a:pPr indent="0" marL="0">
              <a:buNone/>
            </a:pPr>
            <a:r>
              <a:rPr lang="en-US" sz="1200" b="1" dirty="0">
                <a:solidFill>
                  <a:srgbClr val="0B1F3A"/>
                </a:solidFill>
              </a:rPr>
              <a:t>Reduced Physical Barriers</a:t>
            </a:r>
            <a:endParaRPr lang="en-US" sz="1200" dirty="0"/>
          </a:p>
        </p:txBody>
      </p:sp>
      <p:sp>
        <p:nvSpPr>
          <p:cNvPr id="19" name="Text 15"/>
          <p:cNvSpPr/>
          <p:nvPr/>
        </p:nvSpPr>
        <p:spPr>
          <a:xfrm>
            <a:off x="5166360" y="2788920"/>
            <a:ext cx="3611880" cy="530352"/>
          </a:xfrm>
          <a:prstGeom prst="rect">
            <a:avLst/>
          </a:prstGeom>
          <a:noFill/>
          <a:ln/>
        </p:spPr>
        <p:txBody>
          <a:bodyPr wrap="square" lIns="0" tIns="0" rIns="0" bIns="0" rtlCol="0" anchor="ctr"/>
          <a:lstStyle/>
          <a:p>
            <a:pPr indent="0" marL="0">
              <a:buNone/>
            </a:pPr>
            <a:r>
              <a:rPr lang="en-US" sz="1000" dirty="0">
                <a:solidFill>
                  <a:srgbClr val="546E7A"/>
                </a:solidFill>
              </a:rPr>
              <a:t>Enables hands-free, keyboard-free coding</a:t>
            </a:r>
            <a:endParaRPr lang="en-US" sz="1000" dirty="0"/>
          </a:p>
        </p:txBody>
      </p:sp>
      <p:sp>
        <p:nvSpPr>
          <p:cNvPr id="20" name="Shape 16"/>
          <p:cNvSpPr/>
          <p:nvPr/>
        </p:nvSpPr>
        <p:spPr>
          <a:xfrm>
            <a:off x="4480560" y="3575304"/>
            <a:ext cx="4434840" cy="1115568"/>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1" name="Shape 17"/>
          <p:cNvSpPr/>
          <p:nvPr/>
        </p:nvSpPr>
        <p:spPr>
          <a:xfrm>
            <a:off x="4553712" y="3803904"/>
            <a:ext cx="502920" cy="502920"/>
          </a:xfrm>
          <a:prstGeom prst="ellipse">
            <a:avLst/>
          </a:prstGeom>
          <a:solidFill>
            <a:srgbClr val="00ACC1"/>
          </a:solidFill>
          <a:ln w="12700">
            <a:solidFill>
              <a:srgbClr val="00ACC1"/>
            </a:solidFill>
            <a:prstDash val="solid"/>
          </a:ln>
        </p:spPr>
      </p:sp>
      <p:pic>
        <p:nvPicPr>
          <p:cNvPr id="22" name="Image 2" descr="preencoded.png">    </p:cNvPr>
          <p:cNvPicPr>
            <a:picLocks noChangeAspect="1"/>
          </p:cNvPicPr>
          <p:nvPr/>
        </p:nvPicPr>
        <p:blipFill>
          <a:blip r:embed="rId3"/>
          <a:stretch>
            <a:fillRect/>
          </a:stretch>
        </p:blipFill>
        <p:spPr>
          <a:xfrm>
            <a:off x="4626864" y="3867912"/>
            <a:ext cx="347472" cy="347472"/>
          </a:xfrm>
          <a:prstGeom prst="rect">
            <a:avLst/>
          </a:prstGeom>
        </p:spPr>
      </p:pic>
      <p:sp>
        <p:nvSpPr>
          <p:cNvPr id="23" name="Text 18"/>
          <p:cNvSpPr/>
          <p:nvPr/>
        </p:nvSpPr>
        <p:spPr>
          <a:xfrm>
            <a:off x="5166360" y="3712464"/>
            <a:ext cx="3611880" cy="347472"/>
          </a:xfrm>
          <a:prstGeom prst="rect">
            <a:avLst/>
          </a:prstGeom>
          <a:noFill/>
          <a:ln/>
        </p:spPr>
        <p:txBody>
          <a:bodyPr wrap="square" lIns="0" tIns="0" rIns="0" bIns="0" rtlCol="0" anchor="ctr"/>
          <a:lstStyle/>
          <a:p>
            <a:pPr indent="0" marL="0">
              <a:buNone/>
            </a:pPr>
            <a:r>
              <a:rPr lang="en-US" sz="1200" b="1" dirty="0">
                <a:solidFill>
                  <a:srgbClr val="0B1F3A"/>
                </a:solidFill>
              </a:rPr>
              <a:t>Zero-Cost Platform</a:t>
            </a:r>
            <a:endParaRPr lang="en-US" sz="1200" dirty="0"/>
          </a:p>
        </p:txBody>
      </p:sp>
      <p:sp>
        <p:nvSpPr>
          <p:cNvPr id="24" name="Text 19"/>
          <p:cNvSpPr/>
          <p:nvPr/>
        </p:nvSpPr>
        <p:spPr>
          <a:xfrm>
            <a:off x="5166360" y="4050792"/>
            <a:ext cx="3611880" cy="530352"/>
          </a:xfrm>
          <a:prstGeom prst="rect">
            <a:avLst/>
          </a:prstGeom>
          <a:noFill/>
          <a:ln/>
        </p:spPr>
        <p:txBody>
          <a:bodyPr wrap="square" lIns="0" tIns="0" rIns="0" bIns="0" rtlCol="0" anchor="ctr"/>
          <a:lstStyle/>
          <a:p>
            <a:pPr indent="0" marL="0">
              <a:buNone/>
            </a:pPr>
            <a:r>
              <a:rPr lang="en-US" sz="1000" dirty="0">
                <a:solidFill>
                  <a:srgbClr val="546E7A"/>
                </a:solidFill>
              </a:rPr>
              <a:t>Free web-based solution, no paid subscriptions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Background &amp; Justification</a:t>
            </a:r>
            <a:endParaRPr lang="en-US" sz="2600" dirty="0"/>
          </a:p>
        </p:txBody>
      </p:sp>
      <p:sp>
        <p:nvSpPr>
          <p:cNvPr id="4" name="Shape 2"/>
          <p:cNvSpPr/>
          <p:nvPr/>
        </p:nvSpPr>
        <p:spPr>
          <a:xfrm>
            <a:off x="228600" y="1005840"/>
            <a:ext cx="4023360" cy="374904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28600" y="1005840"/>
            <a:ext cx="4023360" cy="384048"/>
          </a:xfrm>
          <a:prstGeom prst="rect">
            <a:avLst/>
          </a:prstGeom>
          <a:solidFill>
            <a:srgbClr val="0B1F3A"/>
          </a:solidFill>
          <a:ln w="12700">
            <a:solidFill>
              <a:srgbClr val="0B1F3A"/>
            </a:solidFill>
            <a:prstDash val="solid"/>
          </a:ln>
        </p:spPr>
      </p:sp>
      <p:sp>
        <p:nvSpPr>
          <p:cNvPr id="6" name="Text 4"/>
          <p:cNvSpPr/>
          <p:nvPr/>
        </p:nvSpPr>
        <p:spPr>
          <a:xfrm>
            <a:off x="320040" y="1024128"/>
            <a:ext cx="3840480" cy="347472"/>
          </a:xfrm>
          <a:prstGeom prst="rect">
            <a:avLst/>
          </a:prstGeom>
          <a:noFill/>
          <a:ln/>
        </p:spPr>
        <p:txBody>
          <a:bodyPr wrap="square" lIns="0" tIns="0" rIns="0" bIns="0" rtlCol="0" anchor="ctr"/>
          <a:lstStyle/>
          <a:p>
            <a:pPr indent="0" marL="0">
              <a:buNone/>
            </a:pPr>
            <a:r>
              <a:rPr lang="en-US" sz="1300" b="1" dirty="0">
                <a:solidFill>
                  <a:srgbClr val="FFFFFF"/>
                </a:solidFill>
              </a:rPr>
              <a:t>Existing Work</a:t>
            </a:r>
            <a:endParaRPr lang="en-US" sz="1300" dirty="0"/>
          </a:p>
        </p:txBody>
      </p:sp>
      <p:sp>
        <p:nvSpPr>
          <p:cNvPr id="7" name="Shape 5"/>
          <p:cNvSpPr/>
          <p:nvPr/>
        </p:nvSpPr>
        <p:spPr>
          <a:xfrm>
            <a:off x="347472" y="1572768"/>
            <a:ext cx="73152" cy="73152"/>
          </a:xfrm>
          <a:prstGeom prst="ellipse">
            <a:avLst/>
          </a:prstGeom>
          <a:solidFill>
            <a:srgbClr val="C62828"/>
          </a:solidFill>
          <a:ln w="12700">
            <a:solidFill>
              <a:srgbClr val="C62828"/>
            </a:solidFill>
            <a:prstDash val="solid"/>
          </a:ln>
        </p:spPr>
      </p:sp>
      <p:sp>
        <p:nvSpPr>
          <p:cNvPr id="8" name="Text 6"/>
          <p:cNvSpPr/>
          <p:nvPr/>
        </p:nvSpPr>
        <p:spPr>
          <a:xfrm>
            <a:off x="512064" y="1517904"/>
            <a:ext cx="3611880" cy="475488"/>
          </a:xfrm>
          <a:prstGeom prst="rect">
            <a:avLst/>
          </a:prstGeom>
          <a:noFill/>
          <a:ln/>
        </p:spPr>
        <p:txBody>
          <a:bodyPr wrap="square" lIns="0" tIns="0" rIns="0" bIns="0" rtlCol="0" anchor="ctr"/>
          <a:lstStyle/>
          <a:p>
            <a:pPr indent="0" marL="0">
              <a:buNone/>
            </a:pPr>
            <a:r>
              <a:rPr lang="en-US" sz="1050" dirty="0">
                <a:solidFill>
                  <a:srgbClr val="546E7A"/>
                </a:solidFill>
              </a:rPr>
              <a:t>VS Code, CodeBlocks — keyboard-only environments</a:t>
            </a:r>
            <a:endParaRPr lang="en-US" sz="1050" dirty="0"/>
          </a:p>
        </p:txBody>
      </p:sp>
      <p:sp>
        <p:nvSpPr>
          <p:cNvPr id="9" name="Shape 7"/>
          <p:cNvSpPr/>
          <p:nvPr/>
        </p:nvSpPr>
        <p:spPr>
          <a:xfrm>
            <a:off x="347472" y="2157984"/>
            <a:ext cx="73152" cy="73152"/>
          </a:xfrm>
          <a:prstGeom prst="ellipse">
            <a:avLst/>
          </a:prstGeom>
          <a:solidFill>
            <a:srgbClr val="C62828"/>
          </a:solidFill>
          <a:ln w="12700">
            <a:solidFill>
              <a:srgbClr val="C62828"/>
            </a:solidFill>
            <a:prstDash val="solid"/>
          </a:ln>
        </p:spPr>
      </p:sp>
      <p:sp>
        <p:nvSpPr>
          <p:cNvPr id="10" name="Text 8"/>
          <p:cNvSpPr/>
          <p:nvPr/>
        </p:nvSpPr>
        <p:spPr>
          <a:xfrm>
            <a:off x="512064" y="2103120"/>
            <a:ext cx="3611880" cy="475488"/>
          </a:xfrm>
          <a:prstGeom prst="rect">
            <a:avLst/>
          </a:prstGeom>
          <a:noFill/>
          <a:ln/>
        </p:spPr>
        <p:txBody>
          <a:bodyPr wrap="square" lIns="0" tIns="0" rIns="0" bIns="0" rtlCol="0" anchor="ctr"/>
          <a:lstStyle/>
          <a:p>
            <a:pPr indent="0" marL="0">
              <a:buNone/>
            </a:pPr>
            <a:r>
              <a:rPr lang="en-US" sz="1050" dirty="0">
                <a:solidFill>
                  <a:srgbClr val="546E7A"/>
                </a:solidFill>
              </a:rPr>
              <a:t>Serenade — paid subscription, desktop-only</a:t>
            </a:r>
            <a:endParaRPr lang="en-US" sz="1050" dirty="0"/>
          </a:p>
        </p:txBody>
      </p:sp>
      <p:sp>
        <p:nvSpPr>
          <p:cNvPr id="11" name="Shape 9"/>
          <p:cNvSpPr/>
          <p:nvPr/>
        </p:nvSpPr>
        <p:spPr>
          <a:xfrm>
            <a:off x="347472" y="2743200"/>
            <a:ext cx="73152" cy="73152"/>
          </a:xfrm>
          <a:prstGeom prst="ellipse">
            <a:avLst/>
          </a:prstGeom>
          <a:solidFill>
            <a:srgbClr val="C62828"/>
          </a:solidFill>
          <a:ln w="12700">
            <a:solidFill>
              <a:srgbClr val="C62828"/>
            </a:solidFill>
            <a:prstDash val="solid"/>
          </a:ln>
        </p:spPr>
      </p:sp>
      <p:sp>
        <p:nvSpPr>
          <p:cNvPr id="12" name="Text 10"/>
          <p:cNvSpPr/>
          <p:nvPr/>
        </p:nvSpPr>
        <p:spPr>
          <a:xfrm>
            <a:off x="512064" y="2688336"/>
            <a:ext cx="3611880" cy="475488"/>
          </a:xfrm>
          <a:prstGeom prst="rect">
            <a:avLst/>
          </a:prstGeom>
          <a:noFill/>
          <a:ln/>
        </p:spPr>
        <p:txBody>
          <a:bodyPr wrap="square" lIns="0" tIns="0" rIns="0" bIns="0" rtlCol="0" anchor="ctr"/>
          <a:lstStyle/>
          <a:p>
            <a:pPr indent="0" marL="0">
              <a:buNone/>
            </a:pPr>
            <a:r>
              <a:rPr lang="en-US" sz="1050" dirty="0">
                <a:solidFill>
                  <a:srgbClr val="546E7A"/>
                </a:solidFill>
              </a:rPr>
              <a:t>Speech2Code — no AI integration, limited commands</a:t>
            </a:r>
            <a:endParaRPr lang="en-US" sz="1050" dirty="0"/>
          </a:p>
        </p:txBody>
      </p:sp>
      <p:sp>
        <p:nvSpPr>
          <p:cNvPr id="13" name="Shape 11"/>
          <p:cNvSpPr/>
          <p:nvPr/>
        </p:nvSpPr>
        <p:spPr>
          <a:xfrm>
            <a:off x="347472" y="3328416"/>
            <a:ext cx="73152" cy="73152"/>
          </a:xfrm>
          <a:prstGeom prst="ellipse">
            <a:avLst/>
          </a:prstGeom>
          <a:solidFill>
            <a:srgbClr val="C62828"/>
          </a:solidFill>
          <a:ln w="12700">
            <a:solidFill>
              <a:srgbClr val="C62828"/>
            </a:solidFill>
            <a:prstDash val="solid"/>
          </a:ln>
        </p:spPr>
      </p:sp>
      <p:sp>
        <p:nvSpPr>
          <p:cNvPr id="14" name="Text 12"/>
          <p:cNvSpPr/>
          <p:nvPr/>
        </p:nvSpPr>
        <p:spPr>
          <a:xfrm>
            <a:off x="512064" y="3273552"/>
            <a:ext cx="3611880" cy="475488"/>
          </a:xfrm>
          <a:prstGeom prst="rect">
            <a:avLst/>
          </a:prstGeom>
          <a:noFill/>
          <a:ln/>
        </p:spPr>
        <p:txBody>
          <a:bodyPr wrap="square" lIns="0" tIns="0" rIns="0" bIns="0" rtlCol="0" anchor="ctr"/>
          <a:lstStyle/>
          <a:p>
            <a:pPr indent="0" marL="0">
              <a:buNone/>
            </a:pPr>
            <a:r>
              <a:rPr lang="en-US" sz="1050" dirty="0">
                <a:solidFill>
                  <a:srgbClr val="546E7A"/>
                </a:solidFill>
              </a:rPr>
              <a:t>No free web-based C++ voice coding platform exists</a:t>
            </a:r>
            <a:endParaRPr lang="en-US" sz="1050" dirty="0"/>
          </a:p>
        </p:txBody>
      </p:sp>
      <p:sp>
        <p:nvSpPr>
          <p:cNvPr id="15" name="Shape 13"/>
          <p:cNvSpPr/>
          <p:nvPr/>
        </p:nvSpPr>
        <p:spPr>
          <a:xfrm>
            <a:off x="4480560" y="1005840"/>
            <a:ext cx="4434840" cy="374904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6" name="Shape 14"/>
          <p:cNvSpPr/>
          <p:nvPr/>
        </p:nvSpPr>
        <p:spPr>
          <a:xfrm>
            <a:off x="4480560" y="1005840"/>
            <a:ext cx="4434840" cy="384048"/>
          </a:xfrm>
          <a:prstGeom prst="rect">
            <a:avLst/>
          </a:prstGeom>
          <a:solidFill>
            <a:srgbClr val="00ACC1"/>
          </a:solidFill>
          <a:ln w="12700">
            <a:solidFill>
              <a:srgbClr val="00ACC1"/>
            </a:solidFill>
            <a:prstDash val="solid"/>
          </a:ln>
        </p:spPr>
      </p:sp>
      <p:sp>
        <p:nvSpPr>
          <p:cNvPr id="17" name="Text 15"/>
          <p:cNvSpPr/>
          <p:nvPr/>
        </p:nvSpPr>
        <p:spPr>
          <a:xfrm>
            <a:off x="4572000" y="1024128"/>
            <a:ext cx="4251960" cy="347472"/>
          </a:xfrm>
          <a:prstGeom prst="rect">
            <a:avLst/>
          </a:prstGeom>
          <a:noFill/>
          <a:ln/>
        </p:spPr>
        <p:txBody>
          <a:bodyPr wrap="square" lIns="0" tIns="0" rIns="0" bIns="0" rtlCol="0" anchor="ctr"/>
          <a:lstStyle/>
          <a:p>
            <a:pPr indent="0" marL="0">
              <a:buNone/>
            </a:pPr>
            <a:r>
              <a:rPr lang="en-US" sz="1300" b="1" dirty="0">
                <a:solidFill>
                  <a:srgbClr val="FFFFFF"/>
                </a:solidFill>
              </a:rPr>
              <a:t>VoiceCoder AI Enhancements</a:t>
            </a:r>
            <a:endParaRPr lang="en-US" sz="1300" dirty="0"/>
          </a:p>
        </p:txBody>
      </p:sp>
      <p:pic>
        <p:nvPicPr>
          <p:cNvPr id="18" name="Image 0" descr="preencoded.png">    </p:cNvPr>
          <p:cNvPicPr>
            <a:picLocks noChangeAspect="1"/>
          </p:cNvPicPr>
          <p:nvPr/>
        </p:nvPicPr>
        <p:blipFill>
          <a:blip r:embed="rId1"/>
          <a:stretch>
            <a:fillRect/>
          </a:stretch>
        </p:blipFill>
        <p:spPr>
          <a:xfrm>
            <a:off x="4590288" y="1508760"/>
            <a:ext cx="256032" cy="256032"/>
          </a:xfrm>
          <a:prstGeom prst="rect">
            <a:avLst/>
          </a:prstGeom>
        </p:spPr>
      </p:pic>
      <p:sp>
        <p:nvSpPr>
          <p:cNvPr id="19" name="Text 16"/>
          <p:cNvSpPr/>
          <p:nvPr/>
        </p:nvSpPr>
        <p:spPr>
          <a:xfrm>
            <a:off x="4919472" y="1481328"/>
            <a:ext cx="3840480" cy="256032"/>
          </a:xfrm>
          <a:prstGeom prst="rect">
            <a:avLst/>
          </a:prstGeom>
          <a:noFill/>
          <a:ln/>
        </p:spPr>
        <p:txBody>
          <a:bodyPr wrap="square" lIns="0" tIns="0" rIns="0" bIns="0" rtlCol="0" anchor="ctr"/>
          <a:lstStyle/>
          <a:p>
            <a:pPr indent="0" marL="0">
              <a:buNone/>
            </a:pPr>
            <a:r>
              <a:rPr lang="en-US" sz="1100" b="1" dirty="0">
                <a:solidFill>
                  <a:srgbClr val="0B1F3A"/>
                </a:solidFill>
              </a:rPr>
              <a:t>GPT-4o AI</a:t>
            </a:r>
            <a:endParaRPr lang="en-US" sz="1100" dirty="0"/>
          </a:p>
        </p:txBody>
      </p:sp>
      <p:sp>
        <p:nvSpPr>
          <p:cNvPr id="20" name="Text 17"/>
          <p:cNvSpPr/>
          <p:nvPr/>
        </p:nvSpPr>
        <p:spPr>
          <a:xfrm>
            <a:off x="4919472" y="1737360"/>
            <a:ext cx="3840480" cy="274320"/>
          </a:xfrm>
          <a:prstGeom prst="rect">
            <a:avLst/>
          </a:prstGeom>
          <a:noFill/>
          <a:ln/>
        </p:spPr>
        <p:txBody>
          <a:bodyPr wrap="square" lIns="0" tIns="0" rIns="0" bIns="0" rtlCol="0" anchor="ctr"/>
          <a:lstStyle/>
          <a:p>
            <a:pPr indent="0" marL="0">
              <a:buNone/>
            </a:pPr>
            <a:r>
              <a:rPr lang="en-US" sz="950" dirty="0">
                <a:solidFill>
                  <a:srgbClr val="546E7A"/>
                </a:solidFill>
              </a:rPr>
              <a:t>Natural language code generation &amp; debugging [12]</a:t>
            </a:r>
            <a:endParaRPr lang="en-US" sz="950" dirty="0"/>
          </a:p>
        </p:txBody>
      </p:sp>
      <p:pic>
        <p:nvPicPr>
          <p:cNvPr id="21" name="Image 1" descr="preencoded.png">    </p:cNvPr>
          <p:cNvPicPr>
            <a:picLocks noChangeAspect="1"/>
          </p:cNvPicPr>
          <p:nvPr/>
        </p:nvPicPr>
        <p:blipFill>
          <a:blip r:embed="rId2"/>
          <a:stretch>
            <a:fillRect/>
          </a:stretch>
        </p:blipFill>
        <p:spPr>
          <a:xfrm>
            <a:off x="4590288" y="2167128"/>
            <a:ext cx="256032" cy="256032"/>
          </a:xfrm>
          <a:prstGeom prst="rect">
            <a:avLst/>
          </a:prstGeom>
        </p:spPr>
      </p:pic>
      <p:sp>
        <p:nvSpPr>
          <p:cNvPr id="22" name="Text 18"/>
          <p:cNvSpPr/>
          <p:nvPr/>
        </p:nvSpPr>
        <p:spPr>
          <a:xfrm>
            <a:off x="4919472" y="2139696"/>
            <a:ext cx="3840480" cy="256032"/>
          </a:xfrm>
          <a:prstGeom prst="rect">
            <a:avLst/>
          </a:prstGeom>
          <a:noFill/>
          <a:ln/>
        </p:spPr>
        <p:txBody>
          <a:bodyPr wrap="square" lIns="0" tIns="0" rIns="0" bIns="0" rtlCol="0" anchor="ctr"/>
          <a:lstStyle/>
          <a:p>
            <a:pPr indent="0" marL="0">
              <a:buNone/>
            </a:pPr>
            <a:r>
              <a:rPr lang="en-US" sz="1100" b="1" dirty="0">
                <a:solidFill>
                  <a:srgbClr val="0B1F3A"/>
                </a:solidFill>
              </a:rPr>
              <a:t>Urdu TTS</a:t>
            </a:r>
            <a:endParaRPr lang="en-US" sz="1100" dirty="0"/>
          </a:p>
        </p:txBody>
      </p:sp>
      <p:sp>
        <p:nvSpPr>
          <p:cNvPr id="23" name="Text 19"/>
          <p:cNvSpPr/>
          <p:nvPr/>
        </p:nvSpPr>
        <p:spPr>
          <a:xfrm>
            <a:off x="4919472" y="2395728"/>
            <a:ext cx="3840480" cy="274320"/>
          </a:xfrm>
          <a:prstGeom prst="rect">
            <a:avLst/>
          </a:prstGeom>
          <a:noFill/>
          <a:ln/>
        </p:spPr>
        <p:txBody>
          <a:bodyPr wrap="square" lIns="0" tIns="0" rIns="0" bIns="0" rtlCol="0" anchor="ctr"/>
          <a:lstStyle/>
          <a:p>
            <a:pPr indent="0" marL="0">
              <a:buNone/>
            </a:pPr>
            <a:r>
              <a:rPr lang="en-US" sz="950" dirty="0">
                <a:solidFill>
                  <a:srgbClr val="546E7A"/>
                </a:solidFill>
              </a:rPr>
              <a:t>Speech Synthesis API for Pakistani students [1]</a:t>
            </a:r>
            <a:endParaRPr lang="en-US" sz="950" dirty="0"/>
          </a:p>
        </p:txBody>
      </p:sp>
      <p:pic>
        <p:nvPicPr>
          <p:cNvPr id="24" name="Image 2" descr="preencoded.png">    </p:cNvPr>
          <p:cNvPicPr>
            <a:picLocks noChangeAspect="1"/>
          </p:cNvPicPr>
          <p:nvPr/>
        </p:nvPicPr>
        <p:blipFill>
          <a:blip r:embed="rId3"/>
          <a:stretch>
            <a:fillRect/>
          </a:stretch>
        </p:blipFill>
        <p:spPr>
          <a:xfrm>
            <a:off x="4590288" y="2825496"/>
            <a:ext cx="256032" cy="256032"/>
          </a:xfrm>
          <a:prstGeom prst="rect">
            <a:avLst/>
          </a:prstGeom>
        </p:spPr>
      </p:pic>
      <p:sp>
        <p:nvSpPr>
          <p:cNvPr id="25" name="Text 20"/>
          <p:cNvSpPr/>
          <p:nvPr/>
        </p:nvSpPr>
        <p:spPr>
          <a:xfrm>
            <a:off x="4919472" y="2798064"/>
            <a:ext cx="3840480" cy="256032"/>
          </a:xfrm>
          <a:prstGeom prst="rect">
            <a:avLst/>
          </a:prstGeom>
          <a:noFill/>
          <a:ln/>
        </p:spPr>
        <p:txBody>
          <a:bodyPr wrap="square" lIns="0" tIns="0" rIns="0" bIns="0" rtlCol="0" anchor="ctr"/>
          <a:lstStyle/>
          <a:p>
            <a:pPr indent="0" marL="0">
              <a:buNone/>
            </a:pPr>
            <a:r>
              <a:rPr lang="en-US" sz="1100" b="1" dirty="0">
                <a:solidFill>
                  <a:srgbClr val="0B1F3A"/>
                </a:solidFill>
              </a:rPr>
              <a:t>Cloud Storage</a:t>
            </a:r>
            <a:endParaRPr lang="en-US" sz="1100" dirty="0"/>
          </a:p>
        </p:txBody>
      </p:sp>
      <p:sp>
        <p:nvSpPr>
          <p:cNvPr id="26" name="Text 21"/>
          <p:cNvSpPr/>
          <p:nvPr/>
        </p:nvSpPr>
        <p:spPr>
          <a:xfrm>
            <a:off x="4919472" y="3054096"/>
            <a:ext cx="3840480" cy="274320"/>
          </a:xfrm>
          <a:prstGeom prst="rect">
            <a:avLst/>
          </a:prstGeom>
          <a:noFill/>
          <a:ln/>
        </p:spPr>
        <p:txBody>
          <a:bodyPr wrap="square" lIns="0" tIns="0" rIns="0" bIns="0" rtlCol="0" anchor="ctr"/>
          <a:lstStyle/>
          <a:p>
            <a:pPr indent="0" marL="0">
              <a:buNone/>
            </a:pPr>
            <a:r>
              <a:rPr lang="en-US" sz="950" dirty="0">
                <a:solidFill>
                  <a:srgbClr val="546E7A"/>
                </a:solidFill>
              </a:rPr>
              <a:t>JWT auth + Supabase PostgreSQL file management [7],[13]</a:t>
            </a:r>
            <a:endParaRPr lang="en-US" sz="950" dirty="0"/>
          </a:p>
        </p:txBody>
      </p:sp>
      <p:pic>
        <p:nvPicPr>
          <p:cNvPr id="27" name="Image 3" descr="preencoded.png">    </p:cNvPr>
          <p:cNvPicPr>
            <a:picLocks noChangeAspect="1"/>
          </p:cNvPicPr>
          <p:nvPr/>
        </p:nvPicPr>
        <p:blipFill>
          <a:blip r:embed="rId4"/>
          <a:stretch>
            <a:fillRect/>
          </a:stretch>
        </p:blipFill>
        <p:spPr>
          <a:xfrm>
            <a:off x="4590288" y="3483864"/>
            <a:ext cx="256032" cy="256032"/>
          </a:xfrm>
          <a:prstGeom prst="rect">
            <a:avLst/>
          </a:prstGeom>
        </p:spPr>
      </p:pic>
      <p:sp>
        <p:nvSpPr>
          <p:cNvPr id="28" name="Text 22"/>
          <p:cNvSpPr/>
          <p:nvPr/>
        </p:nvSpPr>
        <p:spPr>
          <a:xfrm>
            <a:off x="4919472" y="3456432"/>
            <a:ext cx="3840480" cy="256032"/>
          </a:xfrm>
          <a:prstGeom prst="rect">
            <a:avLst/>
          </a:prstGeom>
          <a:noFill/>
          <a:ln/>
        </p:spPr>
        <p:txBody>
          <a:bodyPr wrap="square" lIns="0" tIns="0" rIns="0" bIns="0" rtlCol="0" anchor="ctr"/>
          <a:lstStyle/>
          <a:p>
            <a:pPr indent="0" marL="0">
              <a:buNone/>
            </a:pPr>
            <a:r>
              <a:rPr lang="en-US" sz="1100" b="1" dirty="0">
                <a:solidFill>
                  <a:srgbClr val="0B1F3A"/>
                </a:solidFill>
              </a:rPr>
              <a:t>3-Level Parser</a:t>
            </a:r>
            <a:endParaRPr lang="en-US" sz="1100" dirty="0"/>
          </a:p>
        </p:txBody>
      </p:sp>
      <p:sp>
        <p:nvSpPr>
          <p:cNvPr id="29" name="Text 23"/>
          <p:cNvSpPr/>
          <p:nvPr/>
        </p:nvSpPr>
        <p:spPr>
          <a:xfrm>
            <a:off x="4919472" y="3712464"/>
            <a:ext cx="3840480" cy="274320"/>
          </a:xfrm>
          <a:prstGeom prst="rect">
            <a:avLst/>
          </a:prstGeom>
          <a:noFill/>
          <a:ln/>
        </p:spPr>
        <p:txBody>
          <a:bodyPr wrap="square" lIns="0" tIns="0" rIns="0" bIns="0" rtlCol="0" anchor="ctr"/>
          <a:lstStyle/>
          <a:p>
            <a:pPr indent="0" marL="0">
              <a:buNone/>
            </a:pPr>
            <a:r>
              <a:rPr lang="en-US" sz="950" dirty="0">
                <a:solidFill>
                  <a:srgbClr val="546E7A"/>
                </a:solidFill>
              </a:rPr>
              <a:t>Direct C++, system commands, and NL via AI [5],[12]</a:t>
            </a:r>
            <a:endParaRPr lang="en-US" sz="950" dirty="0"/>
          </a:p>
        </p:txBody>
      </p:sp>
      <p:pic>
        <p:nvPicPr>
          <p:cNvPr id="30" name="Image 4" descr="preencoded.png">    </p:cNvPr>
          <p:cNvPicPr>
            <a:picLocks noChangeAspect="1"/>
          </p:cNvPicPr>
          <p:nvPr/>
        </p:nvPicPr>
        <p:blipFill>
          <a:blip r:embed="rId5"/>
          <a:stretch>
            <a:fillRect/>
          </a:stretch>
        </p:blipFill>
        <p:spPr>
          <a:xfrm>
            <a:off x="4590288" y="4142232"/>
            <a:ext cx="256032" cy="256032"/>
          </a:xfrm>
          <a:prstGeom prst="rect">
            <a:avLst/>
          </a:prstGeom>
        </p:spPr>
      </p:pic>
      <p:sp>
        <p:nvSpPr>
          <p:cNvPr id="31" name="Text 24"/>
          <p:cNvSpPr/>
          <p:nvPr/>
        </p:nvSpPr>
        <p:spPr>
          <a:xfrm>
            <a:off x="4919472" y="4114800"/>
            <a:ext cx="3840480" cy="256032"/>
          </a:xfrm>
          <a:prstGeom prst="rect">
            <a:avLst/>
          </a:prstGeom>
          <a:noFill/>
          <a:ln/>
        </p:spPr>
        <p:txBody>
          <a:bodyPr wrap="square" lIns="0" tIns="0" rIns="0" bIns="0" rtlCol="0" anchor="ctr"/>
          <a:lstStyle/>
          <a:p>
            <a:pPr indent="0" marL="0">
              <a:buNone/>
            </a:pPr>
            <a:r>
              <a:rPr lang="en-US" sz="1100" b="1" dirty="0">
                <a:solidFill>
                  <a:srgbClr val="0B1F3A"/>
                </a:solidFill>
              </a:rPr>
              <a:t>Public Share Links</a:t>
            </a:r>
            <a:endParaRPr lang="en-US" sz="1100" dirty="0"/>
          </a:p>
        </p:txBody>
      </p:sp>
      <p:sp>
        <p:nvSpPr>
          <p:cNvPr id="32" name="Text 25"/>
          <p:cNvSpPr/>
          <p:nvPr/>
        </p:nvSpPr>
        <p:spPr>
          <a:xfrm>
            <a:off x="4919472" y="4370832"/>
            <a:ext cx="3840480" cy="274320"/>
          </a:xfrm>
          <a:prstGeom prst="rect">
            <a:avLst/>
          </a:prstGeom>
          <a:noFill/>
          <a:ln/>
        </p:spPr>
        <p:txBody>
          <a:bodyPr wrap="square" lIns="0" tIns="0" rIns="0" bIns="0" rtlCol="0" anchor="ctr"/>
          <a:lstStyle/>
          <a:p>
            <a:pPr indent="0" marL="0">
              <a:buNone/>
            </a:pPr>
            <a:r>
              <a:rPr lang="en-US" sz="950" dirty="0">
                <a:solidFill>
                  <a:srgbClr val="546E7A"/>
                </a:solidFill>
              </a:rPr>
              <a:t>Unique URLs for sharing code files instantly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Project Methodology: Iterative Development</a:t>
            </a:r>
            <a:endParaRPr lang="en-US" sz="2600" dirty="0"/>
          </a:p>
        </p:txBody>
      </p:sp>
      <p:sp>
        <p:nvSpPr>
          <p:cNvPr id="4" name="Shape 2"/>
          <p:cNvSpPr/>
          <p:nvPr/>
        </p:nvSpPr>
        <p:spPr>
          <a:xfrm>
            <a:off x="201168" y="1024128"/>
            <a:ext cx="4251960"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01168" y="1024128"/>
            <a:ext cx="411480" cy="877824"/>
          </a:xfrm>
          <a:prstGeom prst="rect">
            <a:avLst/>
          </a:prstGeom>
          <a:solidFill>
            <a:srgbClr val="1565C0"/>
          </a:solidFill>
          <a:ln w="12700">
            <a:solidFill>
              <a:srgbClr val="1565C0"/>
            </a:solidFill>
            <a:prstDash val="solid"/>
          </a:ln>
        </p:spPr>
      </p:sp>
      <p:sp>
        <p:nvSpPr>
          <p:cNvPr id="6" name="Text 4"/>
          <p:cNvSpPr/>
          <p:nvPr/>
        </p:nvSpPr>
        <p:spPr>
          <a:xfrm>
            <a:off x="201168" y="1024128"/>
            <a:ext cx="411480" cy="877824"/>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Text 5"/>
          <p:cNvSpPr/>
          <p:nvPr/>
        </p:nvSpPr>
        <p:spPr>
          <a:xfrm>
            <a:off x="704088" y="1115568"/>
            <a:ext cx="3657600" cy="320040"/>
          </a:xfrm>
          <a:prstGeom prst="rect">
            <a:avLst/>
          </a:prstGeom>
          <a:noFill/>
          <a:ln/>
        </p:spPr>
        <p:txBody>
          <a:bodyPr wrap="square" lIns="0" tIns="0" rIns="0" bIns="0" rtlCol="0" anchor="ctr"/>
          <a:lstStyle/>
          <a:p>
            <a:pPr indent="0" marL="0">
              <a:buNone/>
            </a:pPr>
            <a:r>
              <a:rPr lang="en-US" sz="1100" b="1" dirty="0">
                <a:solidFill>
                  <a:srgbClr val="0B1F3A"/>
                </a:solidFill>
              </a:rPr>
              <a:t>Phase 1: Interface Design</a:t>
            </a:r>
            <a:endParaRPr lang="en-US" sz="1100" dirty="0"/>
          </a:p>
        </p:txBody>
      </p:sp>
      <p:sp>
        <p:nvSpPr>
          <p:cNvPr id="8" name="Text 6"/>
          <p:cNvSpPr/>
          <p:nvPr/>
        </p:nvSpPr>
        <p:spPr>
          <a:xfrm>
            <a:off x="704088" y="1463040"/>
            <a:ext cx="3657600" cy="347472"/>
          </a:xfrm>
          <a:prstGeom prst="rect">
            <a:avLst/>
          </a:prstGeom>
          <a:noFill/>
          <a:ln/>
        </p:spPr>
        <p:txBody>
          <a:bodyPr wrap="square" lIns="0" tIns="0" rIns="0" bIns="0" rtlCol="0" anchor="ctr"/>
          <a:lstStyle/>
          <a:p>
            <a:pPr indent="0" marL="0">
              <a:buNone/>
            </a:pPr>
            <a:r>
              <a:rPr lang="en-US" sz="950" dirty="0">
                <a:solidFill>
                  <a:srgbClr val="546E7A"/>
                </a:solidFill>
              </a:rPr>
              <a:t>Monaco Editor, dark theme, multi-tab</a:t>
            </a:r>
            <a:endParaRPr lang="en-US" sz="950" dirty="0"/>
          </a:p>
        </p:txBody>
      </p:sp>
      <p:sp>
        <p:nvSpPr>
          <p:cNvPr id="9" name="Shape 7"/>
          <p:cNvSpPr/>
          <p:nvPr/>
        </p:nvSpPr>
        <p:spPr>
          <a:xfrm>
            <a:off x="201168" y="2029968"/>
            <a:ext cx="4251960"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01168" y="2029968"/>
            <a:ext cx="411480" cy="877824"/>
          </a:xfrm>
          <a:prstGeom prst="rect">
            <a:avLst/>
          </a:prstGeom>
          <a:solidFill>
            <a:srgbClr val="00ACC1"/>
          </a:solidFill>
          <a:ln w="12700">
            <a:solidFill>
              <a:srgbClr val="00ACC1"/>
            </a:solidFill>
            <a:prstDash val="solid"/>
          </a:ln>
        </p:spPr>
      </p:sp>
      <p:sp>
        <p:nvSpPr>
          <p:cNvPr id="11" name="Text 9"/>
          <p:cNvSpPr/>
          <p:nvPr/>
        </p:nvSpPr>
        <p:spPr>
          <a:xfrm>
            <a:off x="201168" y="2029968"/>
            <a:ext cx="411480" cy="877824"/>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2" name="Text 10"/>
          <p:cNvSpPr/>
          <p:nvPr/>
        </p:nvSpPr>
        <p:spPr>
          <a:xfrm>
            <a:off x="704088" y="2121408"/>
            <a:ext cx="3657600" cy="320040"/>
          </a:xfrm>
          <a:prstGeom prst="rect">
            <a:avLst/>
          </a:prstGeom>
          <a:noFill/>
          <a:ln/>
        </p:spPr>
        <p:txBody>
          <a:bodyPr wrap="square" lIns="0" tIns="0" rIns="0" bIns="0" rtlCol="0" anchor="ctr"/>
          <a:lstStyle/>
          <a:p>
            <a:pPr indent="0" marL="0">
              <a:buNone/>
            </a:pPr>
            <a:r>
              <a:rPr lang="en-US" sz="1100" b="1" dirty="0">
                <a:solidFill>
                  <a:srgbClr val="0B1F3A"/>
                </a:solidFill>
              </a:rPr>
              <a:t>Phase 2: Speech Recognition</a:t>
            </a:r>
            <a:endParaRPr lang="en-US" sz="1100" dirty="0"/>
          </a:p>
        </p:txBody>
      </p:sp>
      <p:sp>
        <p:nvSpPr>
          <p:cNvPr id="13" name="Text 11"/>
          <p:cNvSpPr/>
          <p:nvPr/>
        </p:nvSpPr>
        <p:spPr>
          <a:xfrm>
            <a:off x="704088" y="2468880"/>
            <a:ext cx="3657600" cy="347472"/>
          </a:xfrm>
          <a:prstGeom prst="rect">
            <a:avLst/>
          </a:prstGeom>
          <a:noFill/>
          <a:ln/>
        </p:spPr>
        <p:txBody>
          <a:bodyPr wrap="square" lIns="0" tIns="0" rIns="0" bIns="0" rtlCol="0" anchor="ctr"/>
          <a:lstStyle/>
          <a:p>
            <a:pPr indent="0" marL="0">
              <a:buNone/>
            </a:pPr>
            <a:r>
              <a:rPr lang="en-US" sz="950" dirty="0">
                <a:solidFill>
                  <a:srgbClr val="546E7A"/>
                </a:solidFill>
              </a:rPr>
              <a:t>Web Speech API + noise gate filtering [1]</a:t>
            </a:r>
            <a:endParaRPr lang="en-US" sz="950" dirty="0"/>
          </a:p>
        </p:txBody>
      </p:sp>
      <p:sp>
        <p:nvSpPr>
          <p:cNvPr id="14" name="Shape 12"/>
          <p:cNvSpPr/>
          <p:nvPr/>
        </p:nvSpPr>
        <p:spPr>
          <a:xfrm>
            <a:off x="201168" y="3035808"/>
            <a:ext cx="4251960"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5" name="Shape 13"/>
          <p:cNvSpPr/>
          <p:nvPr/>
        </p:nvSpPr>
        <p:spPr>
          <a:xfrm>
            <a:off x="201168" y="3035808"/>
            <a:ext cx="411480" cy="877824"/>
          </a:xfrm>
          <a:prstGeom prst="rect">
            <a:avLst/>
          </a:prstGeom>
          <a:solidFill>
            <a:srgbClr val="F57C00"/>
          </a:solidFill>
          <a:ln w="12700">
            <a:solidFill>
              <a:srgbClr val="F57C00"/>
            </a:solidFill>
            <a:prstDash val="solid"/>
          </a:ln>
        </p:spPr>
      </p:sp>
      <p:sp>
        <p:nvSpPr>
          <p:cNvPr id="16" name="Text 14"/>
          <p:cNvSpPr/>
          <p:nvPr/>
        </p:nvSpPr>
        <p:spPr>
          <a:xfrm>
            <a:off x="201168" y="3035808"/>
            <a:ext cx="411480" cy="877824"/>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7" name="Text 15"/>
          <p:cNvSpPr/>
          <p:nvPr/>
        </p:nvSpPr>
        <p:spPr>
          <a:xfrm>
            <a:off x="704088" y="3127248"/>
            <a:ext cx="3657600" cy="320040"/>
          </a:xfrm>
          <a:prstGeom prst="rect">
            <a:avLst/>
          </a:prstGeom>
          <a:noFill/>
          <a:ln/>
        </p:spPr>
        <p:txBody>
          <a:bodyPr wrap="square" lIns="0" tIns="0" rIns="0" bIns="0" rtlCol="0" anchor="ctr"/>
          <a:lstStyle/>
          <a:p>
            <a:pPr indent="0" marL="0">
              <a:buNone/>
            </a:pPr>
            <a:r>
              <a:rPr lang="en-US" sz="1100" b="1" dirty="0">
                <a:solidFill>
                  <a:srgbClr val="0B1F3A"/>
                </a:solidFill>
              </a:rPr>
              <a:t>Phase 3: Command Parser</a:t>
            </a:r>
            <a:endParaRPr lang="en-US" sz="1100" dirty="0"/>
          </a:p>
        </p:txBody>
      </p:sp>
      <p:sp>
        <p:nvSpPr>
          <p:cNvPr id="18" name="Text 16"/>
          <p:cNvSpPr/>
          <p:nvPr/>
        </p:nvSpPr>
        <p:spPr>
          <a:xfrm>
            <a:off x="704088" y="3474720"/>
            <a:ext cx="3657600" cy="347472"/>
          </a:xfrm>
          <a:prstGeom prst="rect">
            <a:avLst/>
          </a:prstGeom>
          <a:noFill/>
          <a:ln/>
        </p:spPr>
        <p:txBody>
          <a:bodyPr wrap="square" lIns="0" tIns="0" rIns="0" bIns="0" rtlCol="0" anchor="ctr"/>
          <a:lstStyle/>
          <a:p>
            <a:pPr indent="0" marL="0">
              <a:buNone/>
            </a:pPr>
            <a:r>
              <a:rPr lang="en-US" sz="950" dirty="0">
                <a:solidFill>
                  <a:srgbClr val="546E7A"/>
                </a:solidFill>
              </a:rPr>
              <a:t>3-level system: L1/L2 rules + GPT-4o [12]</a:t>
            </a:r>
            <a:endParaRPr lang="en-US" sz="950" dirty="0"/>
          </a:p>
        </p:txBody>
      </p:sp>
      <p:sp>
        <p:nvSpPr>
          <p:cNvPr id="19" name="Shape 17"/>
          <p:cNvSpPr/>
          <p:nvPr/>
        </p:nvSpPr>
        <p:spPr>
          <a:xfrm>
            <a:off x="201168" y="4041648"/>
            <a:ext cx="4251960"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0" name="Shape 18"/>
          <p:cNvSpPr/>
          <p:nvPr/>
        </p:nvSpPr>
        <p:spPr>
          <a:xfrm>
            <a:off x="201168" y="4041648"/>
            <a:ext cx="411480" cy="877824"/>
          </a:xfrm>
          <a:prstGeom prst="rect">
            <a:avLst/>
          </a:prstGeom>
          <a:solidFill>
            <a:srgbClr val="1565C0"/>
          </a:solidFill>
          <a:ln w="12700">
            <a:solidFill>
              <a:srgbClr val="1565C0"/>
            </a:solidFill>
            <a:prstDash val="solid"/>
          </a:ln>
        </p:spPr>
      </p:sp>
      <p:sp>
        <p:nvSpPr>
          <p:cNvPr id="21" name="Text 19"/>
          <p:cNvSpPr/>
          <p:nvPr/>
        </p:nvSpPr>
        <p:spPr>
          <a:xfrm>
            <a:off x="201168" y="4041648"/>
            <a:ext cx="411480" cy="877824"/>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2" name="Text 20"/>
          <p:cNvSpPr/>
          <p:nvPr/>
        </p:nvSpPr>
        <p:spPr>
          <a:xfrm>
            <a:off x="704088" y="4133088"/>
            <a:ext cx="3657600" cy="320040"/>
          </a:xfrm>
          <a:prstGeom prst="rect">
            <a:avLst/>
          </a:prstGeom>
          <a:noFill/>
          <a:ln/>
        </p:spPr>
        <p:txBody>
          <a:bodyPr wrap="square" lIns="0" tIns="0" rIns="0" bIns="0" rtlCol="0" anchor="ctr"/>
          <a:lstStyle/>
          <a:p>
            <a:pPr indent="0" marL="0">
              <a:buNone/>
            </a:pPr>
            <a:r>
              <a:rPr lang="en-US" sz="1100" b="1" dirty="0">
                <a:solidFill>
                  <a:srgbClr val="0B1F3A"/>
                </a:solidFill>
              </a:rPr>
              <a:t>Phase 4: AI Integration</a:t>
            </a:r>
            <a:endParaRPr lang="en-US" sz="1100" dirty="0"/>
          </a:p>
        </p:txBody>
      </p:sp>
      <p:sp>
        <p:nvSpPr>
          <p:cNvPr id="23" name="Text 21"/>
          <p:cNvSpPr/>
          <p:nvPr/>
        </p:nvSpPr>
        <p:spPr>
          <a:xfrm>
            <a:off x="704088" y="4480560"/>
            <a:ext cx="3657600" cy="347472"/>
          </a:xfrm>
          <a:prstGeom prst="rect">
            <a:avLst/>
          </a:prstGeom>
          <a:noFill/>
          <a:ln/>
        </p:spPr>
        <p:txBody>
          <a:bodyPr wrap="square" lIns="0" tIns="0" rIns="0" bIns="0" rtlCol="0" anchor="ctr"/>
          <a:lstStyle/>
          <a:p>
            <a:pPr indent="0" marL="0">
              <a:buNone/>
            </a:pPr>
            <a:r>
              <a:rPr lang="en-US" sz="950" dirty="0">
                <a:solidFill>
                  <a:srgbClr val="546E7A"/>
                </a:solidFill>
              </a:rPr>
              <a:t>GPT-4o code gen, debug, explain [12]</a:t>
            </a:r>
            <a:endParaRPr lang="en-US" sz="950" dirty="0"/>
          </a:p>
        </p:txBody>
      </p:sp>
      <p:sp>
        <p:nvSpPr>
          <p:cNvPr id="24" name="Shape 22"/>
          <p:cNvSpPr/>
          <p:nvPr/>
        </p:nvSpPr>
        <p:spPr>
          <a:xfrm>
            <a:off x="4727448" y="1024128"/>
            <a:ext cx="4251960"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5" name="Shape 23"/>
          <p:cNvSpPr/>
          <p:nvPr/>
        </p:nvSpPr>
        <p:spPr>
          <a:xfrm>
            <a:off x="4727448" y="1024128"/>
            <a:ext cx="411480" cy="877824"/>
          </a:xfrm>
          <a:prstGeom prst="rect">
            <a:avLst/>
          </a:prstGeom>
          <a:solidFill>
            <a:srgbClr val="00ACC1"/>
          </a:solidFill>
          <a:ln w="12700">
            <a:solidFill>
              <a:srgbClr val="00ACC1"/>
            </a:solidFill>
            <a:prstDash val="solid"/>
          </a:ln>
        </p:spPr>
      </p:sp>
      <p:sp>
        <p:nvSpPr>
          <p:cNvPr id="26" name="Text 24"/>
          <p:cNvSpPr/>
          <p:nvPr/>
        </p:nvSpPr>
        <p:spPr>
          <a:xfrm>
            <a:off x="4727448" y="1024128"/>
            <a:ext cx="411480" cy="877824"/>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7" name="Text 25"/>
          <p:cNvSpPr/>
          <p:nvPr/>
        </p:nvSpPr>
        <p:spPr>
          <a:xfrm>
            <a:off x="5230368" y="1115568"/>
            <a:ext cx="3657600" cy="320040"/>
          </a:xfrm>
          <a:prstGeom prst="rect">
            <a:avLst/>
          </a:prstGeom>
          <a:noFill/>
          <a:ln/>
        </p:spPr>
        <p:txBody>
          <a:bodyPr wrap="square" lIns="0" tIns="0" rIns="0" bIns="0" rtlCol="0" anchor="ctr"/>
          <a:lstStyle/>
          <a:p>
            <a:pPr indent="0" marL="0">
              <a:buNone/>
            </a:pPr>
            <a:r>
              <a:rPr lang="en-US" sz="1100" b="1" dirty="0">
                <a:solidFill>
                  <a:srgbClr val="0B1F3A"/>
                </a:solidFill>
              </a:rPr>
              <a:t>Phase 5: Compiler Backend</a:t>
            </a:r>
            <a:endParaRPr lang="en-US" sz="1100" dirty="0"/>
          </a:p>
        </p:txBody>
      </p:sp>
      <p:sp>
        <p:nvSpPr>
          <p:cNvPr id="28" name="Text 26"/>
          <p:cNvSpPr/>
          <p:nvPr/>
        </p:nvSpPr>
        <p:spPr>
          <a:xfrm>
            <a:off x="5230368" y="1463040"/>
            <a:ext cx="3657600" cy="347472"/>
          </a:xfrm>
          <a:prstGeom prst="rect">
            <a:avLst/>
          </a:prstGeom>
          <a:noFill/>
          <a:ln/>
        </p:spPr>
        <p:txBody>
          <a:bodyPr wrap="square" lIns="0" tIns="0" rIns="0" bIns="0" rtlCol="0" anchor="ctr"/>
          <a:lstStyle/>
          <a:p>
            <a:pPr indent="0" marL="0">
              <a:buNone/>
            </a:pPr>
            <a:r>
              <a:rPr lang="en-US" sz="950" dirty="0">
                <a:solidFill>
                  <a:srgbClr val="546E7A"/>
                </a:solidFill>
              </a:rPr>
              <a:t>Node.js proxy to Judge0/Paiza/JDoodle [2],[8]</a:t>
            </a:r>
            <a:endParaRPr lang="en-US" sz="950" dirty="0"/>
          </a:p>
        </p:txBody>
      </p:sp>
      <p:sp>
        <p:nvSpPr>
          <p:cNvPr id="29" name="Shape 27"/>
          <p:cNvSpPr/>
          <p:nvPr/>
        </p:nvSpPr>
        <p:spPr>
          <a:xfrm>
            <a:off x="4727448" y="2029968"/>
            <a:ext cx="4251960"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30" name="Shape 28"/>
          <p:cNvSpPr/>
          <p:nvPr/>
        </p:nvSpPr>
        <p:spPr>
          <a:xfrm>
            <a:off x="4727448" y="2029968"/>
            <a:ext cx="411480" cy="877824"/>
          </a:xfrm>
          <a:prstGeom prst="rect">
            <a:avLst/>
          </a:prstGeom>
          <a:solidFill>
            <a:srgbClr val="F57C00"/>
          </a:solidFill>
          <a:ln w="12700">
            <a:solidFill>
              <a:srgbClr val="F57C00"/>
            </a:solidFill>
            <a:prstDash val="solid"/>
          </a:ln>
        </p:spPr>
      </p:sp>
      <p:sp>
        <p:nvSpPr>
          <p:cNvPr id="31" name="Text 29"/>
          <p:cNvSpPr/>
          <p:nvPr/>
        </p:nvSpPr>
        <p:spPr>
          <a:xfrm>
            <a:off x="4727448" y="2029968"/>
            <a:ext cx="411480" cy="877824"/>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32" name="Text 30"/>
          <p:cNvSpPr/>
          <p:nvPr/>
        </p:nvSpPr>
        <p:spPr>
          <a:xfrm>
            <a:off x="5230368" y="2121408"/>
            <a:ext cx="3657600" cy="320040"/>
          </a:xfrm>
          <a:prstGeom prst="rect">
            <a:avLst/>
          </a:prstGeom>
          <a:noFill/>
          <a:ln/>
        </p:spPr>
        <p:txBody>
          <a:bodyPr wrap="square" lIns="0" tIns="0" rIns="0" bIns="0" rtlCol="0" anchor="ctr"/>
          <a:lstStyle/>
          <a:p>
            <a:pPr indent="0" marL="0">
              <a:buNone/>
            </a:pPr>
            <a:r>
              <a:rPr lang="en-US" sz="1100" b="1" dirty="0">
                <a:solidFill>
                  <a:srgbClr val="0B1F3A"/>
                </a:solidFill>
              </a:rPr>
              <a:t>Phase 6: Auth &amp; Cloud DB</a:t>
            </a:r>
            <a:endParaRPr lang="en-US" sz="1100" dirty="0"/>
          </a:p>
        </p:txBody>
      </p:sp>
      <p:sp>
        <p:nvSpPr>
          <p:cNvPr id="33" name="Text 31"/>
          <p:cNvSpPr/>
          <p:nvPr/>
        </p:nvSpPr>
        <p:spPr>
          <a:xfrm>
            <a:off x="5230368" y="2468880"/>
            <a:ext cx="3657600" cy="347472"/>
          </a:xfrm>
          <a:prstGeom prst="rect">
            <a:avLst/>
          </a:prstGeom>
          <a:noFill/>
          <a:ln/>
        </p:spPr>
        <p:txBody>
          <a:bodyPr wrap="square" lIns="0" tIns="0" rIns="0" bIns="0" rtlCol="0" anchor="ctr"/>
          <a:lstStyle/>
          <a:p>
            <a:pPr indent="0" marL="0">
              <a:buNone/>
            </a:pPr>
            <a:r>
              <a:rPr lang="en-US" sz="950" dirty="0">
                <a:solidFill>
                  <a:srgbClr val="546E7A"/>
                </a:solidFill>
              </a:rPr>
              <a:t>JWT + bcrypt + Supabase PostgreSQL [7],[13]</a:t>
            </a:r>
            <a:endParaRPr lang="en-US" sz="950" dirty="0"/>
          </a:p>
        </p:txBody>
      </p:sp>
      <p:sp>
        <p:nvSpPr>
          <p:cNvPr id="34" name="Shape 32"/>
          <p:cNvSpPr/>
          <p:nvPr/>
        </p:nvSpPr>
        <p:spPr>
          <a:xfrm>
            <a:off x="4727448" y="3035808"/>
            <a:ext cx="4251960"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35" name="Shape 33"/>
          <p:cNvSpPr/>
          <p:nvPr/>
        </p:nvSpPr>
        <p:spPr>
          <a:xfrm>
            <a:off x="4727448" y="3035808"/>
            <a:ext cx="411480" cy="877824"/>
          </a:xfrm>
          <a:prstGeom prst="rect">
            <a:avLst/>
          </a:prstGeom>
          <a:solidFill>
            <a:srgbClr val="1565C0"/>
          </a:solidFill>
          <a:ln w="12700">
            <a:solidFill>
              <a:srgbClr val="1565C0"/>
            </a:solidFill>
            <a:prstDash val="solid"/>
          </a:ln>
        </p:spPr>
      </p:sp>
      <p:sp>
        <p:nvSpPr>
          <p:cNvPr id="36" name="Text 34"/>
          <p:cNvSpPr/>
          <p:nvPr/>
        </p:nvSpPr>
        <p:spPr>
          <a:xfrm>
            <a:off x="4727448" y="3035808"/>
            <a:ext cx="411480" cy="877824"/>
          </a:xfrm>
          <a:prstGeom prst="rect">
            <a:avLst/>
          </a:prstGeom>
          <a:noFill/>
          <a:ln/>
        </p:spPr>
        <p:txBody>
          <a:bodyPr wrap="square" lIns="0" tIns="0" rIns="0" bIns="0" rtlCol="0" anchor="ctr"/>
          <a:lstStyle/>
          <a:p>
            <a:pPr algn="ctr" indent="0" marL="0">
              <a:buNone/>
            </a:pPr>
            <a:r>
              <a:rPr lang="en-US" sz="1800" b="1" dirty="0">
                <a:solidFill>
                  <a:srgbClr val="FFFFFF"/>
                </a:solidFill>
              </a:rPr>
              <a:t>7</a:t>
            </a:r>
            <a:endParaRPr lang="en-US" sz="1800" dirty="0"/>
          </a:p>
        </p:txBody>
      </p:sp>
      <p:sp>
        <p:nvSpPr>
          <p:cNvPr id="37" name="Text 35"/>
          <p:cNvSpPr/>
          <p:nvPr/>
        </p:nvSpPr>
        <p:spPr>
          <a:xfrm>
            <a:off x="5230368" y="3127248"/>
            <a:ext cx="3657600" cy="320040"/>
          </a:xfrm>
          <a:prstGeom prst="rect">
            <a:avLst/>
          </a:prstGeom>
          <a:noFill/>
          <a:ln/>
        </p:spPr>
        <p:txBody>
          <a:bodyPr wrap="square" lIns="0" tIns="0" rIns="0" bIns="0" rtlCol="0" anchor="ctr"/>
          <a:lstStyle/>
          <a:p>
            <a:pPr indent="0" marL="0">
              <a:buNone/>
            </a:pPr>
            <a:r>
              <a:rPr lang="en-US" sz="1100" b="1" dirty="0">
                <a:solidFill>
                  <a:srgbClr val="0B1F3A"/>
                </a:solidFill>
              </a:rPr>
              <a:t>Phase 7: Urdu TTS &amp; Access.</a:t>
            </a:r>
            <a:endParaRPr lang="en-US" sz="1100" dirty="0"/>
          </a:p>
        </p:txBody>
      </p:sp>
      <p:sp>
        <p:nvSpPr>
          <p:cNvPr id="38" name="Text 36"/>
          <p:cNvSpPr/>
          <p:nvPr/>
        </p:nvSpPr>
        <p:spPr>
          <a:xfrm>
            <a:off x="5230368" y="3474720"/>
            <a:ext cx="3657600" cy="347472"/>
          </a:xfrm>
          <a:prstGeom prst="rect">
            <a:avLst/>
          </a:prstGeom>
          <a:noFill/>
          <a:ln/>
        </p:spPr>
        <p:txBody>
          <a:bodyPr wrap="square" lIns="0" tIns="0" rIns="0" bIns="0" rtlCol="0" anchor="ctr"/>
          <a:lstStyle/>
          <a:p>
            <a:pPr indent="0" marL="0">
              <a:buNone/>
            </a:pPr>
            <a:r>
              <a:rPr lang="en-US" sz="950" dirty="0">
                <a:solidFill>
                  <a:srgbClr val="546E7A"/>
                </a:solidFill>
              </a:rPr>
              <a:t>Speech Synthesis + WCAG 2.1 [1],[16]</a:t>
            </a:r>
            <a:endParaRPr lang="en-US" sz="950" dirty="0"/>
          </a:p>
        </p:txBody>
      </p:sp>
      <p:sp>
        <p:nvSpPr>
          <p:cNvPr id="39" name="Shape 37"/>
          <p:cNvSpPr/>
          <p:nvPr/>
        </p:nvSpPr>
        <p:spPr>
          <a:xfrm>
            <a:off x="4727448" y="4041648"/>
            <a:ext cx="4251960"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40" name="Shape 38"/>
          <p:cNvSpPr/>
          <p:nvPr/>
        </p:nvSpPr>
        <p:spPr>
          <a:xfrm>
            <a:off x="4727448" y="4041648"/>
            <a:ext cx="411480" cy="877824"/>
          </a:xfrm>
          <a:prstGeom prst="rect">
            <a:avLst/>
          </a:prstGeom>
          <a:solidFill>
            <a:srgbClr val="00ACC1"/>
          </a:solidFill>
          <a:ln w="12700">
            <a:solidFill>
              <a:srgbClr val="00ACC1"/>
            </a:solidFill>
            <a:prstDash val="solid"/>
          </a:ln>
        </p:spPr>
      </p:sp>
      <p:sp>
        <p:nvSpPr>
          <p:cNvPr id="41" name="Text 39"/>
          <p:cNvSpPr/>
          <p:nvPr/>
        </p:nvSpPr>
        <p:spPr>
          <a:xfrm>
            <a:off x="4727448" y="4041648"/>
            <a:ext cx="411480" cy="877824"/>
          </a:xfrm>
          <a:prstGeom prst="rect">
            <a:avLst/>
          </a:prstGeom>
          <a:noFill/>
          <a:ln/>
        </p:spPr>
        <p:txBody>
          <a:bodyPr wrap="square" lIns="0" tIns="0" rIns="0" bIns="0" rtlCol="0" anchor="ctr"/>
          <a:lstStyle/>
          <a:p>
            <a:pPr algn="ctr" indent="0" marL="0">
              <a:buNone/>
            </a:pPr>
            <a:r>
              <a:rPr lang="en-US" sz="1800" b="1" dirty="0">
                <a:solidFill>
                  <a:srgbClr val="FFFFFF"/>
                </a:solidFill>
              </a:rPr>
              <a:t>8</a:t>
            </a:r>
            <a:endParaRPr lang="en-US" sz="1800" dirty="0"/>
          </a:p>
        </p:txBody>
      </p:sp>
      <p:sp>
        <p:nvSpPr>
          <p:cNvPr id="42" name="Text 40"/>
          <p:cNvSpPr/>
          <p:nvPr/>
        </p:nvSpPr>
        <p:spPr>
          <a:xfrm>
            <a:off x="5230368" y="4133088"/>
            <a:ext cx="3657600" cy="320040"/>
          </a:xfrm>
          <a:prstGeom prst="rect">
            <a:avLst/>
          </a:prstGeom>
          <a:noFill/>
          <a:ln/>
        </p:spPr>
        <p:txBody>
          <a:bodyPr wrap="square" lIns="0" tIns="0" rIns="0" bIns="0" rtlCol="0" anchor="ctr"/>
          <a:lstStyle/>
          <a:p>
            <a:pPr indent="0" marL="0">
              <a:buNone/>
            </a:pPr>
            <a:r>
              <a:rPr lang="en-US" sz="1100" b="1" dirty="0">
                <a:solidFill>
                  <a:srgbClr val="0B1F3A"/>
                </a:solidFill>
              </a:rPr>
              <a:t>Phase 8: Testing &amp; Deploy</a:t>
            </a:r>
            <a:endParaRPr lang="en-US" sz="1100" dirty="0"/>
          </a:p>
        </p:txBody>
      </p:sp>
      <p:sp>
        <p:nvSpPr>
          <p:cNvPr id="43" name="Text 41"/>
          <p:cNvSpPr/>
          <p:nvPr/>
        </p:nvSpPr>
        <p:spPr>
          <a:xfrm>
            <a:off x="5230368" y="4480560"/>
            <a:ext cx="3657600" cy="347472"/>
          </a:xfrm>
          <a:prstGeom prst="rect">
            <a:avLst/>
          </a:prstGeom>
          <a:noFill/>
          <a:ln/>
        </p:spPr>
        <p:txBody>
          <a:bodyPr wrap="square" lIns="0" tIns="0" rIns="0" bIns="0" rtlCol="0" anchor="ctr"/>
          <a:lstStyle/>
          <a:p>
            <a:pPr indent="0" marL="0">
              <a:buNone/>
            </a:pPr>
            <a:r>
              <a:rPr lang="en-US" sz="950" dirty="0">
                <a:solidFill>
                  <a:srgbClr val="546E7A"/>
                </a:solidFill>
              </a:rPr>
              <a:t>Railway hosting, cross-browser QA [14]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Project Scope</a:t>
            </a:r>
            <a:endParaRPr lang="en-US" sz="2600" dirty="0"/>
          </a:p>
        </p:txBody>
      </p:sp>
      <p:sp>
        <p:nvSpPr>
          <p:cNvPr id="4" name="Shape 2"/>
          <p:cNvSpPr/>
          <p:nvPr/>
        </p:nvSpPr>
        <p:spPr>
          <a:xfrm>
            <a:off x="228600" y="1005840"/>
            <a:ext cx="4114800" cy="379476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28600" y="1005840"/>
            <a:ext cx="4114800" cy="402336"/>
          </a:xfrm>
          <a:prstGeom prst="rect">
            <a:avLst/>
          </a:prstGeom>
          <a:solidFill>
            <a:srgbClr val="2E7D32"/>
          </a:solidFill>
          <a:ln w="12700">
            <a:solidFill>
              <a:srgbClr val="2E7D32"/>
            </a:solidFill>
            <a:prstDash val="solid"/>
          </a:ln>
        </p:spPr>
      </p:sp>
      <p:sp>
        <p:nvSpPr>
          <p:cNvPr id="6" name="Text 4"/>
          <p:cNvSpPr/>
          <p:nvPr/>
        </p:nvSpPr>
        <p:spPr>
          <a:xfrm>
            <a:off x="320040" y="1024128"/>
            <a:ext cx="3931920" cy="365760"/>
          </a:xfrm>
          <a:prstGeom prst="rect">
            <a:avLst/>
          </a:prstGeom>
          <a:noFill/>
          <a:ln/>
        </p:spPr>
        <p:txBody>
          <a:bodyPr wrap="square" lIns="0" tIns="0" rIns="0" bIns="0" rtlCol="0" anchor="ctr"/>
          <a:lstStyle/>
          <a:p>
            <a:pPr indent="0" marL="0">
              <a:buNone/>
            </a:pPr>
            <a:r>
              <a:rPr lang="en-US" sz="1400" b="1" dirty="0">
                <a:solidFill>
                  <a:srgbClr val="FFFFFF"/>
                </a:solidFill>
              </a:rPr>
              <a:t>✓  In Scope</a:t>
            </a:r>
            <a:endParaRPr lang="en-US" sz="1400" dirty="0"/>
          </a:p>
        </p:txBody>
      </p:sp>
      <p:pic>
        <p:nvPicPr>
          <p:cNvPr id="7" name="Image 0" descr="preencoded.png">    </p:cNvPr>
          <p:cNvPicPr>
            <a:picLocks noChangeAspect="1"/>
          </p:cNvPicPr>
          <p:nvPr/>
        </p:nvPicPr>
        <p:blipFill>
          <a:blip r:embed="rId1"/>
          <a:stretch>
            <a:fillRect/>
          </a:stretch>
        </p:blipFill>
        <p:spPr>
          <a:xfrm>
            <a:off x="320040" y="1508760"/>
            <a:ext cx="182880" cy="182880"/>
          </a:xfrm>
          <a:prstGeom prst="rect">
            <a:avLst/>
          </a:prstGeom>
        </p:spPr>
      </p:pic>
      <p:sp>
        <p:nvSpPr>
          <p:cNvPr id="8" name="Text 5"/>
          <p:cNvSpPr/>
          <p:nvPr/>
        </p:nvSpPr>
        <p:spPr>
          <a:xfrm>
            <a:off x="566928" y="1490472"/>
            <a:ext cx="3657600" cy="274320"/>
          </a:xfrm>
          <a:prstGeom prst="rect">
            <a:avLst/>
          </a:prstGeom>
          <a:noFill/>
          <a:ln/>
        </p:spPr>
        <p:txBody>
          <a:bodyPr wrap="square" lIns="0" tIns="0" rIns="0" bIns="0" rtlCol="0" anchor="ctr"/>
          <a:lstStyle/>
          <a:p>
            <a:pPr indent="0" marL="0">
              <a:buNone/>
            </a:pPr>
            <a:r>
              <a:rPr lang="en-US" sz="950" dirty="0">
                <a:solidFill>
                  <a:srgbClr val="546E7A"/>
                </a:solidFill>
              </a:rPr>
              <a:t>Voice-to-code for C++ using Web Speech API [1]</a:t>
            </a:r>
            <a:endParaRPr lang="en-US" sz="950" dirty="0"/>
          </a:p>
        </p:txBody>
      </p:sp>
      <p:pic>
        <p:nvPicPr>
          <p:cNvPr id="9" name="Image 1" descr="preencoded.png">    </p:cNvPr>
          <p:cNvPicPr>
            <a:picLocks noChangeAspect="1"/>
          </p:cNvPicPr>
          <p:nvPr/>
        </p:nvPicPr>
        <p:blipFill>
          <a:blip r:embed="rId2"/>
          <a:stretch>
            <a:fillRect/>
          </a:stretch>
        </p:blipFill>
        <p:spPr>
          <a:xfrm>
            <a:off x="320040" y="1819656"/>
            <a:ext cx="182880" cy="182880"/>
          </a:xfrm>
          <a:prstGeom prst="rect">
            <a:avLst/>
          </a:prstGeom>
        </p:spPr>
      </p:pic>
      <p:sp>
        <p:nvSpPr>
          <p:cNvPr id="10" name="Text 6"/>
          <p:cNvSpPr/>
          <p:nvPr/>
        </p:nvSpPr>
        <p:spPr>
          <a:xfrm>
            <a:off x="566928" y="1801368"/>
            <a:ext cx="3657600" cy="274320"/>
          </a:xfrm>
          <a:prstGeom prst="rect">
            <a:avLst/>
          </a:prstGeom>
          <a:noFill/>
          <a:ln/>
        </p:spPr>
        <p:txBody>
          <a:bodyPr wrap="square" lIns="0" tIns="0" rIns="0" bIns="0" rtlCol="0" anchor="ctr"/>
          <a:lstStyle/>
          <a:p>
            <a:pPr indent="0" marL="0">
              <a:buNone/>
            </a:pPr>
            <a:r>
              <a:rPr lang="en-US" sz="950" dirty="0">
                <a:solidFill>
                  <a:srgbClr val="546E7A"/>
                </a:solidFill>
              </a:rPr>
              <a:t>Three-level command parser (L1 C++, L2 system, L3 GPT-4o) [5],[12]</a:t>
            </a:r>
            <a:endParaRPr lang="en-US" sz="950" dirty="0"/>
          </a:p>
        </p:txBody>
      </p:sp>
      <p:pic>
        <p:nvPicPr>
          <p:cNvPr id="11" name="Image 2" descr="preencoded.png">    </p:cNvPr>
          <p:cNvPicPr>
            <a:picLocks noChangeAspect="1"/>
          </p:cNvPicPr>
          <p:nvPr/>
        </p:nvPicPr>
        <p:blipFill>
          <a:blip r:embed="rId3"/>
          <a:stretch>
            <a:fillRect/>
          </a:stretch>
        </p:blipFill>
        <p:spPr>
          <a:xfrm>
            <a:off x="320040" y="2130552"/>
            <a:ext cx="182880" cy="182880"/>
          </a:xfrm>
          <a:prstGeom prst="rect">
            <a:avLst/>
          </a:prstGeom>
        </p:spPr>
      </p:pic>
      <p:sp>
        <p:nvSpPr>
          <p:cNvPr id="12" name="Text 7"/>
          <p:cNvSpPr/>
          <p:nvPr/>
        </p:nvSpPr>
        <p:spPr>
          <a:xfrm>
            <a:off x="566928" y="2112264"/>
            <a:ext cx="3657600" cy="274320"/>
          </a:xfrm>
          <a:prstGeom prst="rect">
            <a:avLst/>
          </a:prstGeom>
          <a:noFill/>
          <a:ln/>
        </p:spPr>
        <p:txBody>
          <a:bodyPr wrap="square" lIns="0" tIns="0" rIns="0" bIns="0" rtlCol="0" anchor="ctr"/>
          <a:lstStyle/>
          <a:p>
            <a:pPr indent="0" marL="0">
              <a:buNone/>
            </a:pPr>
            <a:r>
              <a:rPr lang="en-US" sz="950" dirty="0">
                <a:solidFill>
                  <a:srgbClr val="546E7A"/>
                </a:solidFill>
              </a:rPr>
              <a:t>Monaco Editor with syntax highlighting [3]</a:t>
            </a:r>
            <a:endParaRPr lang="en-US" sz="950" dirty="0"/>
          </a:p>
        </p:txBody>
      </p:sp>
      <p:pic>
        <p:nvPicPr>
          <p:cNvPr id="13" name="Image 3" descr="preencoded.png">    </p:cNvPr>
          <p:cNvPicPr>
            <a:picLocks noChangeAspect="1"/>
          </p:cNvPicPr>
          <p:nvPr/>
        </p:nvPicPr>
        <p:blipFill>
          <a:blip r:embed="rId4"/>
          <a:stretch>
            <a:fillRect/>
          </a:stretch>
        </p:blipFill>
        <p:spPr>
          <a:xfrm>
            <a:off x="320040" y="2441448"/>
            <a:ext cx="182880" cy="182880"/>
          </a:xfrm>
          <a:prstGeom prst="rect">
            <a:avLst/>
          </a:prstGeom>
        </p:spPr>
      </p:pic>
      <p:sp>
        <p:nvSpPr>
          <p:cNvPr id="14" name="Text 8"/>
          <p:cNvSpPr/>
          <p:nvPr/>
        </p:nvSpPr>
        <p:spPr>
          <a:xfrm>
            <a:off x="566928" y="2423160"/>
            <a:ext cx="3657600" cy="274320"/>
          </a:xfrm>
          <a:prstGeom prst="rect">
            <a:avLst/>
          </a:prstGeom>
          <a:noFill/>
          <a:ln/>
        </p:spPr>
        <p:txBody>
          <a:bodyPr wrap="square" lIns="0" tIns="0" rIns="0" bIns="0" rtlCol="0" anchor="ctr"/>
          <a:lstStyle/>
          <a:p>
            <a:pPr indent="0" marL="0">
              <a:buNone/>
            </a:pPr>
            <a:r>
              <a:rPr lang="en-US" sz="950" dirty="0">
                <a:solidFill>
                  <a:srgbClr val="546E7A"/>
                </a:solidFill>
              </a:rPr>
              <a:t>Cloud compilation: Judge0, Paiza.io, JDoodle [2],[8]</a:t>
            </a:r>
            <a:endParaRPr lang="en-US" sz="950" dirty="0"/>
          </a:p>
        </p:txBody>
      </p:sp>
      <p:pic>
        <p:nvPicPr>
          <p:cNvPr id="15" name="Image 4" descr="preencoded.png">    </p:cNvPr>
          <p:cNvPicPr>
            <a:picLocks noChangeAspect="1"/>
          </p:cNvPicPr>
          <p:nvPr/>
        </p:nvPicPr>
        <p:blipFill>
          <a:blip r:embed="rId5"/>
          <a:stretch>
            <a:fillRect/>
          </a:stretch>
        </p:blipFill>
        <p:spPr>
          <a:xfrm>
            <a:off x="320040" y="2752344"/>
            <a:ext cx="182880" cy="182880"/>
          </a:xfrm>
          <a:prstGeom prst="rect">
            <a:avLst/>
          </a:prstGeom>
        </p:spPr>
      </p:pic>
      <p:sp>
        <p:nvSpPr>
          <p:cNvPr id="16" name="Text 9"/>
          <p:cNvSpPr/>
          <p:nvPr/>
        </p:nvSpPr>
        <p:spPr>
          <a:xfrm>
            <a:off x="566928" y="2734056"/>
            <a:ext cx="3657600" cy="274320"/>
          </a:xfrm>
          <a:prstGeom prst="rect">
            <a:avLst/>
          </a:prstGeom>
          <a:noFill/>
          <a:ln/>
        </p:spPr>
        <p:txBody>
          <a:bodyPr wrap="square" lIns="0" tIns="0" rIns="0" bIns="0" rtlCol="0" anchor="ctr"/>
          <a:lstStyle/>
          <a:p>
            <a:pPr indent="0" marL="0">
              <a:buNone/>
            </a:pPr>
            <a:r>
              <a:rPr lang="en-US" sz="950" dirty="0">
                <a:solidFill>
                  <a:srgbClr val="546E7A"/>
                </a:solidFill>
              </a:rPr>
              <a:t>JWT authentication + bcrypt hashing [7]</a:t>
            </a:r>
            <a:endParaRPr lang="en-US" sz="950" dirty="0"/>
          </a:p>
        </p:txBody>
      </p:sp>
      <p:pic>
        <p:nvPicPr>
          <p:cNvPr id="17" name="Image 5" descr="preencoded.png">    </p:cNvPr>
          <p:cNvPicPr>
            <a:picLocks noChangeAspect="1"/>
          </p:cNvPicPr>
          <p:nvPr/>
        </p:nvPicPr>
        <p:blipFill>
          <a:blip r:embed="rId6"/>
          <a:stretch>
            <a:fillRect/>
          </a:stretch>
        </p:blipFill>
        <p:spPr>
          <a:xfrm>
            <a:off x="320040" y="3063240"/>
            <a:ext cx="182880" cy="182880"/>
          </a:xfrm>
          <a:prstGeom prst="rect">
            <a:avLst/>
          </a:prstGeom>
        </p:spPr>
      </p:pic>
      <p:sp>
        <p:nvSpPr>
          <p:cNvPr id="18" name="Text 10"/>
          <p:cNvSpPr/>
          <p:nvPr/>
        </p:nvSpPr>
        <p:spPr>
          <a:xfrm>
            <a:off x="566928" y="3044952"/>
            <a:ext cx="3657600" cy="274320"/>
          </a:xfrm>
          <a:prstGeom prst="rect">
            <a:avLst/>
          </a:prstGeom>
          <a:noFill/>
          <a:ln/>
        </p:spPr>
        <p:txBody>
          <a:bodyPr wrap="square" lIns="0" tIns="0" rIns="0" bIns="0" rtlCol="0" anchor="ctr"/>
          <a:lstStyle/>
          <a:p>
            <a:pPr indent="0" marL="0">
              <a:buNone/>
            </a:pPr>
            <a:r>
              <a:rPr lang="en-US" sz="950" dirty="0">
                <a:solidFill>
                  <a:srgbClr val="546E7A"/>
                </a:solidFill>
              </a:rPr>
              <a:t>Supabase PostgreSQL cloud file storage [13]</a:t>
            </a:r>
            <a:endParaRPr lang="en-US" sz="950" dirty="0"/>
          </a:p>
        </p:txBody>
      </p:sp>
      <p:pic>
        <p:nvPicPr>
          <p:cNvPr id="19" name="Image 6" descr="preencoded.png">    </p:cNvPr>
          <p:cNvPicPr>
            <a:picLocks noChangeAspect="1"/>
          </p:cNvPicPr>
          <p:nvPr/>
        </p:nvPicPr>
        <p:blipFill>
          <a:blip r:embed="rId7"/>
          <a:stretch>
            <a:fillRect/>
          </a:stretch>
        </p:blipFill>
        <p:spPr>
          <a:xfrm>
            <a:off x="320040" y="3374136"/>
            <a:ext cx="182880" cy="182880"/>
          </a:xfrm>
          <a:prstGeom prst="rect">
            <a:avLst/>
          </a:prstGeom>
        </p:spPr>
      </p:pic>
      <p:sp>
        <p:nvSpPr>
          <p:cNvPr id="20" name="Text 11"/>
          <p:cNvSpPr/>
          <p:nvPr/>
        </p:nvSpPr>
        <p:spPr>
          <a:xfrm>
            <a:off x="566928" y="3355848"/>
            <a:ext cx="3657600" cy="274320"/>
          </a:xfrm>
          <a:prstGeom prst="rect">
            <a:avLst/>
          </a:prstGeom>
          <a:noFill/>
          <a:ln/>
        </p:spPr>
        <p:txBody>
          <a:bodyPr wrap="square" lIns="0" tIns="0" rIns="0" bIns="0" rtlCol="0" anchor="ctr"/>
          <a:lstStyle/>
          <a:p>
            <a:pPr indent="0" marL="0">
              <a:buNone/>
            </a:pPr>
            <a:r>
              <a:rPr lang="en-US" sz="950" dirty="0">
                <a:solidFill>
                  <a:srgbClr val="546E7A"/>
                </a:solidFill>
              </a:rPr>
              <a:t>Unique public share links for code files</a:t>
            </a:r>
            <a:endParaRPr lang="en-US" sz="950" dirty="0"/>
          </a:p>
        </p:txBody>
      </p:sp>
      <p:pic>
        <p:nvPicPr>
          <p:cNvPr id="21" name="Image 7" descr="preencoded.png">    </p:cNvPr>
          <p:cNvPicPr>
            <a:picLocks noChangeAspect="1"/>
          </p:cNvPicPr>
          <p:nvPr/>
        </p:nvPicPr>
        <p:blipFill>
          <a:blip r:embed="rId8"/>
          <a:stretch>
            <a:fillRect/>
          </a:stretch>
        </p:blipFill>
        <p:spPr>
          <a:xfrm>
            <a:off x="320040" y="3685032"/>
            <a:ext cx="182880" cy="182880"/>
          </a:xfrm>
          <a:prstGeom prst="rect">
            <a:avLst/>
          </a:prstGeom>
        </p:spPr>
      </p:pic>
      <p:sp>
        <p:nvSpPr>
          <p:cNvPr id="22" name="Text 12"/>
          <p:cNvSpPr/>
          <p:nvPr/>
        </p:nvSpPr>
        <p:spPr>
          <a:xfrm>
            <a:off x="566928" y="3666744"/>
            <a:ext cx="3657600" cy="274320"/>
          </a:xfrm>
          <a:prstGeom prst="rect">
            <a:avLst/>
          </a:prstGeom>
          <a:noFill/>
          <a:ln/>
        </p:spPr>
        <p:txBody>
          <a:bodyPr wrap="square" lIns="0" tIns="0" rIns="0" bIns="0" rtlCol="0" anchor="ctr"/>
          <a:lstStyle/>
          <a:p>
            <a:pPr indent="0" marL="0">
              <a:buNone/>
            </a:pPr>
            <a:r>
              <a:rPr lang="en-US" sz="950" dirty="0">
                <a:solidFill>
                  <a:srgbClr val="546E7A"/>
                </a:solidFill>
              </a:rPr>
              <a:t>Urdu Text-to-Speech output [1]</a:t>
            </a:r>
            <a:endParaRPr lang="en-US" sz="950" dirty="0"/>
          </a:p>
        </p:txBody>
      </p:sp>
      <p:pic>
        <p:nvPicPr>
          <p:cNvPr id="23" name="Image 8" descr="preencoded.png">    </p:cNvPr>
          <p:cNvPicPr>
            <a:picLocks noChangeAspect="1"/>
          </p:cNvPicPr>
          <p:nvPr/>
        </p:nvPicPr>
        <p:blipFill>
          <a:blip r:embed="rId9"/>
          <a:stretch>
            <a:fillRect/>
          </a:stretch>
        </p:blipFill>
        <p:spPr>
          <a:xfrm>
            <a:off x="320040" y="3995928"/>
            <a:ext cx="182880" cy="182880"/>
          </a:xfrm>
          <a:prstGeom prst="rect">
            <a:avLst/>
          </a:prstGeom>
        </p:spPr>
      </p:pic>
      <p:sp>
        <p:nvSpPr>
          <p:cNvPr id="24" name="Text 13"/>
          <p:cNvSpPr/>
          <p:nvPr/>
        </p:nvSpPr>
        <p:spPr>
          <a:xfrm>
            <a:off x="566928" y="3977640"/>
            <a:ext cx="3657600" cy="274320"/>
          </a:xfrm>
          <a:prstGeom prst="rect">
            <a:avLst/>
          </a:prstGeom>
          <a:noFill/>
          <a:ln/>
        </p:spPr>
        <p:txBody>
          <a:bodyPr wrap="square" lIns="0" tIns="0" rIns="0" bIns="0" rtlCol="0" anchor="ctr"/>
          <a:lstStyle/>
          <a:p>
            <a:pPr indent="0" marL="0">
              <a:buNone/>
            </a:pPr>
            <a:r>
              <a:rPr lang="en-US" sz="950" dirty="0">
                <a:solidFill>
                  <a:srgbClr val="546E7A"/>
                </a:solidFill>
              </a:rPr>
              <a:t>Push-to-talk + custom voice commands</a:t>
            </a:r>
            <a:endParaRPr lang="en-US" sz="950" dirty="0"/>
          </a:p>
        </p:txBody>
      </p:sp>
      <p:pic>
        <p:nvPicPr>
          <p:cNvPr id="25" name="Image 9" descr="preencoded.png">    </p:cNvPr>
          <p:cNvPicPr>
            <a:picLocks noChangeAspect="1"/>
          </p:cNvPicPr>
          <p:nvPr/>
        </p:nvPicPr>
        <p:blipFill>
          <a:blip r:embed="rId10"/>
          <a:stretch>
            <a:fillRect/>
          </a:stretch>
        </p:blipFill>
        <p:spPr>
          <a:xfrm>
            <a:off x="320040" y="4306824"/>
            <a:ext cx="182880" cy="182880"/>
          </a:xfrm>
          <a:prstGeom prst="rect">
            <a:avLst/>
          </a:prstGeom>
        </p:spPr>
      </p:pic>
      <p:sp>
        <p:nvSpPr>
          <p:cNvPr id="26" name="Text 14"/>
          <p:cNvSpPr/>
          <p:nvPr/>
        </p:nvSpPr>
        <p:spPr>
          <a:xfrm>
            <a:off x="566928" y="4288536"/>
            <a:ext cx="3657600" cy="274320"/>
          </a:xfrm>
          <a:prstGeom prst="rect">
            <a:avLst/>
          </a:prstGeom>
          <a:noFill/>
          <a:ln/>
        </p:spPr>
        <p:txBody>
          <a:bodyPr wrap="square" lIns="0" tIns="0" rIns="0" bIns="0" rtlCol="0" anchor="ctr"/>
          <a:lstStyle/>
          <a:p>
            <a:pPr indent="0" marL="0">
              <a:buNone/>
            </a:pPr>
            <a:r>
              <a:rPr lang="en-US" sz="950" dirty="0">
                <a:solidFill>
                  <a:srgbClr val="546E7A"/>
                </a:solidFill>
              </a:rPr>
              <a:t>Railway cloud hosting [14]</a:t>
            </a:r>
            <a:endParaRPr lang="en-US" sz="950" dirty="0"/>
          </a:p>
        </p:txBody>
      </p:sp>
      <p:sp>
        <p:nvSpPr>
          <p:cNvPr id="27" name="Shape 15"/>
          <p:cNvSpPr/>
          <p:nvPr/>
        </p:nvSpPr>
        <p:spPr>
          <a:xfrm>
            <a:off x="4572000" y="1005840"/>
            <a:ext cx="4343400" cy="379476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8" name="Shape 16"/>
          <p:cNvSpPr/>
          <p:nvPr/>
        </p:nvSpPr>
        <p:spPr>
          <a:xfrm>
            <a:off x="4572000" y="1005840"/>
            <a:ext cx="4343400" cy="402336"/>
          </a:xfrm>
          <a:prstGeom prst="rect">
            <a:avLst/>
          </a:prstGeom>
          <a:solidFill>
            <a:srgbClr val="C62828"/>
          </a:solidFill>
          <a:ln w="12700">
            <a:solidFill>
              <a:srgbClr val="C62828"/>
            </a:solidFill>
            <a:prstDash val="solid"/>
          </a:ln>
        </p:spPr>
      </p:sp>
      <p:sp>
        <p:nvSpPr>
          <p:cNvPr id="29" name="Text 17"/>
          <p:cNvSpPr/>
          <p:nvPr/>
        </p:nvSpPr>
        <p:spPr>
          <a:xfrm>
            <a:off x="4663440" y="1024128"/>
            <a:ext cx="4160520" cy="365760"/>
          </a:xfrm>
          <a:prstGeom prst="rect">
            <a:avLst/>
          </a:prstGeom>
          <a:noFill/>
          <a:ln/>
        </p:spPr>
        <p:txBody>
          <a:bodyPr wrap="square" lIns="0" tIns="0" rIns="0" bIns="0" rtlCol="0" anchor="ctr"/>
          <a:lstStyle/>
          <a:p>
            <a:pPr indent="0" marL="0">
              <a:buNone/>
            </a:pPr>
            <a:r>
              <a:rPr lang="en-US" sz="1400" b="1" dirty="0">
                <a:solidFill>
                  <a:srgbClr val="FFFFFF"/>
                </a:solidFill>
              </a:rPr>
              <a:t>✗  Out of Scope</a:t>
            </a:r>
            <a:endParaRPr lang="en-US" sz="1400" dirty="0"/>
          </a:p>
        </p:txBody>
      </p:sp>
      <p:sp>
        <p:nvSpPr>
          <p:cNvPr id="30" name="Shape 18"/>
          <p:cNvSpPr/>
          <p:nvPr/>
        </p:nvSpPr>
        <p:spPr>
          <a:xfrm>
            <a:off x="4663440" y="1572768"/>
            <a:ext cx="146304" cy="146304"/>
          </a:xfrm>
          <a:prstGeom prst="rect">
            <a:avLst/>
          </a:prstGeom>
          <a:solidFill>
            <a:srgbClr val="C62828"/>
          </a:solidFill>
          <a:ln w="12700">
            <a:solidFill>
              <a:srgbClr val="C62828"/>
            </a:solidFill>
            <a:prstDash val="solid"/>
          </a:ln>
        </p:spPr>
      </p:sp>
      <p:sp>
        <p:nvSpPr>
          <p:cNvPr id="31" name="Text 19"/>
          <p:cNvSpPr/>
          <p:nvPr/>
        </p:nvSpPr>
        <p:spPr>
          <a:xfrm>
            <a:off x="4892040" y="1536192"/>
            <a:ext cx="3886200" cy="329184"/>
          </a:xfrm>
          <a:prstGeom prst="rect">
            <a:avLst/>
          </a:prstGeom>
          <a:noFill/>
          <a:ln/>
        </p:spPr>
        <p:txBody>
          <a:bodyPr wrap="square" lIns="0" tIns="0" rIns="0" bIns="0" rtlCol="0" anchor="ctr"/>
          <a:lstStyle/>
          <a:p>
            <a:pPr indent="0" marL="0">
              <a:buNone/>
            </a:pPr>
            <a:r>
              <a:rPr lang="en-US" sz="1050" dirty="0">
                <a:solidFill>
                  <a:srgbClr val="546E7A"/>
                </a:solidFill>
              </a:rPr>
              <a:t>Other programming languages (C++ only)</a:t>
            </a:r>
            <a:endParaRPr lang="en-US" sz="1050" dirty="0"/>
          </a:p>
        </p:txBody>
      </p:sp>
      <p:sp>
        <p:nvSpPr>
          <p:cNvPr id="32" name="Shape 20"/>
          <p:cNvSpPr/>
          <p:nvPr/>
        </p:nvSpPr>
        <p:spPr>
          <a:xfrm>
            <a:off x="4663440" y="1965960"/>
            <a:ext cx="146304" cy="146304"/>
          </a:xfrm>
          <a:prstGeom prst="rect">
            <a:avLst/>
          </a:prstGeom>
          <a:solidFill>
            <a:srgbClr val="C62828"/>
          </a:solidFill>
          <a:ln w="12700">
            <a:solidFill>
              <a:srgbClr val="C62828"/>
            </a:solidFill>
            <a:prstDash val="solid"/>
          </a:ln>
        </p:spPr>
      </p:sp>
      <p:sp>
        <p:nvSpPr>
          <p:cNvPr id="33" name="Text 21"/>
          <p:cNvSpPr/>
          <p:nvPr/>
        </p:nvSpPr>
        <p:spPr>
          <a:xfrm>
            <a:off x="4892040" y="1929384"/>
            <a:ext cx="3886200" cy="329184"/>
          </a:xfrm>
          <a:prstGeom prst="rect">
            <a:avLst/>
          </a:prstGeom>
          <a:noFill/>
          <a:ln/>
        </p:spPr>
        <p:txBody>
          <a:bodyPr wrap="square" lIns="0" tIns="0" rIns="0" bIns="0" rtlCol="0" anchor="ctr"/>
          <a:lstStyle/>
          <a:p>
            <a:pPr indent="0" marL="0">
              <a:buNone/>
            </a:pPr>
            <a:r>
              <a:rPr lang="en-US" sz="1050" dirty="0">
                <a:solidFill>
                  <a:srgbClr val="546E7A"/>
                </a:solidFill>
              </a:rPr>
              <a:t>Offline voice recognition</a:t>
            </a:r>
            <a:endParaRPr lang="en-US" sz="1050" dirty="0"/>
          </a:p>
        </p:txBody>
      </p:sp>
      <p:sp>
        <p:nvSpPr>
          <p:cNvPr id="34" name="Shape 22"/>
          <p:cNvSpPr/>
          <p:nvPr/>
        </p:nvSpPr>
        <p:spPr>
          <a:xfrm>
            <a:off x="4663440" y="2359152"/>
            <a:ext cx="146304" cy="146304"/>
          </a:xfrm>
          <a:prstGeom prst="rect">
            <a:avLst/>
          </a:prstGeom>
          <a:solidFill>
            <a:srgbClr val="C62828"/>
          </a:solidFill>
          <a:ln w="12700">
            <a:solidFill>
              <a:srgbClr val="C62828"/>
            </a:solidFill>
            <a:prstDash val="solid"/>
          </a:ln>
        </p:spPr>
      </p:sp>
      <p:sp>
        <p:nvSpPr>
          <p:cNvPr id="35" name="Text 23"/>
          <p:cNvSpPr/>
          <p:nvPr/>
        </p:nvSpPr>
        <p:spPr>
          <a:xfrm>
            <a:off x="4892040" y="2322576"/>
            <a:ext cx="3886200" cy="329184"/>
          </a:xfrm>
          <a:prstGeom prst="rect">
            <a:avLst/>
          </a:prstGeom>
          <a:noFill/>
          <a:ln/>
        </p:spPr>
        <p:txBody>
          <a:bodyPr wrap="square" lIns="0" tIns="0" rIns="0" bIns="0" rtlCol="0" anchor="ctr"/>
          <a:lstStyle/>
          <a:p>
            <a:pPr indent="0" marL="0">
              <a:buNone/>
            </a:pPr>
            <a:r>
              <a:rPr lang="en-US" sz="1050" dirty="0">
                <a:solidFill>
                  <a:srgbClr val="546E7A"/>
                </a:solidFill>
              </a:rPr>
              <a:t>Advanced IDE (debugger, version control)</a:t>
            </a:r>
            <a:endParaRPr lang="en-US" sz="1050" dirty="0"/>
          </a:p>
        </p:txBody>
      </p:sp>
      <p:sp>
        <p:nvSpPr>
          <p:cNvPr id="36" name="Shape 24"/>
          <p:cNvSpPr/>
          <p:nvPr/>
        </p:nvSpPr>
        <p:spPr>
          <a:xfrm>
            <a:off x="4663440" y="2752344"/>
            <a:ext cx="146304" cy="146304"/>
          </a:xfrm>
          <a:prstGeom prst="rect">
            <a:avLst/>
          </a:prstGeom>
          <a:solidFill>
            <a:srgbClr val="C62828"/>
          </a:solidFill>
          <a:ln w="12700">
            <a:solidFill>
              <a:srgbClr val="C62828"/>
            </a:solidFill>
            <a:prstDash val="solid"/>
          </a:ln>
        </p:spPr>
      </p:sp>
      <p:sp>
        <p:nvSpPr>
          <p:cNvPr id="37" name="Text 25"/>
          <p:cNvSpPr/>
          <p:nvPr/>
        </p:nvSpPr>
        <p:spPr>
          <a:xfrm>
            <a:off x="4892040" y="2715768"/>
            <a:ext cx="3886200" cy="329184"/>
          </a:xfrm>
          <a:prstGeom prst="rect">
            <a:avLst/>
          </a:prstGeom>
          <a:noFill/>
          <a:ln/>
        </p:spPr>
        <p:txBody>
          <a:bodyPr wrap="square" lIns="0" tIns="0" rIns="0" bIns="0" rtlCol="0" anchor="ctr"/>
          <a:lstStyle/>
          <a:p>
            <a:pPr indent="0" marL="0">
              <a:buNone/>
            </a:pPr>
            <a:r>
              <a:rPr lang="en-US" sz="1050" dirty="0">
                <a:solidFill>
                  <a:srgbClr val="546E7A"/>
                </a:solidFill>
              </a:rPr>
              <a:t>Complex C++ metaprogramming</a:t>
            </a:r>
            <a:endParaRPr lang="en-US" sz="1050" dirty="0"/>
          </a:p>
        </p:txBody>
      </p:sp>
      <p:sp>
        <p:nvSpPr>
          <p:cNvPr id="38" name="Shape 26"/>
          <p:cNvSpPr/>
          <p:nvPr/>
        </p:nvSpPr>
        <p:spPr>
          <a:xfrm>
            <a:off x="4663440" y="3145536"/>
            <a:ext cx="146304" cy="146304"/>
          </a:xfrm>
          <a:prstGeom prst="rect">
            <a:avLst/>
          </a:prstGeom>
          <a:solidFill>
            <a:srgbClr val="C62828"/>
          </a:solidFill>
          <a:ln w="12700">
            <a:solidFill>
              <a:srgbClr val="C62828"/>
            </a:solidFill>
            <a:prstDash val="solid"/>
          </a:ln>
        </p:spPr>
      </p:sp>
      <p:sp>
        <p:nvSpPr>
          <p:cNvPr id="39" name="Text 27"/>
          <p:cNvSpPr/>
          <p:nvPr/>
        </p:nvSpPr>
        <p:spPr>
          <a:xfrm>
            <a:off x="4892040" y="3108960"/>
            <a:ext cx="3886200" cy="329184"/>
          </a:xfrm>
          <a:prstGeom prst="rect">
            <a:avLst/>
          </a:prstGeom>
          <a:noFill/>
          <a:ln/>
        </p:spPr>
        <p:txBody>
          <a:bodyPr wrap="square" lIns="0" tIns="0" rIns="0" bIns="0" rtlCol="0" anchor="ctr"/>
          <a:lstStyle/>
          <a:p>
            <a:pPr indent="0" marL="0">
              <a:buNone/>
            </a:pPr>
            <a:r>
              <a:rPr lang="en-US" sz="1050" dirty="0">
                <a:solidFill>
                  <a:srgbClr val="546E7A"/>
                </a:solidFill>
              </a:rPr>
              <a:t>iOS mobile application</a:t>
            </a:r>
            <a:endParaRPr lang="en-US" sz="1050" dirty="0"/>
          </a:p>
        </p:txBody>
      </p:sp>
      <p:sp>
        <p:nvSpPr>
          <p:cNvPr id="40" name="Shape 28"/>
          <p:cNvSpPr/>
          <p:nvPr/>
        </p:nvSpPr>
        <p:spPr>
          <a:xfrm>
            <a:off x="4663440" y="3538728"/>
            <a:ext cx="146304" cy="146304"/>
          </a:xfrm>
          <a:prstGeom prst="rect">
            <a:avLst/>
          </a:prstGeom>
          <a:solidFill>
            <a:srgbClr val="C62828"/>
          </a:solidFill>
          <a:ln w="12700">
            <a:solidFill>
              <a:srgbClr val="C62828"/>
            </a:solidFill>
            <a:prstDash val="solid"/>
          </a:ln>
        </p:spPr>
      </p:sp>
      <p:sp>
        <p:nvSpPr>
          <p:cNvPr id="41" name="Text 29"/>
          <p:cNvSpPr/>
          <p:nvPr/>
        </p:nvSpPr>
        <p:spPr>
          <a:xfrm>
            <a:off x="4892040" y="3502152"/>
            <a:ext cx="3886200" cy="329184"/>
          </a:xfrm>
          <a:prstGeom prst="rect">
            <a:avLst/>
          </a:prstGeom>
          <a:noFill/>
          <a:ln/>
        </p:spPr>
        <p:txBody>
          <a:bodyPr wrap="square" lIns="0" tIns="0" rIns="0" bIns="0" rtlCol="0" anchor="ctr"/>
          <a:lstStyle/>
          <a:p>
            <a:pPr indent="0" marL="0">
              <a:buNone/>
            </a:pPr>
            <a:r>
              <a:rPr lang="en-US" sz="1050" dirty="0">
                <a:solidFill>
                  <a:srgbClr val="546E7A"/>
                </a:solidFill>
              </a:rPr>
              <a:t>Real-time collaborative coding</a:t>
            </a:r>
            <a:endParaRPr lang="en-US" sz="1050" dirty="0"/>
          </a:p>
        </p:txBody>
      </p:sp>
      <p:sp>
        <p:nvSpPr>
          <p:cNvPr id="42" name="Shape 30"/>
          <p:cNvSpPr/>
          <p:nvPr/>
        </p:nvSpPr>
        <p:spPr>
          <a:xfrm>
            <a:off x="4663440" y="3931920"/>
            <a:ext cx="146304" cy="146304"/>
          </a:xfrm>
          <a:prstGeom prst="rect">
            <a:avLst/>
          </a:prstGeom>
          <a:solidFill>
            <a:srgbClr val="C62828"/>
          </a:solidFill>
          <a:ln w="12700">
            <a:solidFill>
              <a:srgbClr val="C62828"/>
            </a:solidFill>
            <a:prstDash val="solid"/>
          </a:ln>
        </p:spPr>
      </p:sp>
      <p:sp>
        <p:nvSpPr>
          <p:cNvPr id="43" name="Text 31"/>
          <p:cNvSpPr/>
          <p:nvPr/>
        </p:nvSpPr>
        <p:spPr>
          <a:xfrm>
            <a:off x="4892040" y="3895344"/>
            <a:ext cx="3886200" cy="329184"/>
          </a:xfrm>
          <a:prstGeom prst="rect">
            <a:avLst/>
          </a:prstGeom>
          <a:noFill/>
          <a:ln/>
        </p:spPr>
        <p:txBody>
          <a:bodyPr wrap="square" lIns="0" tIns="0" rIns="0" bIns="0" rtlCol="0" anchor="ctr"/>
          <a:lstStyle/>
          <a:p>
            <a:pPr indent="0" marL="0">
              <a:buNone/>
            </a:pPr>
            <a:r>
              <a:rPr lang="en-US" sz="1050" dirty="0">
                <a:solidFill>
                  <a:srgbClr val="546E7A"/>
                </a:solidFill>
              </a:rPr>
              <a:t>Desktop application (Windows/Mac)</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SRS: Functional Requirements</a:t>
            </a:r>
            <a:endParaRPr lang="en-US" sz="2600" dirty="0"/>
          </a:p>
        </p:txBody>
      </p:sp>
      <p:sp>
        <p:nvSpPr>
          <p:cNvPr id="4" name="Shape 2"/>
          <p:cNvSpPr/>
          <p:nvPr/>
        </p:nvSpPr>
        <p:spPr>
          <a:xfrm>
            <a:off x="201168" y="1024128"/>
            <a:ext cx="4279392"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92608" y="1207008"/>
            <a:ext cx="502920" cy="502920"/>
          </a:xfrm>
          <a:prstGeom prst="ellipse">
            <a:avLst/>
          </a:prstGeom>
          <a:solidFill>
            <a:srgbClr val="1565C0"/>
          </a:solidFill>
          <a:ln w="12700">
            <a:solidFill>
              <a:srgbClr val="1565C0"/>
            </a:solidFill>
            <a:prstDash val="solid"/>
          </a:ln>
        </p:spPr>
      </p:sp>
      <p:pic>
        <p:nvPicPr>
          <p:cNvPr id="6" name="Image 0" descr="preencoded.png">    </p:cNvPr>
          <p:cNvPicPr>
            <a:picLocks noChangeAspect="1"/>
          </p:cNvPicPr>
          <p:nvPr/>
        </p:nvPicPr>
        <p:blipFill>
          <a:blip r:embed="rId1"/>
          <a:stretch>
            <a:fillRect/>
          </a:stretch>
        </p:blipFill>
        <p:spPr>
          <a:xfrm>
            <a:off x="365760" y="1271016"/>
            <a:ext cx="347472" cy="347472"/>
          </a:xfrm>
          <a:prstGeom prst="rect">
            <a:avLst/>
          </a:prstGeom>
        </p:spPr>
      </p:pic>
      <p:sp>
        <p:nvSpPr>
          <p:cNvPr id="7" name="Text 4"/>
          <p:cNvSpPr/>
          <p:nvPr/>
        </p:nvSpPr>
        <p:spPr>
          <a:xfrm>
            <a:off x="896112" y="1115568"/>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Voice Command Recognition</a:t>
            </a:r>
            <a:endParaRPr lang="en-US" sz="1100" dirty="0"/>
          </a:p>
        </p:txBody>
      </p:sp>
      <p:sp>
        <p:nvSpPr>
          <p:cNvPr id="8" name="Text 5"/>
          <p:cNvSpPr/>
          <p:nvPr/>
        </p:nvSpPr>
        <p:spPr>
          <a:xfrm>
            <a:off x="896112" y="1444752"/>
            <a:ext cx="3474720" cy="384048"/>
          </a:xfrm>
          <a:prstGeom prst="rect">
            <a:avLst/>
          </a:prstGeom>
          <a:noFill/>
          <a:ln/>
        </p:spPr>
        <p:txBody>
          <a:bodyPr wrap="square" lIns="0" tIns="0" rIns="0" bIns="0" rtlCol="0" anchor="ctr"/>
          <a:lstStyle/>
          <a:p>
            <a:pPr indent="0" marL="0">
              <a:buNone/>
            </a:pPr>
            <a:r>
              <a:rPr lang="en-US" sz="950" dirty="0">
                <a:solidFill>
                  <a:srgbClr val="546E7A"/>
                </a:solidFill>
              </a:rPr>
              <a:t>Continuous voice input via Web Speech API with noise gate filtering [1]</a:t>
            </a:r>
            <a:endParaRPr lang="en-US" sz="950" dirty="0"/>
          </a:p>
        </p:txBody>
      </p:sp>
      <p:sp>
        <p:nvSpPr>
          <p:cNvPr id="9" name="Shape 6"/>
          <p:cNvSpPr/>
          <p:nvPr/>
        </p:nvSpPr>
        <p:spPr>
          <a:xfrm>
            <a:off x="201168" y="2029968"/>
            <a:ext cx="4279392"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0" name="Shape 7"/>
          <p:cNvSpPr/>
          <p:nvPr/>
        </p:nvSpPr>
        <p:spPr>
          <a:xfrm>
            <a:off x="292608" y="2212848"/>
            <a:ext cx="502920" cy="502920"/>
          </a:xfrm>
          <a:prstGeom prst="ellipse">
            <a:avLst/>
          </a:prstGeom>
          <a:solidFill>
            <a:srgbClr val="00ACC1"/>
          </a:solidFill>
          <a:ln w="12700">
            <a:solidFill>
              <a:srgbClr val="00ACC1"/>
            </a:solidFill>
            <a:prstDash val="solid"/>
          </a:ln>
        </p:spPr>
      </p:sp>
      <p:pic>
        <p:nvPicPr>
          <p:cNvPr id="11" name="Image 1" descr="preencoded.png">    </p:cNvPr>
          <p:cNvPicPr>
            <a:picLocks noChangeAspect="1"/>
          </p:cNvPicPr>
          <p:nvPr/>
        </p:nvPicPr>
        <p:blipFill>
          <a:blip r:embed="rId2"/>
          <a:stretch>
            <a:fillRect/>
          </a:stretch>
        </p:blipFill>
        <p:spPr>
          <a:xfrm>
            <a:off x="365760" y="2276856"/>
            <a:ext cx="347472" cy="347472"/>
          </a:xfrm>
          <a:prstGeom prst="rect">
            <a:avLst/>
          </a:prstGeom>
        </p:spPr>
      </p:pic>
      <p:sp>
        <p:nvSpPr>
          <p:cNvPr id="12" name="Text 8"/>
          <p:cNvSpPr/>
          <p:nvPr/>
        </p:nvSpPr>
        <p:spPr>
          <a:xfrm>
            <a:off x="896112" y="2121408"/>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3-Level Command Parsing</a:t>
            </a:r>
            <a:endParaRPr lang="en-US" sz="1100" dirty="0"/>
          </a:p>
        </p:txBody>
      </p:sp>
      <p:sp>
        <p:nvSpPr>
          <p:cNvPr id="13" name="Text 9"/>
          <p:cNvSpPr/>
          <p:nvPr/>
        </p:nvSpPr>
        <p:spPr>
          <a:xfrm>
            <a:off x="896112" y="2450592"/>
            <a:ext cx="3474720" cy="384048"/>
          </a:xfrm>
          <a:prstGeom prst="rect">
            <a:avLst/>
          </a:prstGeom>
          <a:noFill/>
          <a:ln/>
        </p:spPr>
        <p:txBody>
          <a:bodyPr wrap="square" lIns="0" tIns="0" rIns="0" bIns="0" rtlCol="0" anchor="ctr"/>
          <a:lstStyle/>
          <a:p>
            <a:pPr indent="0" marL="0">
              <a:buNone/>
            </a:pPr>
            <a:r>
              <a:rPr lang="en-US" sz="950" dirty="0">
                <a:solidFill>
                  <a:srgbClr val="546E7A"/>
                </a:solidFill>
              </a:rPr>
              <a:t>L1: C++ templates, L2: system commands, L3: GPT-4o natural language [5],[12]</a:t>
            </a:r>
            <a:endParaRPr lang="en-US" sz="950" dirty="0"/>
          </a:p>
        </p:txBody>
      </p:sp>
      <p:sp>
        <p:nvSpPr>
          <p:cNvPr id="14" name="Shape 10"/>
          <p:cNvSpPr/>
          <p:nvPr/>
        </p:nvSpPr>
        <p:spPr>
          <a:xfrm>
            <a:off x="201168" y="3035808"/>
            <a:ext cx="4279392"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5" name="Shape 11"/>
          <p:cNvSpPr/>
          <p:nvPr/>
        </p:nvSpPr>
        <p:spPr>
          <a:xfrm>
            <a:off x="292608" y="3218688"/>
            <a:ext cx="502920" cy="502920"/>
          </a:xfrm>
          <a:prstGeom prst="ellipse">
            <a:avLst/>
          </a:prstGeom>
          <a:solidFill>
            <a:srgbClr val="F57C00"/>
          </a:solidFill>
          <a:ln w="12700">
            <a:solidFill>
              <a:srgbClr val="F57C00"/>
            </a:solidFill>
            <a:prstDash val="solid"/>
          </a:ln>
        </p:spPr>
      </p:sp>
      <p:pic>
        <p:nvPicPr>
          <p:cNvPr id="16" name="Image 2" descr="preencoded.png">    </p:cNvPr>
          <p:cNvPicPr>
            <a:picLocks noChangeAspect="1"/>
          </p:cNvPicPr>
          <p:nvPr/>
        </p:nvPicPr>
        <p:blipFill>
          <a:blip r:embed="rId3"/>
          <a:stretch>
            <a:fillRect/>
          </a:stretch>
        </p:blipFill>
        <p:spPr>
          <a:xfrm>
            <a:off x="365760" y="3282696"/>
            <a:ext cx="347472" cy="347472"/>
          </a:xfrm>
          <a:prstGeom prst="rect">
            <a:avLst/>
          </a:prstGeom>
        </p:spPr>
      </p:pic>
      <p:sp>
        <p:nvSpPr>
          <p:cNvPr id="17" name="Text 12"/>
          <p:cNvSpPr/>
          <p:nvPr/>
        </p:nvSpPr>
        <p:spPr>
          <a:xfrm>
            <a:off x="896112" y="3127248"/>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Code Display &amp; Editing</a:t>
            </a:r>
            <a:endParaRPr lang="en-US" sz="1100" dirty="0"/>
          </a:p>
        </p:txBody>
      </p:sp>
      <p:sp>
        <p:nvSpPr>
          <p:cNvPr id="18" name="Text 13"/>
          <p:cNvSpPr/>
          <p:nvPr/>
        </p:nvSpPr>
        <p:spPr>
          <a:xfrm>
            <a:off x="896112" y="3456432"/>
            <a:ext cx="3474720" cy="384048"/>
          </a:xfrm>
          <a:prstGeom prst="rect">
            <a:avLst/>
          </a:prstGeom>
          <a:noFill/>
          <a:ln/>
        </p:spPr>
        <p:txBody>
          <a:bodyPr wrap="square" lIns="0" tIns="0" rIns="0" bIns="0" rtlCol="0" anchor="ctr"/>
          <a:lstStyle/>
          <a:p>
            <a:pPr indent="0" marL="0">
              <a:buNone/>
            </a:pPr>
            <a:r>
              <a:rPr lang="en-US" sz="950" dirty="0">
                <a:solidFill>
                  <a:srgbClr val="546E7A"/>
                </a:solidFill>
              </a:rPr>
              <a:t>Monaco Editor with syntax highlighting, multi-tab, undo/redo [3]</a:t>
            </a:r>
            <a:endParaRPr lang="en-US" sz="950" dirty="0"/>
          </a:p>
        </p:txBody>
      </p:sp>
      <p:sp>
        <p:nvSpPr>
          <p:cNvPr id="19" name="Shape 14"/>
          <p:cNvSpPr/>
          <p:nvPr/>
        </p:nvSpPr>
        <p:spPr>
          <a:xfrm>
            <a:off x="201168" y="4041648"/>
            <a:ext cx="4279392"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0" name="Shape 15"/>
          <p:cNvSpPr/>
          <p:nvPr/>
        </p:nvSpPr>
        <p:spPr>
          <a:xfrm>
            <a:off x="292608" y="4224528"/>
            <a:ext cx="502920" cy="502920"/>
          </a:xfrm>
          <a:prstGeom prst="ellipse">
            <a:avLst/>
          </a:prstGeom>
          <a:solidFill>
            <a:srgbClr val="1565C0"/>
          </a:solidFill>
          <a:ln w="12700">
            <a:solidFill>
              <a:srgbClr val="1565C0"/>
            </a:solidFill>
            <a:prstDash val="solid"/>
          </a:ln>
        </p:spPr>
      </p:sp>
      <p:pic>
        <p:nvPicPr>
          <p:cNvPr id="21" name="Image 3" descr="preencoded.png">    </p:cNvPr>
          <p:cNvPicPr>
            <a:picLocks noChangeAspect="1"/>
          </p:cNvPicPr>
          <p:nvPr/>
        </p:nvPicPr>
        <p:blipFill>
          <a:blip r:embed="rId4"/>
          <a:stretch>
            <a:fillRect/>
          </a:stretch>
        </p:blipFill>
        <p:spPr>
          <a:xfrm>
            <a:off x="365760" y="4288536"/>
            <a:ext cx="347472" cy="347472"/>
          </a:xfrm>
          <a:prstGeom prst="rect">
            <a:avLst/>
          </a:prstGeom>
        </p:spPr>
      </p:pic>
      <p:sp>
        <p:nvSpPr>
          <p:cNvPr id="22" name="Text 16"/>
          <p:cNvSpPr/>
          <p:nvPr/>
        </p:nvSpPr>
        <p:spPr>
          <a:xfrm>
            <a:off x="896112" y="4133088"/>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Cloud Compilation &amp; Execution</a:t>
            </a:r>
            <a:endParaRPr lang="en-US" sz="1100" dirty="0"/>
          </a:p>
        </p:txBody>
      </p:sp>
      <p:sp>
        <p:nvSpPr>
          <p:cNvPr id="23" name="Text 17"/>
          <p:cNvSpPr/>
          <p:nvPr/>
        </p:nvSpPr>
        <p:spPr>
          <a:xfrm>
            <a:off x="896112" y="4462272"/>
            <a:ext cx="3474720" cy="384048"/>
          </a:xfrm>
          <a:prstGeom prst="rect">
            <a:avLst/>
          </a:prstGeom>
          <a:noFill/>
          <a:ln/>
        </p:spPr>
        <p:txBody>
          <a:bodyPr wrap="square" lIns="0" tIns="0" rIns="0" bIns="0" rtlCol="0" anchor="ctr"/>
          <a:lstStyle/>
          <a:p>
            <a:pPr indent="0" marL="0">
              <a:buNone/>
            </a:pPr>
            <a:r>
              <a:rPr lang="en-US" sz="950" dirty="0">
                <a:solidFill>
                  <a:srgbClr val="546E7A"/>
                </a:solidFill>
              </a:rPr>
              <a:t>Backend proxies to Judge0, Paiza.io, JDoodle; returns output [2],[8]</a:t>
            </a:r>
            <a:endParaRPr lang="en-US" sz="950" dirty="0"/>
          </a:p>
        </p:txBody>
      </p:sp>
      <p:sp>
        <p:nvSpPr>
          <p:cNvPr id="24" name="Shape 18"/>
          <p:cNvSpPr/>
          <p:nvPr/>
        </p:nvSpPr>
        <p:spPr>
          <a:xfrm>
            <a:off x="4773168" y="1024128"/>
            <a:ext cx="4279392"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5" name="Shape 19"/>
          <p:cNvSpPr/>
          <p:nvPr/>
        </p:nvSpPr>
        <p:spPr>
          <a:xfrm>
            <a:off x="4864608" y="1207008"/>
            <a:ext cx="502920" cy="502920"/>
          </a:xfrm>
          <a:prstGeom prst="ellipse">
            <a:avLst/>
          </a:prstGeom>
          <a:solidFill>
            <a:srgbClr val="00ACC1"/>
          </a:solidFill>
          <a:ln w="12700">
            <a:solidFill>
              <a:srgbClr val="00ACC1"/>
            </a:solidFill>
            <a:prstDash val="solid"/>
          </a:ln>
        </p:spPr>
      </p:sp>
      <p:pic>
        <p:nvPicPr>
          <p:cNvPr id="26" name="Image 4" descr="preencoded.png">    </p:cNvPr>
          <p:cNvPicPr>
            <a:picLocks noChangeAspect="1"/>
          </p:cNvPicPr>
          <p:nvPr/>
        </p:nvPicPr>
        <p:blipFill>
          <a:blip r:embed="rId5"/>
          <a:stretch>
            <a:fillRect/>
          </a:stretch>
        </p:blipFill>
        <p:spPr>
          <a:xfrm>
            <a:off x="4937760" y="1271016"/>
            <a:ext cx="347472" cy="347472"/>
          </a:xfrm>
          <a:prstGeom prst="rect">
            <a:avLst/>
          </a:prstGeom>
        </p:spPr>
      </p:pic>
      <p:sp>
        <p:nvSpPr>
          <p:cNvPr id="27" name="Text 20"/>
          <p:cNvSpPr/>
          <p:nvPr/>
        </p:nvSpPr>
        <p:spPr>
          <a:xfrm>
            <a:off x="5468112" y="1115568"/>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AI Features (GPT-4o)</a:t>
            </a:r>
            <a:endParaRPr lang="en-US" sz="1100" dirty="0"/>
          </a:p>
        </p:txBody>
      </p:sp>
      <p:sp>
        <p:nvSpPr>
          <p:cNvPr id="28" name="Text 21"/>
          <p:cNvSpPr/>
          <p:nvPr/>
        </p:nvSpPr>
        <p:spPr>
          <a:xfrm>
            <a:off x="5468112" y="1444752"/>
            <a:ext cx="3474720" cy="384048"/>
          </a:xfrm>
          <a:prstGeom prst="rect">
            <a:avLst/>
          </a:prstGeom>
          <a:noFill/>
          <a:ln/>
        </p:spPr>
        <p:txBody>
          <a:bodyPr wrap="square" lIns="0" tIns="0" rIns="0" bIns="0" rtlCol="0" anchor="ctr"/>
          <a:lstStyle/>
          <a:p>
            <a:pPr indent="0" marL="0">
              <a:buNone/>
            </a:pPr>
            <a:r>
              <a:rPr lang="en-US" sz="950" dirty="0">
                <a:solidFill>
                  <a:srgbClr val="546E7A"/>
                </a:solidFill>
              </a:rPr>
              <a:t>Code generation, error fixing, explanation, review [12]</a:t>
            </a:r>
            <a:endParaRPr lang="en-US" sz="950" dirty="0"/>
          </a:p>
        </p:txBody>
      </p:sp>
      <p:sp>
        <p:nvSpPr>
          <p:cNvPr id="29" name="Shape 22"/>
          <p:cNvSpPr/>
          <p:nvPr/>
        </p:nvSpPr>
        <p:spPr>
          <a:xfrm>
            <a:off x="4773168" y="2029968"/>
            <a:ext cx="4279392"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30" name="Shape 23"/>
          <p:cNvSpPr/>
          <p:nvPr/>
        </p:nvSpPr>
        <p:spPr>
          <a:xfrm>
            <a:off x="4864608" y="2212848"/>
            <a:ext cx="502920" cy="502920"/>
          </a:xfrm>
          <a:prstGeom prst="ellipse">
            <a:avLst/>
          </a:prstGeom>
          <a:solidFill>
            <a:srgbClr val="F57C00"/>
          </a:solidFill>
          <a:ln w="12700">
            <a:solidFill>
              <a:srgbClr val="F57C00"/>
            </a:solidFill>
            <a:prstDash val="solid"/>
          </a:ln>
        </p:spPr>
      </p:sp>
      <p:pic>
        <p:nvPicPr>
          <p:cNvPr id="31" name="Image 5" descr="preencoded.png">    </p:cNvPr>
          <p:cNvPicPr>
            <a:picLocks noChangeAspect="1"/>
          </p:cNvPicPr>
          <p:nvPr/>
        </p:nvPicPr>
        <p:blipFill>
          <a:blip r:embed="rId6"/>
          <a:stretch>
            <a:fillRect/>
          </a:stretch>
        </p:blipFill>
        <p:spPr>
          <a:xfrm>
            <a:off x="4937760" y="2276856"/>
            <a:ext cx="347472" cy="347472"/>
          </a:xfrm>
          <a:prstGeom prst="rect">
            <a:avLst/>
          </a:prstGeom>
        </p:spPr>
      </p:pic>
      <p:sp>
        <p:nvSpPr>
          <p:cNvPr id="32" name="Text 24"/>
          <p:cNvSpPr/>
          <p:nvPr/>
        </p:nvSpPr>
        <p:spPr>
          <a:xfrm>
            <a:off x="5468112" y="2121408"/>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Cloud File Management</a:t>
            </a:r>
            <a:endParaRPr lang="en-US" sz="1100" dirty="0"/>
          </a:p>
        </p:txBody>
      </p:sp>
      <p:sp>
        <p:nvSpPr>
          <p:cNvPr id="33" name="Text 25"/>
          <p:cNvSpPr/>
          <p:nvPr/>
        </p:nvSpPr>
        <p:spPr>
          <a:xfrm>
            <a:off x="5468112" y="2450592"/>
            <a:ext cx="3474720" cy="384048"/>
          </a:xfrm>
          <a:prstGeom prst="rect">
            <a:avLst/>
          </a:prstGeom>
          <a:noFill/>
          <a:ln/>
        </p:spPr>
        <p:txBody>
          <a:bodyPr wrap="square" lIns="0" tIns="0" rIns="0" bIns="0" rtlCol="0" anchor="ctr"/>
          <a:lstStyle/>
          <a:p>
            <a:pPr indent="0" marL="0">
              <a:buNone/>
            </a:pPr>
            <a:r>
              <a:rPr lang="en-US" sz="950" dirty="0">
                <a:solidFill>
                  <a:srgbClr val="546E7A"/>
                </a:solidFill>
              </a:rPr>
              <a:t>Save, load, delete, share code via Supabase + JWT [7],[13]</a:t>
            </a:r>
            <a:endParaRPr lang="en-US" sz="950" dirty="0"/>
          </a:p>
        </p:txBody>
      </p:sp>
      <p:sp>
        <p:nvSpPr>
          <p:cNvPr id="34" name="Shape 26"/>
          <p:cNvSpPr/>
          <p:nvPr/>
        </p:nvSpPr>
        <p:spPr>
          <a:xfrm>
            <a:off x="4773168" y="3035808"/>
            <a:ext cx="4279392"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35" name="Shape 27"/>
          <p:cNvSpPr/>
          <p:nvPr/>
        </p:nvSpPr>
        <p:spPr>
          <a:xfrm>
            <a:off x="4864608" y="3218688"/>
            <a:ext cx="502920" cy="502920"/>
          </a:xfrm>
          <a:prstGeom prst="ellipse">
            <a:avLst/>
          </a:prstGeom>
          <a:solidFill>
            <a:srgbClr val="1565C0"/>
          </a:solidFill>
          <a:ln w="12700">
            <a:solidFill>
              <a:srgbClr val="1565C0"/>
            </a:solidFill>
            <a:prstDash val="solid"/>
          </a:ln>
        </p:spPr>
      </p:sp>
      <p:pic>
        <p:nvPicPr>
          <p:cNvPr id="36" name="Image 6" descr="preencoded.png">    </p:cNvPr>
          <p:cNvPicPr>
            <a:picLocks noChangeAspect="1"/>
          </p:cNvPicPr>
          <p:nvPr/>
        </p:nvPicPr>
        <p:blipFill>
          <a:blip r:embed="rId7"/>
          <a:stretch>
            <a:fillRect/>
          </a:stretch>
        </p:blipFill>
        <p:spPr>
          <a:xfrm>
            <a:off x="4937760" y="3282696"/>
            <a:ext cx="347472" cy="347472"/>
          </a:xfrm>
          <a:prstGeom prst="rect">
            <a:avLst/>
          </a:prstGeom>
        </p:spPr>
      </p:pic>
      <p:sp>
        <p:nvSpPr>
          <p:cNvPr id="37" name="Text 28"/>
          <p:cNvSpPr/>
          <p:nvPr/>
        </p:nvSpPr>
        <p:spPr>
          <a:xfrm>
            <a:off x="5468112" y="3127248"/>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User Authentication</a:t>
            </a:r>
            <a:endParaRPr lang="en-US" sz="1100" dirty="0"/>
          </a:p>
        </p:txBody>
      </p:sp>
      <p:sp>
        <p:nvSpPr>
          <p:cNvPr id="38" name="Text 29"/>
          <p:cNvSpPr/>
          <p:nvPr/>
        </p:nvSpPr>
        <p:spPr>
          <a:xfrm>
            <a:off x="5468112" y="3456432"/>
            <a:ext cx="3474720" cy="384048"/>
          </a:xfrm>
          <a:prstGeom prst="rect">
            <a:avLst/>
          </a:prstGeom>
          <a:noFill/>
          <a:ln/>
        </p:spPr>
        <p:txBody>
          <a:bodyPr wrap="square" lIns="0" tIns="0" rIns="0" bIns="0" rtlCol="0" anchor="ctr"/>
          <a:lstStyle/>
          <a:p>
            <a:pPr indent="0" marL="0">
              <a:buNone/>
            </a:pPr>
            <a:r>
              <a:rPr lang="en-US" sz="950" dirty="0">
                <a:solidFill>
                  <a:srgbClr val="546E7A"/>
                </a:solidFill>
              </a:rPr>
              <a:t>JWT tokens with bcrypt password hashing [7]</a:t>
            </a:r>
            <a:endParaRPr lang="en-US" sz="950" dirty="0"/>
          </a:p>
        </p:txBody>
      </p:sp>
      <p:sp>
        <p:nvSpPr>
          <p:cNvPr id="39" name="Shape 30"/>
          <p:cNvSpPr/>
          <p:nvPr/>
        </p:nvSpPr>
        <p:spPr>
          <a:xfrm>
            <a:off x="4773168" y="4041648"/>
            <a:ext cx="4279392" cy="877824"/>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40" name="Shape 31"/>
          <p:cNvSpPr/>
          <p:nvPr/>
        </p:nvSpPr>
        <p:spPr>
          <a:xfrm>
            <a:off x="4864608" y="4224528"/>
            <a:ext cx="502920" cy="502920"/>
          </a:xfrm>
          <a:prstGeom prst="ellipse">
            <a:avLst/>
          </a:prstGeom>
          <a:solidFill>
            <a:srgbClr val="00ACC1"/>
          </a:solidFill>
          <a:ln w="12700">
            <a:solidFill>
              <a:srgbClr val="00ACC1"/>
            </a:solidFill>
            <a:prstDash val="solid"/>
          </a:ln>
        </p:spPr>
      </p:sp>
      <p:pic>
        <p:nvPicPr>
          <p:cNvPr id="41" name="Image 7" descr="preencoded.png">    </p:cNvPr>
          <p:cNvPicPr>
            <a:picLocks noChangeAspect="1"/>
          </p:cNvPicPr>
          <p:nvPr/>
        </p:nvPicPr>
        <p:blipFill>
          <a:blip r:embed="rId8"/>
          <a:stretch>
            <a:fillRect/>
          </a:stretch>
        </p:blipFill>
        <p:spPr>
          <a:xfrm>
            <a:off x="4937760" y="4288536"/>
            <a:ext cx="347472" cy="347472"/>
          </a:xfrm>
          <a:prstGeom prst="rect">
            <a:avLst/>
          </a:prstGeom>
        </p:spPr>
      </p:pic>
      <p:sp>
        <p:nvSpPr>
          <p:cNvPr id="42" name="Text 32"/>
          <p:cNvSpPr/>
          <p:nvPr/>
        </p:nvSpPr>
        <p:spPr>
          <a:xfrm>
            <a:off x="5468112" y="4133088"/>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Urdu Text-to-Speech</a:t>
            </a:r>
            <a:endParaRPr lang="en-US" sz="1100" dirty="0"/>
          </a:p>
        </p:txBody>
      </p:sp>
      <p:sp>
        <p:nvSpPr>
          <p:cNvPr id="43" name="Text 33"/>
          <p:cNvSpPr/>
          <p:nvPr/>
        </p:nvSpPr>
        <p:spPr>
          <a:xfrm>
            <a:off x="5468112" y="4462272"/>
            <a:ext cx="3474720" cy="384048"/>
          </a:xfrm>
          <a:prstGeom prst="rect">
            <a:avLst/>
          </a:prstGeom>
          <a:noFill/>
          <a:ln/>
        </p:spPr>
        <p:txBody>
          <a:bodyPr wrap="square" lIns="0" tIns="0" rIns="0" bIns="0" rtlCol="0" anchor="ctr"/>
          <a:lstStyle/>
          <a:p>
            <a:pPr indent="0" marL="0">
              <a:buNone/>
            </a:pPr>
            <a:r>
              <a:rPr lang="en-US" sz="950" dirty="0">
                <a:solidFill>
                  <a:srgbClr val="546E7A"/>
                </a:solidFill>
              </a:rPr>
              <a:t>Speech Synthesis API reads output in Urdu [1]</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SRS: Non-Functional Requirements</a:t>
            </a:r>
            <a:endParaRPr lang="en-US" sz="2600" dirty="0"/>
          </a:p>
        </p:txBody>
      </p:sp>
      <p:sp>
        <p:nvSpPr>
          <p:cNvPr id="4" name="Shape 2"/>
          <p:cNvSpPr/>
          <p:nvPr/>
        </p:nvSpPr>
        <p:spPr>
          <a:xfrm>
            <a:off x="201168" y="1005840"/>
            <a:ext cx="4224528" cy="187452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01168" y="1005840"/>
            <a:ext cx="4224528" cy="402336"/>
          </a:xfrm>
          <a:prstGeom prst="rect">
            <a:avLst/>
          </a:prstGeom>
          <a:solidFill>
            <a:srgbClr val="F57C00"/>
          </a:solidFill>
          <a:ln w="12700">
            <a:solidFill>
              <a:srgbClr val="F57C00"/>
            </a:solidFill>
            <a:prstDash val="solid"/>
          </a:ln>
        </p:spPr>
      </p:sp>
      <p:pic>
        <p:nvPicPr>
          <p:cNvPr id="6" name="Image 0" descr="preencoded.png">    </p:cNvPr>
          <p:cNvPicPr>
            <a:picLocks noChangeAspect="1"/>
          </p:cNvPicPr>
          <p:nvPr/>
        </p:nvPicPr>
        <p:blipFill>
          <a:blip r:embed="rId1"/>
          <a:stretch>
            <a:fillRect/>
          </a:stretch>
        </p:blipFill>
        <p:spPr>
          <a:xfrm>
            <a:off x="292608" y="1069848"/>
            <a:ext cx="274320" cy="274320"/>
          </a:xfrm>
          <a:prstGeom prst="rect">
            <a:avLst/>
          </a:prstGeom>
        </p:spPr>
      </p:pic>
      <p:sp>
        <p:nvSpPr>
          <p:cNvPr id="7" name="Text 4"/>
          <p:cNvSpPr/>
          <p:nvPr/>
        </p:nvSpPr>
        <p:spPr>
          <a:xfrm>
            <a:off x="658368" y="1060704"/>
            <a:ext cx="3657600" cy="310896"/>
          </a:xfrm>
          <a:prstGeom prst="rect">
            <a:avLst/>
          </a:prstGeom>
          <a:noFill/>
          <a:ln/>
        </p:spPr>
        <p:txBody>
          <a:bodyPr wrap="square" lIns="0" tIns="0" rIns="0" bIns="0" rtlCol="0" anchor="ctr"/>
          <a:lstStyle/>
          <a:p>
            <a:pPr indent="0" marL="0">
              <a:buNone/>
            </a:pPr>
            <a:r>
              <a:rPr lang="en-US" sz="1300" b="1" dirty="0">
                <a:solidFill>
                  <a:srgbClr val="FFFFFF"/>
                </a:solidFill>
              </a:rPr>
              <a:t>Performance</a:t>
            </a:r>
            <a:endParaRPr lang="en-US" sz="1300" dirty="0"/>
          </a:p>
        </p:txBody>
      </p:sp>
      <p:sp>
        <p:nvSpPr>
          <p:cNvPr id="8" name="Text 5"/>
          <p:cNvSpPr/>
          <p:nvPr/>
        </p:nvSpPr>
        <p:spPr>
          <a:xfrm>
            <a:off x="338328" y="1536192"/>
            <a:ext cx="1280160" cy="457200"/>
          </a:xfrm>
          <a:prstGeom prst="rect">
            <a:avLst/>
          </a:prstGeom>
          <a:noFill/>
          <a:ln/>
        </p:spPr>
        <p:txBody>
          <a:bodyPr wrap="square" lIns="0" tIns="0" rIns="0" bIns="0" rtlCol="0" anchor="ctr"/>
          <a:lstStyle/>
          <a:p>
            <a:pPr algn="ctr" indent="0" marL="0">
              <a:buNone/>
            </a:pPr>
            <a:r>
              <a:rPr lang="en-US" sz="2200" b="1" dirty="0">
                <a:solidFill>
                  <a:srgbClr val="F57C00"/>
                </a:solidFill>
              </a:rPr>
              <a:t>2–4s</a:t>
            </a:r>
            <a:endParaRPr lang="en-US" sz="2200" dirty="0"/>
          </a:p>
        </p:txBody>
      </p:sp>
      <p:sp>
        <p:nvSpPr>
          <p:cNvPr id="9" name="Text 6"/>
          <p:cNvSpPr/>
          <p:nvPr/>
        </p:nvSpPr>
        <p:spPr>
          <a:xfrm>
            <a:off x="338328" y="1993392"/>
            <a:ext cx="1280160" cy="274320"/>
          </a:xfrm>
          <a:prstGeom prst="rect">
            <a:avLst/>
          </a:prstGeom>
          <a:noFill/>
          <a:ln/>
        </p:spPr>
        <p:txBody>
          <a:bodyPr wrap="square" lIns="0" tIns="0" rIns="0" bIns="0" rtlCol="0" anchor="ctr"/>
          <a:lstStyle/>
          <a:p>
            <a:pPr algn="ctr" indent="0" marL="0">
              <a:buNone/>
            </a:pPr>
            <a:r>
              <a:rPr lang="en-US" sz="850" dirty="0">
                <a:solidFill>
                  <a:srgbClr val="546E7A"/>
                </a:solidFill>
              </a:rPr>
              <a:t>Voice Processing</a:t>
            </a:r>
            <a:endParaRPr lang="en-US" sz="850" dirty="0"/>
          </a:p>
        </p:txBody>
      </p:sp>
      <p:sp>
        <p:nvSpPr>
          <p:cNvPr id="10" name="Text 7"/>
          <p:cNvSpPr/>
          <p:nvPr/>
        </p:nvSpPr>
        <p:spPr>
          <a:xfrm>
            <a:off x="1691640" y="1536192"/>
            <a:ext cx="1280160" cy="457200"/>
          </a:xfrm>
          <a:prstGeom prst="rect">
            <a:avLst/>
          </a:prstGeom>
          <a:noFill/>
          <a:ln/>
        </p:spPr>
        <p:txBody>
          <a:bodyPr wrap="square" lIns="0" tIns="0" rIns="0" bIns="0" rtlCol="0" anchor="ctr"/>
          <a:lstStyle/>
          <a:p>
            <a:pPr algn="ctr" indent="0" marL="0">
              <a:buNone/>
            </a:pPr>
            <a:r>
              <a:rPr lang="en-US" sz="2200" b="1" dirty="0">
                <a:solidFill>
                  <a:srgbClr val="F57C00"/>
                </a:solidFill>
              </a:rPr>
              <a:t>5s</a:t>
            </a:r>
            <a:endParaRPr lang="en-US" sz="2200" dirty="0"/>
          </a:p>
        </p:txBody>
      </p:sp>
      <p:sp>
        <p:nvSpPr>
          <p:cNvPr id="11" name="Text 8"/>
          <p:cNvSpPr/>
          <p:nvPr/>
        </p:nvSpPr>
        <p:spPr>
          <a:xfrm>
            <a:off x="1691640" y="1993392"/>
            <a:ext cx="1280160" cy="274320"/>
          </a:xfrm>
          <a:prstGeom prst="rect">
            <a:avLst/>
          </a:prstGeom>
          <a:noFill/>
          <a:ln/>
        </p:spPr>
        <p:txBody>
          <a:bodyPr wrap="square" lIns="0" tIns="0" rIns="0" bIns="0" rtlCol="0" anchor="ctr"/>
          <a:lstStyle/>
          <a:p>
            <a:pPr algn="ctr" indent="0" marL="0">
              <a:buNone/>
            </a:pPr>
            <a:r>
              <a:rPr lang="en-US" sz="850" dirty="0">
                <a:solidFill>
                  <a:srgbClr val="546E7A"/>
                </a:solidFill>
              </a:rPr>
              <a:t>Compilation</a:t>
            </a:r>
            <a:endParaRPr lang="en-US" sz="850" dirty="0"/>
          </a:p>
        </p:txBody>
      </p:sp>
      <p:sp>
        <p:nvSpPr>
          <p:cNvPr id="12" name="Text 9"/>
          <p:cNvSpPr/>
          <p:nvPr/>
        </p:nvSpPr>
        <p:spPr>
          <a:xfrm>
            <a:off x="3044952" y="1536192"/>
            <a:ext cx="1280160" cy="457200"/>
          </a:xfrm>
          <a:prstGeom prst="rect">
            <a:avLst/>
          </a:prstGeom>
          <a:noFill/>
          <a:ln/>
        </p:spPr>
        <p:txBody>
          <a:bodyPr wrap="square" lIns="0" tIns="0" rIns="0" bIns="0" rtlCol="0" anchor="ctr"/>
          <a:lstStyle/>
          <a:p>
            <a:pPr algn="ctr" indent="0" marL="0">
              <a:buNone/>
            </a:pPr>
            <a:r>
              <a:rPr lang="en-US" sz="2200" b="1" dirty="0">
                <a:solidFill>
                  <a:srgbClr val="F57C00"/>
                </a:solidFill>
              </a:rPr>
              <a:t>3–6s</a:t>
            </a:r>
            <a:endParaRPr lang="en-US" sz="2200" dirty="0"/>
          </a:p>
        </p:txBody>
      </p:sp>
      <p:sp>
        <p:nvSpPr>
          <p:cNvPr id="13" name="Text 10"/>
          <p:cNvSpPr/>
          <p:nvPr/>
        </p:nvSpPr>
        <p:spPr>
          <a:xfrm>
            <a:off x="3044952" y="1993392"/>
            <a:ext cx="1280160" cy="274320"/>
          </a:xfrm>
          <a:prstGeom prst="rect">
            <a:avLst/>
          </a:prstGeom>
          <a:noFill/>
          <a:ln/>
        </p:spPr>
        <p:txBody>
          <a:bodyPr wrap="square" lIns="0" tIns="0" rIns="0" bIns="0" rtlCol="0" anchor="ctr"/>
          <a:lstStyle/>
          <a:p>
            <a:pPr algn="ctr" indent="0" marL="0">
              <a:buNone/>
            </a:pPr>
            <a:r>
              <a:rPr lang="en-US" sz="850" dirty="0">
                <a:solidFill>
                  <a:srgbClr val="546E7A"/>
                </a:solidFill>
              </a:rPr>
              <a:t>AI Response (GPT-4o)</a:t>
            </a:r>
            <a:endParaRPr lang="en-US" sz="850" dirty="0"/>
          </a:p>
        </p:txBody>
      </p:sp>
      <p:sp>
        <p:nvSpPr>
          <p:cNvPr id="14" name="Text 11"/>
          <p:cNvSpPr/>
          <p:nvPr/>
        </p:nvSpPr>
        <p:spPr>
          <a:xfrm>
            <a:off x="338328" y="2487168"/>
            <a:ext cx="3931920" cy="274320"/>
          </a:xfrm>
          <a:prstGeom prst="rect">
            <a:avLst/>
          </a:prstGeom>
          <a:noFill/>
          <a:ln/>
        </p:spPr>
        <p:txBody>
          <a:bodyPr wrap="square" lIns="0" tIns="0" rIns="0" bIns="0" rtlCol="0" anchor="ctr"/>
          <a:lstStyle/>
          <a:p>
            <a:pPr indent="0" marL="0">
              <a:buNone/>
            </a:pPr>
            <a:r>
              <a:rPr lang="en-US" sz="900" dirty="0">
                <a:solidFill>
                  <a:srgbClr val="546E7A"/>
                </a:solidFill>
              </a:rPr>
              <a:t>Fast, responsive experience for all users</a:t>
            </a:r>
            <a:endParaRPr lang="en-US" sz="900" dirty="0"/>
          </a:p>
        </p:txBody>
      </p:sp>
      <p:sp>
        <p:nvSpPr>
          <p:cNvPr id="15" name="Shape 12"/>
          <p:cNvSpPr/>
          <p:nvPr/>
        </p:nvSpPr>
        <p:spPr>
          <a:xfrm>
            <a:off x="4681728" y="1005840"/>
            <a:ext cx="4224528" cy="187452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6" name="Shape 13"/>
          <p:cNvSpPr/>
          <p:nvPr/>
        </p:nvSpPr>
        <p:spPr>
          <a:xfrm>
            <a:off x="4681728" y="1005840"/>
            <a:ext cx="4224528" cy="402336"/>
          </a:xfrm>
          <a:prstGeom prst="rect">
            <a:avLst/>
          </a:prstGeom>
          <a:solidFill>
            <a:srgbClr val="1565C0"/>
          </a:solidFill>
          <a:ln w="12700">
            <a:solidFill>
              <a:srgbClr val="1565C0"/>
            </a:solidFill>
            <a:prstDash val="solid"/>
          </a:ln>
        </p:spPr>
      </p:sp>
      <p:pic>
        <p:nvPicPr>
          <p:cNvPr id="17" name="Image 1" descr="preencoded.png">    </p:cNvPr>
          <p:cNvPicPr>
            <a:picLocks noChangeAspect="1"/>
          </p:cNvPicPr>
          <p:nvPr/>
        </p:nvPicPr>
        <p:blipFill>
          <a:blip r:embed="rId2"/>
          <a:stretch>
            <a:fillRect/>
          </a:stretch>
        </p:blipFill>
        <p:spPr>
          <a:xfrm>
            <a:off x="4773168" y="1069848"/>
            <a:ext cx="274320" cy="274320"/>
          </a:xfrm>
          <a:prstGeom prst="rect">
            <a:avLst/>
          </a:prstGeom>
        </p:spPr>
      </p:pic>
      <p:sp>
        <p:nvSpPr>
          <p:cNvPr id="18" name="Text 14"/>
          <p:cNvSpPr/>
          <p:nvPr/>
        </p:nvSpPr>
        <p:spPr>
          <a:xfrm>
            <a:off x="5138928" y="1060704"/>
            <a:ext cx="3657600" cy="310896"/>
          </a:xfrm>
          <a:prstGeom prst="rect">
            <a:avLst/>
          </a:prstGeom>
          <a:noFill/>
          <a:ln/>
        </p:spPr>
        <p:txBody>
          <a:bodyPr wrap="square" lIns="0" tIns="0" rIns="0" bIns="0" rtlCol="0" anchor="ctr"/>
          <a:lstStyle/>
          <a:p>
            <a:pPr indent="0" marL="0">
              <a:buNone/>
            </a:pPr>
            <a:r>
              <a:rPr lang="en-US" sz="1300" b="1" dirty="0">
                <a:solidFill>
                  <a:srgbClr val="FFFFFF"/>
                </a:solidFill>
              </a:rPr>
              <a:t>Security</a:t>
            </a:r>
            <a:endParaRPr lang="en-US" sz="1300" dirty="0"/>
          </a:p>
        </p:txBody>
      </p:sp>
      <p:sp>
        <p:nvSpPr>
          <p:cNvPr id="19" name="Shape 15"/>
          <p:cNvSpPr/>
          <p:nvPr/>
        </p:nvSpPr>
        <p:spPr>
          <a:xfrm>
            <a:off x="4846320" y="1572768"/>
            <a:ext cx="73152" cy="73152"/>
          </a:xfrm>
          <a:prstGeom prst="ellipse">
            <a:avLst/>
          </a:prstGeom>
          <a:solidFill>
            <a:srgbClr val="1565C0"/>
          </a:solidFill>
          <a:ln w="12700">
            <a:solidFill>
              <a:srgbClr val="1565C0"/>
            </a:solidFill>
            <a:prstDash val="solid"/>
          </a:ln>
        </p:spPr>
      </p:sp>
      <p:sp>
        <p:nvSpPr>
          <p:cNvPr id="20" name="Text 16"/>
          <p:cNvSpPr/>
          <p:nvPr/>
        </p:nvSpPr>
        <p:spPr>
          <a:xfrm>
            <a:off x="5001768" y="1517904"/>
            <a:ext cx="3794760" cy="256032"/>
          </a:xfrm>
          <a:prstGeom prst="rect">
            <a:avLst/>
          </a:prstGeom>
          <a:noFill/>
          <a:ln/>
        </p:spPr>
        <p:txBody>
          <a:bodyPr wrap="square" lIns="0" tIns="0" rIns="0" bIns="0" rtlCol="0" anchor="ctr"/>
          <a:lstStyle/>
          <a:p>
            <a:pPr indent="0" marL="0">
              <a:buNone/>
            </a:pPr>
            <a:r>
              <a:rPr lang="en-US" sz="950" dirty="0">
                <a:solidFill>
                  <a:srgbClr val="546E7A"/>
                </a:solidFill>
              </a:rPr>
              <a:t>OWASP Top 10 compliance [7]</a:t>
            </a:r>
            <a:endParaRPr lang="en-US" sz="950" dirty="0"/>
          </a:p>
        </p:txBody>
      </p:sp>
      <p:sp>
        <p:nvSpPr>
          <p:cNvPr id="21" name="Shape 17"/>
          <p:cNvSpPr/>
          <p:nvPr/>
        </p:nvSpPr>
        <p:spPr>
          <a:xfrm>
            <a:off x="4846320" y="1847088"/>
            <a:ext cx="73152" cy="73152"/>
          </a:xfrm>
          <a:prstGeom prst="ellipse">
            <a:avLst/>
          </a:prstGeom>
          <a:solidFill>
            <a:srgbClr val="1565C0"/>
          </a:solidFill>
          <a:ln w="12700">
            <a:solidFill>
              <a:srgbClr val="1565C0"/>
            </a:solidFill>
            <a:prstDash val="solid"/>
          </a:ln>
        </p:spPr>
      </p:sp>
      <p:sp>
        <p:nvSpPr>
          <p:cNvPr id="22" name="Text 18"/>
          <p:cNvSpPr/>
          <p:nvPr/>
        </p:nvSpPr>
        <p:spPr>
          <a:xfrm>
            <a:off x="5001768" y="1792224"/>
            <a:ext cx="3794760" cy="256032"/>
          </a:xfrm>
          <a:prstGeom prst="rect">
            <a:avLst/>
          </a:prstGeom>
          <a:noFill/>
          <a:ln/>
        </p:spPr>
        <p:txBody>
          <a:bodyPr wrap="square" lIns="0" tIns="0" rIns="0" bIns="0" rtlCol="0" anchor="ctr"/>
          <a:lstStyle/>
          <a:p>
            <a:pPr indent="0" marL="0">
              <a:buNone/>
            </a:pPr>
            <a:r>
              <a:rPr lang="en-US" sz="950" dirty="0">
                <a:solidFill>
                  <a:srgbClr val="546E7A"/>
                </a:solidFill>
              </a:rPr>
              <a:t>bcrypt password hashing</a:t>
            </a:r>
            <a:endParaRPr lang="en-US" sz="950" dirty="0"/>
          </a:p>
        </p:txBody>
      </p:sp>
      <p:sp>
        <p:nvSpPr>
          <p:cNvPr id="23" name="Shape 19"/>
          <p:cNvSpPr/>
          <p:nvPr/>
        </p:nvSpPr>
        <p:spPr>
          <a:xfrm>
            <a:off x="4846320" y="2121408"/>
            <a:ext cx="73152" cy="73152"/>
          </a:xfrm>
          <a:prstGeom prst="ellipse">
            <a:avLst/>
          </a:prstGeom>
          <a:solidFill>
            <a:srgbClr val="1565C0"/>
          </a:solidFill>
          <a:ln w="12700">
            <a:solidFill>
              <a:srgbClr val="1565C0"/>
            </a:solidFill>
            <a:prstDash val="solid"/>
          </a:ln>
        </p:spPr>
      </p:sp>
      <p:sp>
        <p:nvSpPr>
          <p:cNvPr id="24" name="Text 20"/>
          <p:cNvSpPr/>
          <p:nvPr/>
        </p:nvSpPr>
        <p:spPr>
          <a:xfrm>
            <a:off x="5001768" y="2066544"/>
            <a:ext cx="3794760" cy="256032"/>
          </a:xfrm>
          <a:prstGeom prst="rect">
            <a:avLst/>
          </a:prstGeom>
          <a:noFill/>
          <a:ln/>
        </p:spPr>
        <p:txBody>
          <a:bodyPr wrap="square" lIns="0" tIns="0" rIns="0" bIns="0" rtlCol="0" anchor="ctr"/>
          <a:lstStyle/>
          <a:p>
            <a:pPr indent="0" marL="0">
              <a:buNone/>
            </a:pPr>
            <a:r>
              <a:rPr lang="en-US" sz="950" dirty="0">
                <a:solidFill>
                  <a:srgbClr val="546E7A"/>
                </a:solidFill>
              </a:rPr>
              <a:t>JWT session management</a:t>
            </a:r>
            <a:endParaRPr lang="en-US" sz="950" dirty="0"/>
          </a:p>
        </p:txBody>
      </p:sp>
      <p:sp>
        <p:nvSpPr>
          <p:cNvPr id="25" name="Shape 21"/>
          <p:cNvSpPr/>
          <p:nvPr/>
        </p:nvSpPr>
        <p:spPr>
          <a:xfrm>
            <a:off x="4846320" y="2395728"/>
            <a:ext cx="73152" cy="73152"/>
          </a:xfrm>
          <a:prstGeom prst="ellipse">
            <a:avLst/>
          </a:prstGeom>
          <a:solidFill>
            <a:srgbClr val="1565C0"/>
          </a:solidFill>
          <a:ln w="12700">
            <a:solidFill>
              <a:srgbClr val="1565C0"/>
            </a:solidFill>
            <a:prstDash val="solid"/>
          </a:ln>
        </p:spPr>
      </p:sp>
      <p:sp>
        <p:nvSpPr>
          <p:cNvPr id="26" name="Text 22"/>
          <p:cNvSpPr/>
          <p:nvPr/>
        </p:nvSpPr>
        <p:spPr>
          <a:xfrm>
            <a:off x="5001768" y="2340864"/>
            <a:ext cx="3794760" cy="256032"/>
          </a:xfrm>
          <a:prstGeom prst="rect">
            <a:avLst/>
          </a:prstGeom>
          <a:noFill/>
          <a:ln/>
        </p:spPr>
        <p:txBody>
          <a:bodyPr wrap="square" lIns="0" tIns="0" rIns="0" bIns="0" rtlCol="0" anchor="ctr"/>
          <a:lstStyle/>
          <a:p>
            <a:pPr indent="0" marL="0">
              <a:buNone/>
            </a:pPr>
            <a:r>
              <a:rPr lang="en-US" sz="950" dirty="0">
                <a:solidFill>
                  <a:srgbClr val="546E7A"/>
                </a:solidFill>
              </a:rPr>
              <a:t>API keys server-side only</a:t>
            </a:r>
            <a:endParaRPr lang="en-US" sz="950" dirty="0"/>
          </a:p>
        </p:txBody>
      </p:sp>
      <p:sp>
        <p:nvSpPr>
          <p:cNvPr id="27" name="Shape 23"/>
          <p:cNvSpPr/>
          <p:nvPr/>
        </p:nvSpPr>
        <p:spPr>
          <a:xfrm>
            <a:off x="4846320" y="2670048"/>
            <a:ext cx="73152" cy="73152"/>
          </a:xfrm>
          <a:prstGeom prst="ellipse">
            <a:avLst/>
          </a:prstGeom>
          <a:solidFill>
            <a:srgbClr val="1565C0"/>
          </a:solidFill>
          <a:ln w="12700">
            <a:solidFill>
              <a:srgbClr val="1565C0"/>
            </a:solidFill>
            <a:prstDash val="solid"/>
          </a:ln>
        </p:spPr>
      </p:sp>
      <p:sp>
        <p:nvSpPr>
          <p:cNvPr id="28" name="Text 24"/>
          <p:cNvSpPr/>
          <p:nvPr/>
        </p:nvSpPr>
        <p:spPr>
          <a:xfrm>
            <a:off x="5001768" y="2615184"/>
            <a:ext cx="3794760" cy="256032"/>
          </a:xfrm>
          <a:prstGeom prst="rect">
            <a:avLst/>
          </a:prstGeom>
          <a:noFill/>
          <a:ln/>
        </p:spPr>
        <p:txBody>
          <a:bodyPr wrap="square" lIns="0" tIns="0" rIns="0" bIns="0" rtlCol="0" anchor="ctr"/>
          <a:lstStyle/>
          <a:p>
            <a:pPr indent="0" marL="0">
              <a:buNone/>
            </a:pPr>
            <a:r>
              <a:rPr lang="en-US" sz="950" dirty="0">
                <a:solidFill>
                  <a:srgbClr val="546E7A"/>
                </a:solidFill>
              </a:rPr>
              <a:t>HTTPS/TLS all comms</a:t>
            </a:r>
            <a:endParaRPr lang="en-US" sz="950" dirty="0"/>
          </a:p>
        </p:txBody>
      </p:sp>
      <p:sp>
        <p:nvSpPr>
          <p:cNvPr id="29" name="Shape 25"/>
          <p:cNvSpPr/>
          <p:nvPr/>
        </p:nvSpPr>
        <p:spPr>
          <a:xfrm>
            <a:off x="201168" y="3017520"/>
            <a:ext cx="4224528" cy="187452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30" name="Shape 26"/>
          <p:cNvSpPr/>
          <p:nvPr/>
        </p:nvSpPr>
        <p:spPr>
          <a:xfrm>
            <a:off x="201168" y="3017520"/>
            <a:ext cx="4224528" cy="402336"/>
          </a:xfrm>
          <a:prstGeom prst="rect">
            <a:avLst/>
          </a:prstGeom>
          <a:solidFill>
            <a:srgbClr val="2E7D32"/>
          </a:solidFill>
          <a:ln w="12700">
            <a:solidFill>
              <a:srgbClr val="2E7D32"/>
            </a:solidFill>
            <a:prstDash val="solid"/>
          </a:ln>
        </p:spPr>
      </p:sp>
      <p:pic>
        <p:nvPicPr>
          <p:cNvPr id="31" name="Image 2" descr="preencoded.png">    </p:cNvPr>
          <p:cNvPicPr>
            <a:picLocks noChangeAspect="1"/>
          </p:cNvPicPr>
          <p:nvPr/>
        </p:nvPicPr>
        <p:blipFill>
          <a:blip r:embed="rId3"/>
          <a:stretch>
            <a:fillRect/>
          </a:stretch>
        </p:blipFill>
        <p:spPr>
          <a:xfrm>
            <a:off x="292608" y="3081528"/>
            <a:ext cx="274320" cy="274320"/>
          </a:xfrm>
          <a:prstGeom prst="rect">
            <a:avLst/>
          </a:prstGeom>
        </p:spPr>
      </p:pic>
      <p:sp>
        <p:nvSpPr>
          <p:cNvPr id="32" name="Text 27"/>
          <p:cNvSpPr/>
          <p:nvPr/>
        </p:nvSpPr>
        <p:spPr>
          <a:xfrm>
            <a:off x="658368" y="3072384"/>
            <a:ext cx="3657600" cy="310896"/>
          </a:xfrm>
          <a:prstGeom prst="rect">
            <a:avLst/>
          </a:prstGeom>
          <a:noFill/>
          <a:ln/>
        </p:spPr>
        <p:txBody>
          <a:bodyPr wrap="square" lIns="0" tIns="0" rIns="0" bIns="0" rtlCol="0" anchor="ctr"/>
          <a:lstStyle/>
          <a:p>
            <a:pPr indent="0" marL="0">
              <a:buNone/>
            </a:pPr>
            <a:r>
              <a:rPr lang="en-US" sz="1300" b="1" dirty="0">
                <a:solidFill>
                  <a:srgbClr val="FFFFFF"/>
                </a:solidFill>
              </a:rPr>
              <a:t>Safety</a:t>
            </a:r>
            <a:endParaRPr lang="en-US" sz="1300" dirty="0"/>
          </a:p>
        </p:txBody>
      </p:sp>
      <p:sp>
        <p:nvSpPr>
          <p:cNvPr id="33" name="Shape 28"/>
          <p:cNvSpPr/>
          <p:nvPr/>
        </p:nvSpPr>
        <p:spPr>
          <a:xfrm>
            <a:off x="365760" y="3584448"/>
            <a:ext cx="73152" cy="73152"/>
          </a:xfrm>
          <a:prstGeom prst="ellipse">
            <a:avLst/>
          </a:prstGeom>
          <a:solidFill>
            <a:srgbClr val="2E7D32"/>
          </a:solidFill>
          <a:ln w="12700">
            <a:solidFill>
              <a:srgbClr val="2E7D32"/>
            </a:solidFill>
            <a:prstDash val="solid"/>
          </a:ln>
        </p:spPr>
      </p:sp>
      <p:sp>
        <p:nvSpPr>
          <p:cNvPr id="34" name="Text 29"/>
          <p:cNvSpPr/>
          <p:nvPr/>
        </p:nvSpPr>
        <p:spPr>
          <a:xfrm>
            <a:off x="521208" y="3529584"/>
            <a:ext cx="3794760" cy="256032"/>
          </a:xfrm>
          <a:prstGeom prst="rect">
            <a:avLst/>
          </a:prstGeom>
          <a:noFill/>
          <a:ln/>
        </p:spPr>
        <p:txBody>
          <a:bodyPr wrap="square" lIns="0" tIns="0" rIns="0" bIns="0" rtlCol="0" anchor="ctr"/>
          <a:lstStyle/>
          <a:p>
            <a:pPr indent="0" marL="0">
              <a:buNone/>
            </a:pPr>
            <a:r>
              <a:rPr lang="en-US" sz="950" dirty="0">
                <a:solidFill>
                  <a:srgbClr val="546E7A"/>
                </a:solidFill>
              </a:rPr>
              <a:t>Code runs in cloud sandbox</a:t>
            </a:r>
            <a:endParaRPr lang="en-US" sz="950" dirty="0"/>
          </a:p>
        </p:txBody>
      </p:sp>
      <p:sp>
        <p:nvSpPr>
          <p:cNvPr id="35" name="Shape 30"/>
          <p:cNvSpPr/>
          <p:nvPr/>
        </p:nvSpPr>
        <p:spPr>
          <a:xfrm>
            <a:off x="365760" y="3858768"/>
            <a:ext cx="73152" cy="73152"/>
          </a:xfrm>
          <a:prstGeom prst="ellipse">
            <a:avLst/>
          </a:prstGeom>
          <a:solidFill>
            <a:srgbClr val="2E7D32"/>
          </a:solidFill>
          <a:ln w="12700">
            <a:solidFill>
              <a:srgbClr val="2E7D32"/>
            </a:solidFill>
            <a:prstDash val="solid"/>
          </a:ln>
        </p:spPr>
      </p:sp>
      <p:sp>
        <p:nvSpPr>
          <p:cNvPr id="36" name="Text 31"/>
          <p:cNvSpPr/>
          <p:nvPr/>
        </p:nvSpPr>
        <p:spPr>
          <a:xfrm>
            <a:off x="521208" y="3803904"/>
            <a:ext cx="3794760" cy="256032"/>
          </a:xfrm>
          <a:prstGeom prst="rect">
            <a:avLst/>
          </a:prstGeom>
          <a:noFill/>
          <a:ln/>
        </p:spPr>
        <p:txBody>
          <a:bodyPr wrap="square" lIns="0" tIns="0" rIns="0" bIns="0" rtlCol="0" anchor="ctr"/>
          <a:lstStyle/>
          <a:p>
            <a:pPr indent="0" marL="0">
              <a:buNone/>
            </a:pPr>
            <a:r>
              <a:rPr lang="en-US" sz="950" dirty="0">
                <a:solidFill>
                  <a:srgbClr val="546E7A"/>
                </a:solidFill>
              </a:rPr>
              <a:t>Judge0/JDoodle/Paiza isolation [2],[8]</a:t>
            </a:r>
            <a:endParaRPr lang="en-US" sz="950" dirty="0"/>
          </a:p>
        </p:txBody>
      </p:sp>
      <p:sp>
        <p:nvSpPr>
          <p:cNvPr id="37" name="Shape 32"/>
          <p:cNvSpPr/>
          <p:nvPr/>
        </p:nvSpPr>
        <p:spPr>
          <a:xfrm>
            <a:off x="365760" y="4133088"/>
            <a:ext cx="73152" cy="73152"/>
          </a:xfrm>
          <a:prstGeom prst="ellipse">
            <a:avLst/>
          </a:prstGeom>
          <a:solidFill>
            <a:srgbClr val="2E7D32"/>
          </a:solidFill>
          <a:ln w="12700">
            <a:solidFill>
              <a:srgbClr val="2E7D32"/>
            </a:solidFill>
            <a:prstDash val="solid"/>
          </a:ln>
        </p:spPr>
      </p:sp>
      <p:sp>
        <p:nvSpPr>
          <p:cNvPr id="38" name="Text 33"/>
          <p:cNvSpPr/>
          <p:nvPr/>
        </p:nvSpPr>
        <p:spPr>
          <a:xfrm>
            <a:off x="521208" y="4078224"/>
            <a:ext cx="3794760" cy="256032"/>
          </a:xfrm>
          <a:prstGeom prst="rect">
            <a:avLst/>
          </a:prstGeom>
          <a:noFill/>
          <a:ln/>
        </p:spPr>
        <p:txBody>
          <a:bodyPr wrap="square" lIns="0" tIns="0" rIns="0" bIns="0" rtlCol="0" anchor="ctr"/>
          <a:lstStyle/>
          <a:p>
            <a:pPr indent="0" marL="0">
              <a:buNone/>
            </a:pPr>
            <a:r>
              <a:rPr lang="en-US" sz="950" dirty="0">
                <a:solidFill>
                  <a:srgbClr val="546E7A"/>
                </a:solidFill>
              </a:rPr>
              <a:t>No local execution risk</a:t>
            </a:r>
            <a:endParaRPr lang="en-US" sz="950" dirty="0"/>
          </a:p>
        </p:txBody>
      </p:sp>
      <p:sp>
        <p:nvSpPr>
          <p:cNvPr id="39" name="Shape 34"/>
          <p:cNvSpPr/>
          <p:nvPr/>
        </p:nvSpPr>
        <p:spPr>
          <a:xfrm>
            <a:off x="4681728" y="3017520"/>
            <a:ext cx="4224528" cy="187452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40" name="Shape 35"/>
          <p:cNvSpPr/>
          <p:nvPr/>
        </p:nvSpPr>
        <p:spPr>
          <a:xfrm>
            <a:off x="4681728" y="3017520"/>
            <a:ext cx="4224528" cy="402336"/>
          </a:xfrm>
          <a:prstGeom prst="rect">
            <a:avLst/>
          </a:prstGeom>
          <a:solidFill>
            <a:srgbClr val="00ACC1"/>
          </a:solidFill>
          <a:ln w="12700">
            <a:solidFill>
              <a:srgbClr val="00ACC1"/>
            </a:solidFill>
            <a:prstDash val="solid"/>
          </a:ln>
        </p:spPr>
      </p:sp>
      <p:pic>
        <p:nvPicPr>
          <p:cNvPr id="41" name="Image 3" descr="preencoded.png">    </p:cNvPr>
          <p:cNvPicPr>
            <a:picLocks noChangeAspect="1"/>
          </p:cNvPicPr>
          <p:nvPr/>
        </p:nvPicPr>
        <p:blipFill>
          <a:blip r:embed="rId4"/>
          <a:stretch>
            <a:fillRect/>
          </a:stretch>
        </p:blipFill>
        <p:spPr>
          <a:xfrm>
            <a:off x="4773168" y="3081528"/>
            <a:ext cx="274320" cy="274320"/>
          </a:xfrm>
          <a:prstGeom prst="rect">
            <a:avLst/>
          </a:prstGeom>
        </p:spPr>
      </p:pic>
      <p:sp>
        <p:nvSpPr>
          <p:cNvPr id="42" name="Text 36"/>
          <p:cNvSpPr/>
          <p:nvPr/>
        </p:nvSpPr>
        <p:spPr>
          <a:xfrm>
            <a:off x="5138928" y="3072384"/>
            <a:ext cx="3657600" cy="310896"/>
          </a:xfrm>
          <a:prstGeom prst="rect">
            <a:avLst/>
          </a:prstGeom>
          <a:noFill/>
          <a:ln/>
        </p:spPr>
        <p:txBody>
          <a:bodyPr wrap="square" lIns="0" tIns="0" rIns="0" bIns="0" rtlCol="0" anchor="ctr"/>
          <a:lstStyle/>
          <a:p>
            <a:pPr indent="0" marL="0">
              <a:buNone/>
            </a:pPr>
            <a:r>
              <a:rPr lang="en-US" sz="1300" b="1" dirty="0">
                <a:solidFill>
                  <a:srgbClr val="FFFFFF"/>
                </a:solidFill>
              </a:rPr>
              <a:t>Accessibility</a:t>
            </a:r>
            <a:endParaRPr lang="en-US" sz="1300" dirty="0"/>
          </a:p>
        </p:txBody>
      </p:sp>
      <p:sp>
        <p:nvSpPr>
          <p:cNvPr id="43" name="Shape 37"/>
          <p:cNvSpPr/>
          <p:nvPr/>
        </p:nvSpPr>
        <p:spPr>
          <a:xfrm>
            <a:off x="4846320" y="3584448"/>
            <a:ext cx="73152" cy="73152"/>
          </a:xfrm>
          <a:prstGeom prst="ellipse">
            <a:avLst/>
          </a:prstGeom>
          <a:solidFill>
            <a:srgbClr val="00ACC1"/>
          </a:solidFill>
          <a:ln w="12700">
            <a:solidFill>
              <a:srgbClr val="00ACC1"/>
            </a:solidFill>
            <a:prstDash val="solid"/>
          </a:ln>
        </p:spPr>
      </p:sp>
      <p:sp>
        <p:nvSpPr>
          <p:cNvPr id="44" name="Text 38"/>
          <p:cNvSpPr/>
          <p:nvPr/>
        </p:nvSpPr>
        <p:spPr>
          <a:xfrm>
            <a:off x="5001768" y="3529584"/>
            <a:ext cx="3794760" cy="256032"/>
          </a:xfrm>
          <a:prstGeom prst="rect">
            <a:avLst/>
          </a:prstGeom>
          <a:noFill/>
          <a:ln/>
        </p:spPr>
        <p:txBody>
          <a:bodyPr wrap="square" lIns="0" tIns="0" rIns="0" bIns="0" rtlCol="0" anchor="ctr"/>
          <a:lstStyle/>
          <a:p>
            <a:pPr indent="0" marL="0">
              <a:buNone/>
            </a:pPr>
            <a:r>
              <a:rPr lang="en-US" sz="950" dirty="0">
                <a:solidFill>
                  <a:srgbClr val="546E7A"/>
                </a:solidFill>
              </a:rPr>
              <a:t>WCAG 2.1 compliant [16]</a:t>
            </a:r>
            <a:endParaRPr lang="en-US" sz="950" dirty="0"/>
          </a:p>
        </p:txBody>
      </p:sp>
      <p:sp>
        <p:nvSpPr>
          <p:cNvPr id="45" name="Shape 39"/>
          <p:cNvSpPr/>
          <p:nvPr/>
        </p:nvSpPr>
        <p:spPr>
          <a:xfrm>
            <a:off x="4846320" y="3858768"/>
            <a:ext cx="73152" cy="73152"/>
          </a:xfrm>
          <a:prstGeom prst="ellipse">
            <a:avLst/>
          </a:prstGeom>
          <a:solidFill>
            <a:srgbClr val="00ACC1"/>
          </a:solidFill>
          <a:ln w="12700">
            <a:solidFill>
              <a:srgbClr val="00ACC1"/>
            </a:solidFill>
            <a:prstDash val="solid"/>
          </a:ln>
        </p:spPr>
      </p:sp>
      <p:sp>
        <p:nvSpPr>
          <p:cNvPr id="46" name="Text 40"/>
          <p:cNvSpPr/>
          <p:nvPr/>
        </p:nvSpPr>
        <p:spPr>
          <a:xfrm>
            <a:off x="5001768" y="3803904"/>
            <a:ext cx="3794760" cy="256032"/>
          </a:xfrm>
          <a:prstGeom prst="rect">
            <a:avLst/>
          </a:prstGeom>
          <a:noFill/>
          <a:ln/>
        </p:spPr>
        <p:txBody>
          <a:bodyPr wrap="square" lIns="0" tIns="0" rIns="0" bIns="0" rtlCol="0" anchor="ctr"/>
          <a:lstStyle/>
          <a:p>
            <a:pPr indent="0" marL="0">
              <a:buNone/>
            </a:pPr>
            <a:r>
              <a:rPr lang="en-US" sz="950" dirty="0">
                <a:solidFill>
                  <a:srgbClr val="546E7A"/>
                </a:solidFill>
              </a:rPr>
              <a:t>Chrome 70+ and Edge 79+ [1]</a:t>
            </a:r>
            <a:endParaRPr lang="en-US" sz="950" dirty="0"/>
          </a:p>
        </p:txBody>
      </p:sp>
      <p:sp>
        <p:nvSpPr>
          <p:cNvPr id="47" name="Shape 41"/>
          <p:cNvSpPr/>
          <p:nvPr/>
        </p:nvSpPr>
        <p:spPr>
          <a:xfrm>
            <a:off x="4846320" y="4133088"/>
            <a:ext cx="73152" cy="73152"/>
          </a:xfrm>
          <a:prstGeom prst="ellipse">
            <a:avLst/>
          </a:prstGeom>
          <a:solidFill>
            <a:srgbClr val="00ACC1"/>
          </a:solidFill>
          <a:ln w="12700">
            <a:solidFill>
              <a:srgbClr val="00ACC1"/>
            </a:solidFill>
            <a:prstDash val="solid"/>
          </a:ln>
        </p:spPr>
      </p:sp>
      <p:sp>
        <p:nvSpPr>
          <p:cNvPr id="48" name="Text 42"/>
          <p:cNvSpPr/>
          <p:nvPr/>
        </p:nvSpPr>
        <p:spPr>
          <a:xfrm>
            <a:off x="5001768" y="4078224"/>
            <a:ext cx="3794760" cy="256032"/>
          </a:xfrm>
          <a:prstGeom prst="rect">
            <a:avLst/>
          </a:prstGeom>
          <a:noFill/>
          <a:ln/>
        </p:spPr>
        <p:txBody>
          <a:bodyPr wrap="square" lIns="0" tIns="0" rIns="0" bIns="0" rtlCol="0" anchor="ctr"/>
          <a:lstStyle/>
          <a:p>
            <a:pPr indent="0" marL="0">
              <a:buNone/>
            </a:pPr>
            <a:r>
              <a:rPr lang="en-US" sz="950" dirty="0">
                <a:solidFill>
                  <a:srgbClr val="546E7A"/>
                </a:solidFill>
              </a:rPr>
              <a:t>Urdu TTS support [1]</a:t>
            </a:r>
            <a:endParaRPr lang="en-US" sz="950" dirty="0"/>
          </a:p>
        </p:txBody>
      </p:sp>
      <p:sp>
        <p:nvSpPr>
          <p:cNvPr id="49" name="Shape 43"/>
          <p:cNvSpPr/>
          <p:nvPr/>
        </p:nvSpPr>
        <p:spPr>
          <a:xfrm>
            <a:off x="4846320" y="4407408"/>
            <a:ext cx="73152" cy="73152"/>
          </a:xfrm>
          <a:prstGeom prst="ellipse">
            <a:avLst/>
          </a:prstGeom>
          <a:solidFill>
            <a:srgbClr val="00ACC1"/>
          </a:solidFill>
          <a:ln w="12700">
            <a:solidFill>
              <a:srgbClr val="00ACC1"/>
            </a:solidFill>
            <a:prstDash val="solid"/>
          </a:ln>
        </p:spPr>
      </p:sp>
      <p:sp>
        <p:nvSpPr>
          <p:cNvPr id="50" name="Text 44"/>
          <p:cNvSpPr/>
          <p:nvPr/>
        </p:nvSpPr>
        <p:spPr>
          <a:xfrm>
            <a:off x="5001768" y="4352544"/>
            <a:ext cx="3794760" cy="256032"/>
          </a:xfrm>
          <a:prstGeom prst="rect">
            <a:avLst/>
          </a:prstGeom>
          <a:noFill/>
          <a:ln/>
        </p:spPr>
        <p:txBody>
          <a:bodyPr wrap="square" lIns="0" tIns="0" rIns="0" bIns="0" rtlCol="0" anchor="ctr"/>
          <a:lstStyle/>
          <a:p>
            <a:pPr indent="0" marL="0">
              <a:buNone/>
            </a:pPr>
            <a:r>
              <a:rPr lang="en-US" sz="950" dirty="0">
                <a:solidFill>
                  <a:srgbClr val="546E7A"/>
                </a:solidFill>
              </a:rPr>
              <a:t>Large accessible controls</a:t>
            </a:r>
            <a:endParaRPr lang="en-US" sz="950" dirty="0"/>
          </a:p>
        </p:txBody>
      </p:sp>
      <p:sp>
        <p:nvSpPr>
          <p:cNvPr id="51" name="Shape 45"/>
          <p:cNvSpPr/>
          <p:nvPr/>
        </p:nvSpPr>
        <p:spPr>
          <a:xfrm>
            <a:off x="4846320" y="4681728"/>
            <a:ext cx="73152" cy="73152"/>
          </a:xfrm>
          <a:prstGeom prst="ellipse">
            <a:avLst/>
          </a:prstGeom>
          <a:solidFill>
            <a:srgbClr val="00ACC1"/>
          </a:solidFill>
          <a:ln w="12700">
            <a:solidFill>
              <a:srgbClr val="00ACC1"/>
            </a:solidFill>
            <a:prstDash val="solid"/>
          </a:ln>
        </p:spPr>
      </p:sp>
      <p:sp>
        <p:nvSpPr>
          <p:cNvPr id="52" name="Text 46"/>
          <p:cNvSpPr/>
          <p:nvPr/>
        </p:nvSpPr>
        <p:spPr>
          <a:xfrm>
            <a:off x="5001768" y="4626864"/>
            <a:ext cx="3794760" cy="256032"/>
          </a:xfrm>
          <a:prstGeom prst="rect">
            <a:avLst/>
          </a:prstGeom>
          <a:noFill/>
          <a:ln/>
        </p:spPr>
        <p:txBody>
          <a:bodyPr wrap="square" lIns="0" tIns="0" rIns="0" bIns="0" rtlCol="0" anchor="ctr"/>
          <a:lstStyle/>
          <a:p>
            <a:pPr indent="0" marL="0">
              <a:buNone/>
            </a:pPr>
            <a:r>
              <a:rPr lang="en-US" sz="950" dirty="0">
                <a:solidFill>
                  <a:srgbClr val="546E7A"/>
                </a:solidFill>
              </a:rPr>
              <a:t>Voice-driven interface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SDS: System Architecture — Three-Tier Design</a:t>
            </a:r>
            <a:endParaRPr lang="en-US" sz="2400" dirty="0"/>
          </a:p>
        </p:txBody>
      </p:sp>
      <p:sp>
        <p:nvSpPr>
          <p:cNvPr id="4" name="Shape 2"/>
          <p:cNvSpPr/>
          <p:nvPr/>
        </p:nvSpPr>
        <p:spPr>
          <a:xfrm>
            <a:off x="201168" y="1005840"/>
            <a:ext cx="2788920" cy="3767328"/>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01168" y="1005840"/>
            <a:ext cx="2788920" cy="402336"/>
          </a:xfrm>
          <a:prstGeom prst="rect">
            <a:avLst/>
          </a:prstGeom>
          <a:solidFill>
            <a:srgbClr val="1565C0"/>
          </a:solidFill>
          <a:ln w="12700">
            <a:solidFill>
              <a:srgbClr val="1565C0"/>
            </a:solidFill>
            <a:prstDash val="solid"/>
          </a:ln>
        </p:spPr>
      </p:sp>
      <p:pic>
        <p:nvPicPr>
          <p:cNvPr id="6" name="Image 0" descr="preencoded.png">    </p:cNvPr>
          <p:cNvPicPr>
            <a:picLocks noChangeAspect="1"/>
          </p:cNvPicPr>
          <p:nvPr/>
        </p:nvPicPr>
        <p:blipFill>
          <a:blip r:embed="rId1"/>
          <a:stretch>
            <a:fillRect/>
          </a:stretch>
        </p:blipFill>
        <p:spPr>
          <a:xfrm>
            <a:off x="292608" y="1069848"/>
            <a:ext cx="274320" cy="274320"/>
          </a:xfrm>
          <a:prstGeom prst="rect">
            <a:avLst/>
          </a:prstGeom>
        </p:spPr>
      </p:pic>
      <p:sp>
        <p:nvSpPr>
          <p:cNvPr id="7" name="Text 4"/>
          <p:cNvSpPr/>
          <p:nvPr/>
        </p:nvSpPr>
        <p:spPr>
          <a:xfrm>
            <a:off x="658368" y="1060704"/>
            <a:ext cx="2240280" cy="310896"/>
          </a:xfrm>
          <a:prstGeom prst="rect">
            <a:avLst/>
          </a:prstGeom>
          <a:noFill/>
          <a:ln/>
        </p:spPr>
        <p:txBody>
          <a:bodyPr wrap="square" lIns="0" tIns="0" rIns="0" bIns="0" rtlCol="0" anchor="ctr"/>
          <a:lstStyle/>
          <a:p>
            <a:pPr indent="0" marL="0">
              <a:buNone/>
            </a:pPr>
            <a:r>
              <a:rPr lang="en-US" sz="1100" b="1" dirty="0">
                <a:solidFill>
                  <a:srgbClr val="FFFFFF"/>
                </a:solidFill>
              </a:rPr>
              <a:t>CLIENT TIER</a:t>
            </a:r>
            <a:endParaRPr lang="en-US" sz="1100" dirty="0"/>
          </a:p>
        </p:txBody>
      </p:sp>
      <p:sp>
        <p:nvSpPr>
          <p:cNvPr id="8" name="Shape 5"/>
          <p:cNvSpPr/>
          <p:nvPr/>
        </p:nvSpPr>
        <p:spPr>
          <a:xfrm>
            <a:off x="384048" y="1572768"/>
            <a:ext cx="2423160" cy="512064"/>
          </a:xfrm>
          <a:prstGeom prst="rect">
            <a:avLst/>
          </a:prstGeom>
          <a:solidFill>
            <a:srgbClr val="F4F6F9"/>
          </a:solidFill>
          <a:ln w="6350">
            <a:solidFill>
              <a:srgbClr val="D0DAE4"/>
            </a:solidFill>
            <a:prstDash val="solid"/>
          </a:ln>
        </p:spPr>
      </p:sp>
      <p:sp>
        <p:nvSpPr>
          <p:cNvPr id="9" name="Text 6"/>
          <p:cNvSpPr/>
          <p:nvPr/>
        </p:nvSpPr>
        <p:spPr>
          <a:xfrm>
            <a:off x="457200" y="1591056"/>
            <a:ext cx="2286000" cy="475488"/>
          </a:xfrm>
          <a:prstGeom prst="rect">
            <a:avLst/>
          </a:prstGeom>
          <a:noFill/>
          <a:ln/>
        </p:spPr>
        <p:txBody>
          <a:bodyPr wrap="square" lIns="0" tIns="0" rIns="0" bIns="0" rtlCol="0" anchor="ctr"/>
          <a:lstStyle/>
          <a:p>
            <a:pPr indent="0" marL="0">
              <a:buNone/>
            </a:pPr>
            <a:r>
              <a:rPr lang="en-US" sz="1000" dirty="0">
                <a:solidFill>
                  <a:srgbClr val="0B1F3A"/>
                </a:solidFill>
              </a:rPr>
              <a:t>Browser Interface</a:t>
            </a:r>
            <a:endParaRPr lang="en-US" sz="1000" dirty="0"/>
          </a:p>
        </p:txBody>
      </p:sp>
      <p:sp>
        <p:nvSpPr>
          <p:cNvPr id="10" name="Shape 7"/>
          <p:cNvSpPr/>
          <p:nvPr/>
        </p:nvSpPr>
        <p:spPr>
          <a:xfrm>
            <a:off x="384048" y="2194560"/>
            <a:ext cx="2423160" cy="512064"/>
          </a:xfrm>
          <a:prstGeom prst="rect">
            <a:avLst/>
          </a:prstGeom>
          <a:solidFill>
            <a:srgbClr val="F4F6F9"/>
          </a:solidFill>
          <a:ln w="6350">
            <a:solidFill>
              <a:srgbClr val="D0DAE4"/>
            </a:solidFill>
            <a:prstDash val="solid"/>
          </a:ln>
        </p:spPr>
      </p:sp>
      <p:sp>
        <p:nvSpPr>
          <p:cNvPr id="11" name="Text 8"/>
          <p:cNvSpPr/>
          <p:nvPr/>
        </p:nvSpPr>
        <p:spPr>
          <a:xfrm>
            <a:off x="457200" y="2212848"/>
            <a:ext cx="2286000" cy="475488"/>
          </a:xfrm>
          <a:prstGeom prst="rect">
            <a:avLst/>
          </a:prstGeom>
          <a:noFill/>
          <a:ln/>
        </p:spPr>
        <p:txBody>
          <a:bodyPr wrap="square" lIns="0" tIns="0" rIns="0" bIns="0" rtlCol="0" anchor="ctr"/>
          <a:lstStyle/>
          <a:p>
            <a:pPr indent="0" marL="0">
              <a:buNone/>
            </a:pPr>
            <a:r>
              <a:rPr lang="en-US" sz="1000" dirty="0">
                <a:solidFill>
                  <a:srgbClr val="0B1F3A"/>
                </a:solidFill>
              </a:rPr>
              <a:t>Web Speech API [1]</a:t>
            </a:r>
            <a:endParaRPr lang="en-US" sz="1000" dirty="0"/>
          </a:p>
        </p:txBody>
      </p:sp>
      <p:sp>
        <p:nvSpPr>
          <p:cNvPr id="12" name="Shape 9"/>
          <p:cNvSpPr/>
          <p:nvPr/>
        </p:nvSpPr>
        <p:spPr>
          <a:xfrm>
            <a:off x="384048" y="2816352"/>
            <a:ext cx="2423160" cy="512064"/>
          </a:xfrm>
          <a:prstGeom prst="rect">
            <a:avLst/>
          </a:prstGeom>
          <a:solidFill>
            <a:srgbClr val="F4F6F9"/>
          </a:solidFill>
          <a:ln w="6350">
            <a:solidFill>
              <a:srgbClr val="D0DAE4"/>
            </a:solidFill>
            <a:prstDash val="solid"/>
          </a:ln>
        </p:spPr>
      </p:sp>
      <p:sp>
        <p:nvSpPr>
          <p:cNvPr id="13" name="Text 10"/>
          <p:cNvSpPr/>
          <p:nvPr/>
        </p:nvSpPr>
        <p:spPr>
          <a:xfrm>
            <a:off x="457200" y="2834640"/>
            <a:ext cx="2286000" cy="475488"/>
          </a:xfrm>
          <a:prstGeom prst="rect">
            <a:avLst/>
          </a:prstGeom>
          <a:noFill/>
          <a:ln/>
        </p:spPr>
        <p:txBody>
          <a:bodyPr wrap="square" lIns="0" tIns="0" rIns="0" bIns="0" rtlCol="0" anchor="ctr"/>
          <a:lstStyle/>
          <a:p>
            <a:pPr indent="0" marL="0">
              <a:buNone/>
            </a:pPr>
            <a:r>
              <a:rPr lang="en-US" sz="1000" dirty="0">
                <a:solidFill>
                  <a:srgbClr val="0B1F3A"/>
                </a:solidFill>
              </a:rPr>
              <a:t>Monaco Editor [3]</a:t>
            </a:r>
            <a:endParaRPr lang="en-US" sz="1000" dirty="0"/>
          </a:p>
        </p:txBody>
      </p:sp>
      <p:sp>
        <p:nvSpPr>
          <p:cNvPr id="14" name="Shape 11"/>
          <p:cNvSpPr/>
          <p:nvPr/>
        </p:nvSpPr>
        <p:spPr>
          <a:xfrm>
            <a:off x="384048" y="3438144"/>
            <a:ext cx="2423160" cy="512064"/>
          </a:xfrm>
          <a:prstGeom prst="rect">
            <a:avLst/>
          </a:prstGeom>
          <a:solidFill>
            <a:srgbClr val="F4F6F9"/>
          </a:solidFill>
          <a:ln w="6350">
            <a:solidFill>
              <a:srgbClr val="D0DAE4"/>
            </a:solidFill>
            <a:prstDash val="solid"/>
          </a:ln>
        </p:spPr>
      </p:sp>
      <p:sp>
        <p:nvSpPr>
          <p:cNvPr id="15" name="Text 12"/>
          <p:cNvSpPr/>
          <p:nvPr/>
        </p:nvSpPr>
        <p:spPr>
          <a:xfrm>
            <a:off x="457200" y="3456432"/>
            <a:ext cx="2286000" cy="475488"/>
          </a:xfrm>
          <a:prstGeom prst="rect">
            <a:avLst/>
          </a:prstGeom>
          <a:noFill/>
          <a:ln/>
        </p:spPr>
        <p:txBody>
          <a:bodyPr wrap="square" lIns="0" tIns="0" rIns="0" bIns="0" rtlCol="0" anchor="ctr"/>
          <a:lstStyle/>
          <a:p>
            <a:pPr indent="0" marL="0">
              <a:buNone/>
            </a:pPr>
            <a:r>
              <a:rPr lang="en-US" sz="1000" dirty="0">
                <a:solidFill>
                  <a:srgbClr val="0B1F3A"/>
                </a:solidFill>
              </a:rPr>
              <a:t>Urdu TTS Output</a:t>
            </a:r>
            <a:endParaRPr lang="en-US" sz="1000" dirty="0"/>
          </a:p>
        </p:txBody>
      </p:sp>
      <p:sp>
        <p:nvSpPr>
          <p:cNvPr id="16" name="Shape 13"/>
          <p:cNvSpPr/>
          <p:nvPr/>
        </p:nvSpPr>
        <p:spPr>
          <a:xfrm>
            <a:off x="2990088" y="2743200"/>
            <a:ext cx="155448" cy="54864"/>
          </a:xfrm>
          <a:prstGeom prst="rect">
            <a:avLst/>
          </a:prstGeom>
          <a:solidFill>
            <a:srgbClr val="546E7A"/>
          </a:solidFill>
          <a:ln w="12700">
            <a:solidFill>
              <a:srgbClr val="546E7A"/>
            </a:solidFill>
            <a:prstDash val="solid"/>
          </a:ln>
        </p:spPr>
      </p:sp>
      <p:sp>
        <p:nvSpPr>
          <p:cNvPr id="17" name="Text 14"/>
          <p:cNvSpPr/>
          <p:nvPr/>
        </p:nvSpPr>
        <p:spPr>
          <a:xfrm>
            <a:off x="3026664" y="2606040"/>
            <a:ext cx="182880" cy="320040"/>
          </a:xfrm>
          <a:prstGeom prst="rect">
            <a:avLst/>
          </a:prstGeom>
          <a:noFill/>
          <a:ln/>
        </p:spPr>
        <p:txBody>
          <a:bodyPr wrap="square" lIns="0" tIns="0" rIns="0" bIns="0" rtlCol="0" anchor="ctr"/>
          <a:lstStyle/>
          <a:p>
            <a:pPr algn="ctr" indent="0" marL="0">
              <a:buNone/>
            </a:pPr>
            <a:r>
              <a:rPr lang="en-US" sz="1400" dirty="0">
                <a:solidFill>
                  <a:srgbClr val="546E7A"/>
                </a:solidFill>
              </a:rPr>
              <a:t>→</a:t>
            </a:r>
            <a:endParaRPr lang="en-US" sz="1400" dirty="0"/>
          </a:p>
        </p:txBody>
      </p:sp>
      <p:sp>
        <p:nvSpPr>
          <p:cNvPr id="18" name="Shape 15"/>
          <p:cNvSpPr/>
          <p:nvPr/>
        </p:nvSpPr>
        <p:spPr>
          <a:xfrm>
            <a:off x="3145536" y="1005840"/>
            <a:ext cx="2788920" cy="3767328"/>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9" name="Shape 16"/>
          <p:cNvSpPr/>
          <p:nvPr/>
        </p:nvSpPr>
        <p:spPr>
          <a:xfrm>
            <a:off x="3145536" y="1005840"/>
            <a:ext cx="2788920" cy="402336"/>
          </a:xfrm>
          <a:prstGeom prst="rect">
            <a:avLst/>
          </a:prstGeom>
          <a:solidFill>
            <a:srgbClr val="F57C00"/>
          </a:solidFill>
          <a:ln w="12700">
            <a:solidFill>
              <a:srgbClr val="F57C00"/>
            </a:solidFill>
            <a:prstDash val="solid"/>
          </a:ln>
        </p:spPr>
      </p:sp>
      <p:pic>
        <p:nvPicPr>
          <p:cNvPr id="20" name="Image 1" descr="preencoded.png">    </p:cNvPr>
          <p:cNvPicPr>
            <a:picLocks noChangeAspect="1"/>
          </p:cNvPicPr>
          <p:nvPr/>
        </p:nvPicPr>
        <p:blipFill>
          <a:blip r:embed="rId2"/>
          <a:stretch>
            <a:fillRect/>
          </a:stretch>
        </p:blipFill>
        <p:spPr>
          <a:xfrm>
            <a:off x="3236976" y="1069848"/>
            <a:ext cx="274320" cy="274320"/>
          </a:xfrm>
          <a:prstGeom prst="rect">
            <a:avLst/>
          </a:prstGeom>
        </p:spPr>
      </p:pic>
      <p:sp>
        <p:nvSpPr>
          <p:cNvPr id="21" name="Text 17"/>
          <p:cNvSpPr/>
          <p:nvPr/>
        </p:nvSpPr>
        <p:spPr>
          <a:xfrm>
            <a:off x="3602736" y="1060704"/>
            <a:ext cx="2240280" cy="310896"/>
          </a:xfrm>
          <a:prstGeom prst="rect">
            <a:avLst/>
          </a:prstGeom>
          <a:noFill/>
          <a:ln/>
        </p:spPr>
        <p:txBody>
          <a:bodyPr wrap="square" lIns="0" tIns="0" rIns="0" bIns="0" rtlCol="0" anchor="ctr"/>
          <a:lstStyle/>
          <a:p>
            <a:pPr indent="0" marL="0">
              <a:buNone/>
            </a:pPr>
            <a:r>
              <a:rPr lang="en-US" sz="1100" b="1" dirty="0">
                <a:solidFill>
                  <a:srgbClr val="FFFFFF"/>
                </a:solidFill>
              </a:rPr>
              <a:t>APPLICATION TIER</a:t>
            </a:r>
            <a:endParaRPr lang="en-US" sz="1100" dirty="0"/>
          </a:p>
        </p:txBody>
      </p:sp>
      <p:sp>
        <p:nvSpPr>
          <p:cNvPr id="22" name="Shape 18"/>
          <p:cNvSpPr/>
          <p:nvPr/>
        </p:nvSpPr>
        <p:spPr>
          <a:xfrm>
            <a:off x="3328416" y="1572768"/>
            <a:ext cx="2423160" cy="512064"/>
          </a:xfrm>
          <a:prstGeom prst="rect">
            <a:avLst/>
          </a:prstGeom>
          <a:solidFill>
            <a:srgbClr val="F4F6F9"/>
          </a:solidFill>
          <a:ln w="6350">
            <a:solidFill>
              <a:srgbClr val="D0DAE4"/>
            </a:solidFill>
            <a:prstDash val="solid"/>
          </a:ln>
        </p:spPr>
      </p:sp>
      <p:sp>
        <p:nvSpPr>
          <p:cNvPr id="23" name="Text 19"/>
          <p:cNvSpPr/>
          <p:nvPr/>
        </p:nvSpPr>
        <p:spPr>
          <a:xfrm>
            <a:off x="3401568" y="1591056"/>
            <a:ext cx="2286000" cy="475488"/>
          </a:xfrm>
          <a:prstGeom prst="rect">
            <a:avLst/>
          </a:prstGeom>
          <a:noFill/>
          <a:ln/>
        </p:spPr>
        <p:txBody>
          <a:bodyPr wrap="square" lIns="0" tIns="0" rIns="0" bIns="0" rtlCol="0" anchor="ctr"/>
          <a:lstStyle/>
          <a:p>
            <a:pPr indent="0" marL="0">
              <a:buNone/>
            </a:pPr>
            <a:r>
              <a:rPr lang="en-US" sz="1000" dirty="0">
                <a:solidFill>
                  <a:srgbClr val="0B1F3A"/>
                </a:solidFill>
              </a:rPr>
              <a:t>Voice Processor</a:t>
            </a:r>
            <a:endParaRPr lang="en-US" sz="1000" dirty="0"/>
          </a:p>
        </p:txBody>
      </p:sp>
      <p:sp>
        <p:nvSpPr>
          <p:cNvPr id="24" name="Shape 20"/>
          <p:cNvSpPr/>
          <p:nvPr/>
        </p:nvSpPr>
        <p:spPr>
          <a:xfrm>
            <a:off x="3328416" y="2194560"/>
            <a:ext cx="2423160" cy="512064"/>
          </a:xfrm>
          <a:prstGeom prst="rect">
            <a:avLst/>
          </a:prstGeom>
          <a:solidFill>
            <a:srgbClr val="F4F6F9"/>
          </a:solidFill>
          <a:ln w="6350">
            <a:solidFill>
              <a:srgbClr val="D0DAE4"/>
            </a:solidFill>
            <a:prstDash val="solid"/>
          </a:ln>
        </p:spPr>
      </p:sp>
      <p:sp>
        <p:nvSpPr>
          <p:cNvPr id="25" name="Text 21"/>
          <p:cNvSpPr/>
          <p:nvPr/>
        </p:nvSpPr>
        <p:spPr>
          <a:xfrm>
            <a:off x="3401568" y="2212848"/>
            <a:ext cx="2286000" cy="475488"/>
          </a:xfrm>
          <a:prstGeom prst="rect">
            <a:avLst/>
          </a:prstGeom>
          <a:noFill/>
          <a:ln/>
        </p:spPr>
        <p:txBody>
          <a:bodyPr wrap="square" lIns="0" tIns="0" rIns="0" bIns="0" rtlCol="0" anchor="ctr"/>
          <a:lstStyle/>
          <a:p>
            <a:pPr indent="0" marL="0">
              <a:buNone/>
            </a:pPr>
            <a:r>
              <a:rPr lang="en-US" sz="1000" dirty="0">
                <a:solidFill>
                  <a:srgbClr val="0B1F3A"/>
                </a:solidFill>
              </a:rPr>
              <a:t>Command Parser (L1/L2/L3)</a:t>
            </a:r>
            <a:endParaRPr lang="en-US" sz="1000" dirty="0"/>
          </a:p>
        </p:txBody>
      </p:sp>
      <p:sp>
        <p:nvSpPr>
          <p:cNvPr id="26" name="Shape 22"/>
          <p:cNvSpPr/>
          <p:nvPr/>
        </p:nvSpPr>
        <p:spPr>
          <a:xfrm>
            <a:off x="3328416" y="2816352"/>
            <a:ext cx="2423160" cy="512064"/>
          </a:xfrm>
          <a:prstGeom prst="rect">
            <a:avLst/>
          </a:prstGeom>
          <a:solidFill>
            <a:srgbClr val="F4F6F9"/>
          </a:solidFill>
          <a:ln w="6350">
            <a:solidFill>
              <a:srgbClr val="D0DAE4"/>
            </a:solidFill>
            <a:prstDash val="solid"/>
          </a:ln>
        </p:spPr>
      </p:sp>
      <p:sp>
        <p:nvSpPr>
          <p:cNvPr id="27" name="Text 23"/>
          <p:cNvSpPr/>
          <p:nvPr/>
        </p:nvSpPr>
        <p:spPr>
          <a:xfrm>
            <a:off x="3401568" y="2834640"/>
            <a:ext cx="2286000" cy="475488"/>
          </a:xfrm>
          <a:prstGeom prst="rect">
            <a:avLst/>
          </a:prstGeom>
          <a:noFill/>
          <a:ln/>
        </p:spPr>
        <p:txBody>
          <a:bodyPr wrap="square" lIns="0" tIns="0" rIns="0" bIns="0" rtlCol="0" anchor="ctr"/>
          <a:lstStyle/>
          <a:p>
            <a:pPr indent="0" marL="0">
              <a:buNone/>
            </a:pPr>
            <a:r>
              <a:rPr lang="en-US" sz="1000" dirty="0">
                <a:solidFill>
                  <a:srgbClr val="0B1F3A"/>
                </a:solidFill>
              </a:rPr>
              <a:t>GPT-4o AI Engine [12]</a:t>
            </a:r>
            <a:endParaRPr lang="en-US" sz="1000" dirty="0"/>
          </a:p>
        </p:txBody>
      </p:sp>
      <p:sp>
        <p:nvSpPr>
          <p:cNvPr id="28" name="Shape 24"/>
          <p:cNvSpPr/>
          <p:nvPr/>
        </p:nvSpPr>
        <p:spPr>
          <a:xfrm>
            <a:off x="3328416" y="3438144"/>
            <a:ext cx="2423160" cy="512064"/>
          </a:xfrm>
          <a:prstGeom prst="rect">
            <a:avLst/>
          </a:prstGeom>
          <a:solidFill>
            <a:srgbClr val="F4F6F9"/>
          </a:solidFill>
          <a:ln w="6350">
            <a:solidFill>
              <a:srgbClr val="D0DAE4"/>
            </a:solidFill>
            <a:prstDash val="solid"/>
          </a:ln>
        </p:spPr>
      </p:sp>
      <p:sp>
        <p:nvSpPr>
          <p:cNvPr id="29" name="Text 25"/>
          <p:cNvSpPr/>
          <p:nvPr/>
        </p:nvSpPr>
        <p:spPr>
          <a:xfrm>
            <a:off x="3401568" y="3456432"/>
            <a:ext cx="2286000" cy="475488"/>
          </a:xfrm>
          <a:prstGeom prst="rect">
            <a:avLst/>
          </a:prstGeom>
          <a:noFill/>
          <a:ln/>
        </p:spPr>
        <p:txBody>
          <a:bodyPr wrap="square" lIns="0" tIns="0" rIns="0" bIns="0" rtlCol="0" anchor="ctr"/>
          <a:lstStyle/>
          <a:p>
            <a:pPr indent="0" marL="0">
              <a:buNone/>
            </a:pPr>
            <a:r>
              <a:rPr lang="en-US" sz="1000" dirty="0">
                <a:solidFill>
                  <a:srgbClr val="0B1F3A"/>
                </a:solidFill>
              </a:rPr>
              <a:t>Node.js + Express [14]</a:t>
            </a:r>
            <a:endParaRPr lang="en-US" sz="1000" dirty="0"/>
          </a:p>
        </p:txBody>
      </p:sp>
      <p:sp>
        <p:nvSpPr>
          <p:cNvPr id="30" name="Shape 26"/>
          <p:cNvSpPr/>
          <p:nvPr/>
        </p:nvSpPr>
        <p:spPr>
          <a:xfrm>
            <a:off x="3328416" y="4059936"/>
            <a:ext cx="2423160" cy="512064"/>
          </a:xfrm>
          <a:prstGeom prst="rect">
            <a:avLst/>
          </a:prstGeom>
          <a:solidFill>
            <a:srgbClr val="F4F6F9"/>
          </a:solidFill>
          <a:ln w="6350">
            <a:solidFill>
              <a:srgbClr val="D0DAE4"/>
            </a:solidFill>
            <a:prstDash val="solid"/>
          </a:ln>
        </p:spPr>
      </p:sp>
      <p:sp>
        <p:nvSpPr>
          <p:cNvPr id="31" name="Text 27"/>
          <p:cNvSpPr/>
          <p:nvPr/>
        </p:nvSpPr>
        <p:spPr>
          <a:xfrm>
            <a:off x="3401568" y="4078224"/>
            <a:ext cx="2286000" cy="475488"/>
          </a:xfrm>
          <a:prstGeom prst="rect">
            <a:avLst/>
          </a:prstGeom>
          <a:noFill/>
          <a:ln/>
        </p:spPr>
        <p:txBody>
          <a:bodyPr wrap="square" lIns="0" tIns="0" rIns="0" bIns="0" rtlCol="0" anchor="ctr"/>
          <a:lstStyle/>
          <a:p>
            <a:pPr indent="0" marL="0">
              <a:buNone/>
            </a:pPr>
            <a:r>
              <a:rPr lang="en-US" sz="1000" dirty="0">
                <a:solidFill>
                  <a:srgbClr val="0B1F3A"/>
                </a:solidFill>
              </a:rPr>
              <a:t>JWT Auth [7]</a:t>
            </a:r>
            <a:endParaRPr lang="en-US" sz="1000" dirty="0"/>
          </a:p>
        </p:txBody>
      </p:sp>
      <p:sp>
        <p:nvSpPr>
          <p:cNvPr id="32" name="Shape 28"/>
          <p:cNvSpPr/>
          <p:nvPr/>
        </p:nvSpPr>
        <p:spPr>
          <a:xfrm>
            <a:off x="5934456" y="2743200"/>
            <a:ext cx="155448" cy="54864"/>
          </a:xfrm>
          <a:prstGeom prst="rect">
            <a:avLst/>
          </a:prstGeom>
          <a:solidFill>
            <a:srgbClr val="546E7A"/>
          </a:solidFill>
          <a:ln w="12700">
            <a:solidFill>
              <a:srgbClr val="546E7A"/>
            </a:solidFill>
            <a:prstDash val="solid"/>
          </a:ln>
        </p:spPr>
      </p:sp>
      <p:sp>
        <p:nvSpPr>
          <p:cNvPr id="33" name="Text 29"/>
          <p:cNvSpPr/>
          <p:nvPr/>
        </p:nvSpPr>
        <p:spPr>
          <a:xfrm>
            <a:off x="5971032" y="2606040"/>
            <a:ext cx="182880" cy="320040"/>
          </a:xfrm>
          <a:prstGeom prst="rect">
            <a:avLst/>
          </a:prstGeom>
          <a:noFill/>
          <a:ln/>
        </p:spPr>
        <p:txBody>
          <a:bodyPr wrap="square" lIns="0" tIns="0" rIns="0" bIns="0" rtlCol="0" anchor="ctr"/>
          <a:lstStyle/>
          <a:p>
            <a:pPr algn="ctr" indent="0" marL="0">
              <a:buNone/>
            </a:pPr>
            <a:r>
              <a:rPr lang="en-US" sz="1400" dirty="0">
                <a:solidFill>
                  <a:srgbClr val="546E7A"/>
                </a:solidFill>
              </a:rPr>
              <a:t>→</a:t>
            </a:r>
            <a:endParaRPr lang="en-US" sz="1400" dirty="0"/>
          </a:p>
        </p:txBody>
      </p:sp>
      <p:sp>
        <p:nvSpPr>
          <p:cNvPr id="34" name="Shape 30"/>
          <p:cNvSpPr/>
          <p:nvPr/>
        </p:nvSpPr>
        <p:spPr>
          <a:xfrm>
            <a:off x="6089904" y="1005840"/>
            <a:ext cx="2788920" cy="3767328"/>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35" name="Shape 31"/>
          <p:cNvSpPr/>
          <p:nvPr/>
        </p:nvSpPr>
        <p:spPr>
          <a:xfrm>
            <a:off x="6089904" y="1005840"/>
            <a:ext cx="2788920" cy="402336"/>
          </a:xfrm>
          <a:prstGeom prst="rect">
            <a:avLst/>
          </a:prstGeom>
          <a:solidFill>
            <a:srgbClr val="00ACC1"/>
          </a:solidFill>
          <a:ln w="12700">
            <a:solidFill>
              <a:srgbClr val="00ACC1"/>
            </a:solidFill>
            <a:prstDash val="solid"/>
          </a:ln>
        </p:spPr>
      </p:sp>
      <p:pic>
        <p:nvPicPr>
          <p:cNvPr id="36" name="Image 2" descr="preencoded.png">    </p:cNvPr>
          <p:cNvPicPr>
            <a:picLocks noChangeAspect="1"/>
          </p:cNvPicPr>
          <p:nvPr/>
        </p:nvPicPr>
        <p:blipFill>
          <a:blip r:embed="rId3"/>
          <a:stretch>
            <a:fillRect/>
          </a:stretch>
        </p:blipFill>
        <p:spPr>
          <a:xfrm>
            <a:off x="6181344" y="1069848"/>
            <a:ext cx="274320" cy="274320"/>
          </a:xfrm>
          <a:prstGeom prst="rect">
            <a:avLst/>
          </a:prstGeom>
        </p:spPr>
      </p:pic>
      <p:sp>
        <p:nvSpPr>
          <p:cNvPr id="37" name="Text 32"/>
          <p:cNvSpPr/>
          <p:nvPr/>
        </p:nvSpPr>
        <p:spPr>
          <a:xfrm>
            <a:off x="6547104" y="1060704"/>
            <a:ext cx="2240280" cy="310896"/>
          </a:xfrm>
          <a:prstGeom prst="rect">
            <a:avLst/>
          </a:prstGeom>
          <a:noFill/>
          <a:ln/>
        </p:spPr>
        <p:txBody>
          <a:bodyPr wrap="square" lIns="0" tIns="0" rIns="0" bIns="0" rtlCol="0" anchor="ctr"/>
          <a:lstStyle/>
          <a:p>
            <a:pPr indent="0" marL="0">
              <a:buNone/>
            </a:pPr>
            <a:r>
              <a:rPr lang="en-US" sz="1100" b="1" dirty="0">
                <a:solidFill>
                  <a:srgbClr val="FFFFFF"/>
                </a:solidFill>
              </a:rPr>
              <a:t>EXTERNAL SERVICES</a:t>
            </a:r>
            <a:endParaRPr lang="en-US" sz="1100" dirty="0"/>
          </a:p>
        </p:txBody>
      </p:sp>
      <p:sp>
        <p:nvSpPr>
          <p:cNvPr id="38" name="Shape 33"/>
          <p:cNvSpPr/>
          <p:nvPr/>
        </p:nvSpPr>
        <p:spPr>
          <a:xfrm>
            <a:off x="6272784" y="1572768"/>
            <a:ext cx="2423160" cy="512064"/>
          </a:xfrm>
          <a:prstGeom prst="rect">
            <a:avLst/>
          </a:prstGeom>
          <a:solidFill>
            <a:srgbClr val="F4F6F9"/>
          </a:solidFill>
          <a:ln w="6350">
            <a:solidFill>
              <a:srgbClr val="D0DAE4"/>
            </a:solidFill>
            <a:prstDash val="solid"/>
          </a:ln>
        </p:spPr>
      </p:sp>
      <p:sp>
        <p:nvSpPr>
          <p:cNvPr id="39" name="Text 34"/>
          <p:cNvSpPr/>
          <p:nvPr/>
        </p:nvSpPr>
        <p:spPr>
          <a:xfrm>
            <a:off x="6345936" y="1591056"/>
            <a:ext cx="2286000" cy="475488"/>
          </a:xfrm>
          <a:prstGeom prst="rect">
            <a:avLst/>
          </a:prstGeom>
          <a:noFill/>
          <a:ln/>
        </p:spPr>
        <p:txBody>
          <a:bodyPr wrap="square" lIns="0" tIns="0" rIns="0" bIns="0" rtlCol="0" anchor="ctr"/>
          <a:lstStyle/>
          <a:p>
            <a:pPr indent="0" marL="0">
              <a:buNone/>
            </a:pPr>
            <a:r>
              <a:rPr lang="en-US" sz="1000" dirty="0">
                <a:solidFill>
                  <a:srgbClr val="0B1F3A"/>
                </a:solidFill>
              </a:rPr>
              <a:t>Paiza.io API [2]</a:t>
            </a:r>
            <a:endParaRPr lang="en-US" sz="1000" dirty="0"/>
          </a:p>
        </p:txBody>
      </p:sp>
      <p:sp>
        <p:nvSpPr>
          <p:cNvPr id="40" name="Shape 35"/>
          <p:cNvSpPr/>
          <p:nvPr/>
        </p:nvSpPr>
        <p:spPr>
          <a:xfrm>
            <a:off x="6272784" y="2194560"/>
            <a:ext cx="2423160" cy="512064"/>
          </a:xfrm>
          <a:prstGeom prst="rect">
            <a:avLst/>
          </a:prstGeom>
          <a:solidFill>
            <a:srgbClr val="F4F6F9"/>
          </a:solidFill>
          <a:ln w="6350">
            <a:solidFill>
              <a:srgbClr val="D0DAE4"/>
            </a:solidFill>
            <a:prstDash val="solid"/>
          </a:ln>
        </p:spPr>
      </p:sp>
      <p:sp>
        <p:nvSpPr>
          <p:cNvPr id="41" name="Text 36"/>
          <p:cNvSpPr/>
          <p:nvPr/>
        </p:nvSpPr>
        <p:spPr>
          <a:xfrm>
            <a:off x="6345936" y="2212848"/>
            <a:ext cx="2286000" cy="475488"/>
          </a:xfrm>
          <a:prstGeom prst="rect">
            <a:avLst/>
          </a:prstGeom>
          <a:noFill/>
          <a:ln/>
        </p:spPr>
        <p:txBody>
          <a:bodyPr wrap="square" lIns="0" tIns="0" rIns="0" bIns="0" rtlCol="0" anchor="ctr"/>
          <a:lstStyle/>
          <a:p>
            <a:pPr indent="0" marL="0">
              <a:buNone/>
            </a:pPr>
            <a:r>
              <a:rPr lang="en-US" sz="1000" dirty="0">
                <a:solidFill>
                  <a:srgbClr val="0B1F3A"/>
                </a:solidFill>
              </a:rPr>
              <a:t>JDoodle API [8]</a:t>
            </a:r>
            <a:endParaRPr lang="en-US" sz="1000" dirty="0"/>
          </a:p>
        </p:txBody>
      </p:sp>
      <p:sp>
        <p:nvSpPr>
          <p:cNvPr id="42" name="Shape 37"/>
          <p:cNvSpPr/>
          <p:nvPr/>
        </p:nvSpPr>
        <p:spPr>
          <a:xfrm>
            <a:off x="6272784" y="2816352"/>
            <a:ext cx="2423160" cy="512064"/>
          </a:xfrm>
          <a:prstGeom prst="rect">
            <a:avLst/>
          </a:prstGeom>
          <a:solidFill>
            <a:srgbClr val="F4F6F9"/>
          </a:solidFill>
          <a:ln w="6350">
            <a:solidFill>
              <a:srgbClr val="D0DAE4"/>
            </a:solidFill>
            <a:prstDash val="solid"/>
          </a:ln>
        </p:spPr>
      </p:sp>
      <p:sp>
        <p:nvSpPr>
          <p:cNvPr id="43" name="Text 38"/>
          <p:cNvSpPr/>
          <p:nvPr/>
        </p:nvSpPr>
        <p:spPr>
          <a:xfrm>
            <a:off x="6345936" y="2834640"/>
            <a:ext cx="2286000" cy="475488"/>
          </a:xfrm>
          <a:prstGeom prst="rect">
            <a:avLst/>
          </a:prstGeom>
          <a:noFill/>
          <a:ln/>
        </p:spPr>
        <p:txBody>
          <a:bodyPr wrap="square" lIns="0" tIns="0" rIns="0" bIns="0" rtlCol="0" anchor="ctr"/>
          <a:lstStyle/>
          <a:p>
            <a:pPr indent="0" marL="0">
              <a:buNone/>
            </a:pPr>
            <a:r>
              <a:rPr lang="en-US" sz="1000" dirty="0">
                <a:solidFill>
                  <a:srgbClr val="0B1F3A"/>
                </a:solidFill>
              </a:rPr>
              <a:t>Judge0 API</a:t>
            </a:r>
            <a:endParaRPr lang="en-US" sz="1000" dirty="0"/>
          </a:p>
        </p:txBody>
      </p:sp>
      <p:sp>
        <p:nvSpPr>
          <p:cNvPr id="44" name="Shape 39"/>
          <p:cNvSpPr/>
          <p:nvPr/>
        </p:nvSpPr>
        <p:spPr>
          <a:xfrm>
            <a:off x="6272784" y="3438144"/>
            <a:ext cx="2423160" cy="512064"/>
          </a:xfrm>
          <a:prstGeom prst="rect">
            <a:avLst/>
          </a:prstGeom>
          <a:solidFill>
            <a:srgbClr val="F4F6F9"/>
          </a:solidFill>
          <a:ln w="6350">
            <a:solidFill>
              <a:srgbClr val="D0DAE4"/>
            </a:solidFill>
            <a:prstDash val="solid"/>
          </a:ln>
        </p:spPr>
      </p:sp>
      <p:sp>
        <p:nvSpPr>
          <p:cNvPr id="45" name="Text 40"/>
          <p:cNvSpPr/>
          <p:nvPr/>
        </p:nvSpPr>
        <p:spPr>
          <a:xfrm>
            <a:off x="6345936" y="3456432"/>
            <a:ext cx="2286000" cy="475488"/>
          </a:xfrm>
          <a:prstGeom prst="rect">
            <a:avLst/>
          </a:prstGeom>
          <a:noFill/>
          <a:ln/>
        </p:spPr>
        <p:txBody>
          <a:bodyPr wrap="square" lIns="0" tIns="0" rIns="0" bIns="0" rtlCol="0" anchor="ctr"/>
          <a:lstStyle/>
          <a:p>
            <a:pPr indent="0" marL="0">
              <a:buNone/>
            </a:pPr>
            <a:r>
              <a:rPr lang="en-US" sz="1000" dirty="0">
                <a:solidFill>
                  <a:srgbClr val="0B1F3A"/>
                </a:solidFill>
              </a:rPr>
              <a:t>Supabase PostgreSQL [13]</a:t>
            </a:r>
            <a:endParaRPr lang="en-US" sz="1000" dirty="0"/>
          </a:p>
        </p:txBody>
      </p:sp>
      <p:sp>
        <p:nvSpPr>
          <p:cNvPr id="46" name="Shape 41"/>
          <p:cNvSpPr/>
          <p:nvPr/>
        </p:nvSpPr>
        <p:spPr>
          <a:xfrm>
            <a:off x="6272784" y="4059936"/>
            <a:ext cx="2423160" cy="512064"/>
          </a:xfrm>
          <a:prstGeom prst="rect">
            <a:avLst/>
          </a:prstGeom>
          <a:solidFill>
            <a:srgbClr val="F4F6F9"/>
          </a:solidFill>
          <a:ln w="6350">
            <a:solidFill>
              <a:srgbClr val="D0DAE4"/>
            </a:solidFill>
            <a:prstDash val="solid"/>
          </a:ln>
        </p:spPr>
      </p:sp>
      <p:sp>
        <p:nvSpPr>
          <p:cNvPr id="47" name="Text 42"/>
          <p:cNvSpPr/>
          <p:nvPr/>
        </p:nvSpPr>
        <p:spPr>
          <a:xfrm>
            <a:off x="6345936" y="4078224"/>
            <a:ext cx="2286000" cy="475488"/>
          </a:xfrm>
          <a:prstGeom prst="rect">
            <a:avLst/>
          </a:prstGeom>
          <a:noFill/>
          <a:ln/>
        </p:spPr>
        <p:txBody>
          <a:bodyPr wrap="square" lIns="0" tIns="0" rIns="0" bIns="0" rtlCol="0" anchor="ctr"/>
          <a:lstStyle/>
          <a:p>
            <a:pPr indent="0" marL="0">
              <a:buNone/>
            </a:pPr>
            <a:r>
              <a:rPr lang="en-US" sz="1000" dirty="0">
                <a:solidFill>
                  <a:srgbClr val="0B1F3A"/>
                </a:solidFill>
              </a:rPr>
              <a:t>Railway Hosting [14]</a:t>
            </a:r>
            <a:endParaRPr lang="en-US" sz="1000" dirty="0"/>
          </a:p>
        </p:txBody>
      </p:sp>
      <p:sp>
        <p:nvSpPr>
          <p:cNvPr id="48" name="Text 43"/>
          <p:cNvSpPr/>
          <p:nvPr/>
        </p:nvSpPr>
        <p:spPr>
          <a:xfrm>
            <a:off x="228600" y="4846320"/>
            <a:ext cx="8686800" cy="228600"/>
          </a:xfrm>
          <a:prstGeom prst="rect">
            <a:avLst/>
          </a:prstGeom>
          <a:noFill/>
          <a:ln/>
        </p:spPr>
        <p:txBody>
          <a:bodyPr wrap="square" lIns="0" tIns="0" rIns="0" bIns="0" rtlCol="0" anchor="ctr"/>
          <a:lstStyle/>
          <a:p>
            <a:pPr algn="ctr" indent="0" marL="0">
              <a:buNone/>
            </a:pPr>
            <a:r>
              <a:rPr lang="en-US" sz="850" i="1" dirty="0">
                <a:solidFill>
                  <a:srgbClr val="546E7A"/>
                </a:solidFill>
              </a:rPr>
              <a:t>All communications use HTTPS/TLS encryption [7]  •  API keys stored server-side only on Railway [14]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SDS: Sub-Component Architecture</a:t>
            </a:r>
            <a:endParaRPr lang="en-US" sz="2600" dirty="0"/>
          </a:p>
        </p:txBody>
      </p:sp>
      <p:sp>
        <p:nvSpPr>
          <p:cNvPr id="4" name="Shape 2"/>
          <p:cNvSpPr/>
          <p:nvPr/>
        </p:nvSpPr>
        <p:spPr>
          <a:xfrm>
            <a:off x="201168" y="1005840"/>
            <a:ext cx="4279392" cy="126187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01168" y="1005840"/>
            <a:ext cx="384048" cy="1261872"/>
          </a:xfrm>
          <a:prstGeom prst="rect">
            <a:avLst/>
          </a:prstGeom>
          <a:solidFill>
            <a:srgbClr val="1565C0"/>
          </a:solidFill>
          <a:ln w="12700">
            <a:solidFill>
              <a:srgbClr val="1565C0"/>
            </a:solidFill>
            <a:prstDash val="solid"/>
          </a:ln>
        </p:spPr>
      </p:sp>
      <p:pic>
        <p:nvPicPr>
          <p:cNvPr id="6" name="Image 0" descr="preencoded.png">    </p:cNvPr>
          <p:cNvPicPr>
            <a:picLocks noChangeAspect="1"/>
          </p:cNvPicPr>
          <p:nvPr/>
        </p:nvPicPr>
        <p:blipFill>
          <a:blip r:embed="rId1"/>
          <a:stretch>
            <a:fillRect/>
          </a:stretch>
        </p:blipFill>
        <p:spPr>
          <a:xfrm>
            <a:off x="246888" y="1371600"/>
            <a:ext cx="292608" cy="292608"/>
          </a:xfrm>
          <a:prstGeom prst="rect">
            <a:avLst/>
          </a:prstGeom>
        </p:spPr>
      </p:pic>
      <p:sp>
        <p:nvSpPr>
          <p:cNvPr id="7" name="Text 4"/>
          <p:cNvSpPr/>
          <p:nvPr/>
        </p:nvSpPr>
        <p:spPr>
          <a:xfrm>
            <a:off x="676656" y="1078992"/>
            <a:ext cx="3703320" cy="329184"/>
          </a:xfrm>
          <a:prstGeom prst="rect">
            <a:avLst/>
          </a:prstGeom>
          <a:noFill/>
          <a:ln/>
        </p:spPr>
        <p:txBody>
          <a:bodyPr wrap="square" lIns="0" tIns="0" rIns="0" bIns="0" rtlCol="0" anchor="ctr"/>
          <a:lstStyle/>
          <a:p>
            <a:pPr indent="0" marL="0">
              <a:buNone/>
            </a:pPr>
            <a:r>
              <a:rPr lang="en-US" sz="1100" b="1" dirty="0">
                <a:solidFill>
                  <a:srgbClr val="0B1F3A"/>
                </a:solidFill>
              </a:rPr>
              <a:t>A. Speech Processing</a:t>
            </a:r>
            <a:endParaRPr lang="en-US" sz="1100" dirty="0"/>
          </a:p>
        </p:txBody>
      </p:sp>
      <p:sp>
        <p:nvSpPr>
          <p:cNvPr id="8" name="Shape 5"/>
          <p:cNvSpPr/>
          <p:nvPr/>
        </p:nvSpPr>
        <p:spPr>
          <a:xfrm>
            <a:off x="704088" y="1508760"/>
            <a:ext cx="73152" cy="73152"/>
          </a:xfrm>
          <a:prstGeom prst="ellipse">
            <a:avLst/>
          </a:prstGeom>
          <a:solidFill>
            <a:srgbClr val="1565C0"/>
          </a:solidFill>
          <a:ln w="12700">
            <a:solidFill>
              <a:srgbClr val="1565C0"/>
            </a:solidFill>
            <a:prstDash val="solid"/>
          </a:ln>
        </p:spPr>
      </p:sp>
      <p:sp>
        <p:nvSpPr>
          <p:cNvPr id="9" name="Text 6"/>
          <p:cNvSpPr/>
          <p:nvPr/>
        </p:nvSpPr>
        <p:spPr>
          <a:xfrm>
            <a:off x="859536" y="1444752"/>
            <a:ext cx="3520440" cy="237744"/>
          </a:xfrm>
          <a:prstGeom prst="rect">
            <a:avLst/>
          </a:prstGeom>
          <a:noFill/>
          <a:ln/>
        </p:spPr>
        <p:txBody>
          <a:bodyPr wrap="square" lIns="0" tIns="0" rIns="0" bIns="0" rtlCol="0" anchor="ctr"/>
          <a:lstStyle/>
          <a:p>
            <a:pPr indent="0" marL="0">
              <a:buNone/>
            </a:pPr>
            <a:r>
              <a:rPr lang="en-US" sz="900" dirty="0">
                <a:solidFill>
                  <a:srgbClr val="546E7A"/>
                </a:solidFill>
              </a:rPr>
              <a:t>Audio Capture Module</a:t>
            </a:r>
            <a:endParaRPr lang="en-US" sz="900" dirty="0"/>
          </a:p>
        </p:txBody>
      </p:sp>
      <p:sp>
        <p:nvSpPr>
          <p:cNvPr id="10" name="Shape 7"/>
          <p:cNvSpPr/>
          <p:nvPr/>
        </p:nvSpPr>
        <p:spPr>
          <a:xfrm>
            <a:off x="704088" y="1755648"/>
            <a:ext cx="73152" cy="73152"/>
          </a:xfrm>
          <a:prstGeom prst="ellipse">
            <a:avLst/>
          </a:prstGeom>
          <a:solidFill>
            <a:srgbClr val="1565C0"/>
          </a:solidFill>
          <a:ln w="12700">
            <a:solidFill>
              <a:srgbClr val="1565C0"/>
            </a:solidFill>
            <a:prstDash val="solid"/>
          </a:ln>
        </p:spPr>
      </p:sp>
      <p:sp>
        <p:nvSpPr>
          <p:cNvPr id="11" name="Text 8"/>
          <p:cNvSpPr/>
          <p:nvPr/>
        </p:nvSpPr>
        <p:spPr>
          <a:xfrm>
            <a:off x="859536" y="1691640"/>
            <a:ext cx="3520440" cy="237744"/>
          </a:xfrm>
          <a:prstGeom prst="rect">
            <a:avLst/>
          </a:prstGeom>
          <a:noFill/>
          <a:ln/>
        </p:spPr>
        <p:txBody>
          <a:bodyPr wrap="square" lIns="0" tIns="0" rIns="0" bIns="0" rtlCol="0" anchor="ctr"/>
          <a:lstStyle/>
          <a:p>
            <a:pPr indent="0" marL="0">
              <a:buNone/>
            </a:pPr>
            <a:r>
              <a:rPr lang="en-US" sz="900" dirty="0">
                <a:solidFill>
                  <a:srgbClr val="546E7A"/>
                </a:solidFill>
              </a:rPr>
              <a:t>Speech Recognition Engine (Web Speech API) [1]</a:t>
            </a:r>
            <a:endParaRPr lang="en-US" sz="900" dirty="0"/>
          </a:p>
        </p:txBody>
      </p:sp>
      <p:sp>
        <p:nvSpPr>
          <p:cNvPr id="12" name="Shape 9"/>
          <p:cNvSpPr/>
          <p:nvPr/>
        </p:nvSpPr>
        <p:spPr>
          <a:xfrm>
            <a:off x="704088" y="2002536"/>
            <a:ext cx="73152" cy="73152"/>
          </a:xfrm>
          <a:prstGeom prst="ellipse">
            <a:avLst/>
          </a:prstGeom>
          <a:solidFill>
            <a:srgbClr val="1565C0"/>
          </a:solidFill>
          <a:ln w="12700">
            <a:solidFill>
              <a:srgbClr val="1565C0"/>
            </a:solidFill>
            <a:prstDash val="solid"/>
          </a:ln>
        </p:spPr>
      </p:sp>
      <p:sp>
        <p:nvSpPr>
          <p:cNvPr id="13" name="Text 10"/>
          <p:cNvSpPr/>
          <p:nvPr/>
        </p:nvSpPr>
        <p:spPr>
          <a:xfrm>
            <a:off x="859536" y="1938528"/>
            <a:ext cx="3520440" cy="237744"/>
          </a:xfrm>
          <a:prstGeom prst="rect">
            <a:avLst/>
          </a:prstGeom>
          <a:noFill/>
          <a:ln/>
        </p:spPr>
        <p:txBody>
          <a:bodyPr wrap="square" lIns="0" tIns="0" rIns="0" bIns="0" rtlCol="0" anchor="ctr"/>
          <a:lstStyle/>
          <a:p>
            <a:pPr indent="0" marL="0">
              <a:buNone/>
            </a:pPr>
            <a:r>
              <a:rPr lang="en-US" sz="900" dirty="0">
                <a:solidFill>
                  <a:srgbClr val="546E7A"/>
                </a:solidFill>
              </a:rPr>
              <a:t>Command Pre-Processor &amp; Normalizer</a:t>
            </a:r>
            <a:endParaRPr lang="en-US" sz="900" dirty="0"/>
          </a:p>
        </p:txBody>
      </p:sp>
      <p:sp>
        <p:nvSpPr>
          <p:cNvPr id="14" name="Shape 11"/>
          <p:cNvSpPr/>
          <p:nvPr/>
        </p:nvSpPr>
        <p:spPr>
          <a:xfrm>
            <a:off x="201168" y="2350008"/>
            <a:ext cx="4279392" cy="126187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5" name="Shape 12"/>
          <p:cNvSpPr/>
          <p:nvPr/>
        </p:nvSpPr>
        <p:spPr>
          <a:xfrm>
            <a:off x="201168" y="2350008"/>
            <a:ext cx="384048" cy="1261872"/>
          </a:xfrm>
          <a:prstGeom prst="rect">
            <a:avLst/>
          </a:prstGeom>
          <a:solidFill>
            <a:srgbClr val="F57C00"/>
          </a:solidFill>
          <a:ln w="12700">
            <a:solidFill>
              <a:srgbClr val="F57C00"/>
            </a:solidFill>
            <a:prstDash val="solid"/>
          </a:ln>
        </p:spPr>
      </p:sp>
      <p:pic>
        <p:nvPicPr>
          <p:cNvPr id="16" name="Image 1" descr="preencoded.png">    </p:cNvPr>
          <p:cNvPicPr>
            <a:picLocks noChangeAspect="1"/>
          </p:cNvPicPr>
          <p:nvPr/>
        </p:nvPicPr>
        <p:blipFill>
          <a:blip r:embed="rId2"/>
          <a:stretch>
            <a:fillRect/>
          </a:stretch>
        </p:blipFill>
        <p:spPr>
          <a:xfrm>
            <a:off x="246888" y="2715768"/>
            <a:ext cx="292608" cy="292608"/>
          </a:xfrm>
          <a:prstGeom prst="rect">
            <a:avLst/>
          </a:prstGeom>
        </p:spPr>
      </p:pic>
      <p:sp>
        <p:nvSpPr>
          <p:cNvPr id="17" name="Text 13"/>
          <p:cNvSpPr/>
          <p:nvPr/>
        </p:nvSpPr>
        <p:spPr>
          <a:xfrm>
            <a:off x="676656" y="2423160"/>
            <a:ext cx="3703320" cy="329184"/>
          </a:xfrm>
          <a:prstGeom prst="rect">
            <a:avLst/>
          </a:prstGeom>
          <a:noFill/>
          <a:ln/>
        </p:spPr>
        <p:txBody>
          <a:bodyPr wrap="square" lIns="0" tIns="0" rIns="0" bIns="0" rtlCol="0" anchor="ctr"/>
          <a:lstStyle/>
          <a:p>
            <a:pPr indent="0" marL="0">
              <a:buNone/>
            </a:pPr>
            <a:r>
              <a:rPr lang="en-US" sz="1100" b="1" dirty="0">
                <a:solidFill>
                  <a:srgbClr val="0B1F3A"/>
                </a:solidFill>
              </a:rPr>
              <a:t>B. Parsing &amp; Code Generation</a:t>
            </a:r>
            <a:endParaRPr lang="en-US" sz="1100" dirty="0"/>
          </a:p>
        </p:txBody>
      </p:sp>
      <p:sp>
        <p:nvSpPr>
          <p:cNvPr id="18" name="Shape 14"/>
          <p:cNvSpPr/>
          <p:nvPr/>
        </p:nvSpPr>
        <p:spPr>
          <a:xfrm>
            <a:off x="704088" y="2852928"/>
            <a:ext cx="73152" cy="73152"/>
          </a:xfrm>
          <a:prstGeom prst="ellipse">
            <a:avLst/>
          </a:prstGeom>
          <a:solidFill>
            <a:srgbClr val="F57C00"/>
          </a:solidFill>
          <a:ln w="12700">
            <a:solidFill>
              <a:srgbClr val="F57C00"/>
            </a:solidFill>
            <a:prstDash val="solid"/>
          </a:ln>
        </p:spPr>
      </p:sp>
      <p:sp>
        <p:nvSpPr>
          <p:cNvPr id="19" name="Text 15"/>
          <p:cNvSpPr/>
          <p:nvPr/>
        </p:nvSpPr>
        <p:spPr>
          <a:xfrm>
            <a:off x="859536" y="2788920"/>
            <a:ext cx="3520440" cy="237744"/>
          </a:xfrm>
          <a:prstGeom prst="rect">
            <a:avLst/>
          </a:prstGeom>
          <a:noFill/>
          <a:ln/>
        </p:spPr>
        <p:txBody>
          <a:bodyPr wrap="square" lIns="0" tIns="0" rIns="0" bIns="0" rtlCol="0" anchor="ctr"/>
          <a:lstStyle/>
          <a:p>
            <a:pPr indent="0" marL="0">
              <a:buNone/>
            </a:pPr>
            <a:r>
              <a:rPr lang="en-US" sz="900" dirty="0">
                <a:solidFill>
                  <a:srgbClr val="546E7A"/>
                </a:solidFill>
              </a:rPr>
              <a:t>Parser Core (Level 1 &amp; 2 rules) [5]</a:t>
            </a:r>
            <a:endParaRPr lang="en-US" sz="900" dirty="0"/>
          </a:p>
        </p:txBody>
      </p:sp>
      <p:sp>
        <p:nvSpPr>
          <p:cNvPr id="20" name="Shape 16"/>
          <p:cNvSpPr/>
          <p:nvPr/>
        </p:nvSpPr>
        <p:spPr>
          <a:xfrm>
            <a:off x="704088" y="3099816"/>
            <a:ext cx="73152" cy="73152"/>
          </a:xfrm>
          <a:prstGeom prst="ellipse">
            <a:avLst/>
          </a:prstGeom>
          <a:solidFill>
            <a:srgbClr val="F57C00"/>
          </a:solidFill>
          <a:ln w="12700">
            <a:solidFill>
              <a:srgbClr val="F57C00"/>
            </a:solidFill>
            <a:prstDash val="solid"/>
          </a:ln>
        </p:spPr>
      </p:sp>
      <p:sp>
        <p:nvSpPr>
          <p:cNvPr id="21" name="Text 17"/>
          <p:cNvSpPr/>
          <p:nvPr/>
        </p:nvSpPr>
        <p:spPr>
          <a:xfrm>
            <a:off x="859536" y="3035808"/>
            <a:ext cx="3520440" cy="237744"/>
          </a:xfrm>
          <a:prstGeom prst="rect">
            <a:avLst/>
          </a:prstGeom>
          <a:noFill/>
          <a:ln/>
        </p:spPr>
        <p:txBody>
          <a:bodyPr wrap="square" lIns="0" tIns="0" rIns="0" bIns="0" rtlCol="0" anchor="ctr"/>
          <a:lstStyle/>
          <a:p>
            <a:pPr indent="0" marL="0">
              <a:buNone/>
            </a:pPr>
            <a:r>
              <a:rPr lang="en-US" sz="900" dirty="0">
                <a:solidFill>
                  <a:srgbClr val="546E7A"/>
                </a:solidFill>
              </a:rPr>
              <a:t>Semantic Interpreter (variables, loops)</a:t>
            </a:r>
            <a:endParaRPr lang="en-US" sz="900" dirty="0"/>
          </a:p>
        </p:txBody>
      </p:sp>
      <p:sp>
        <p:nvSpPr>
          <p:cNvPr id="22" name="Shape 18"/>
          <p:cNvSpPr/>
          <p:nvPr/>
        </p:nvSpPr>
        <p:spPr>
          <a:xfrm>
            <a:off x="704088" y="3346704"/>
            <a:ext cx="73152" cy="73152"/>
          </a:xfrm>
          <a:prstGeom prst="ellipse">
            <a:avLst/>
          </a:prstGeom>
          <a:solidFill>
            <a:srgbClr val="F57C00"/>
          </a:solidFill>
          <a:ln w="12700">
            <a:solidFill>
              <a:srgbClr val="F57C00"/>
            </a:solidFill>
            <a:prstDash val="solid"/>
          </a:ln>
        </p:spPr>
      </p:sp>
      <p:sp>
        <p:nvSpPr>
          <p:cNvPr id="23" name="Text 19"/>
          <p:cNvSpPr/>
          <p:nvPr/>
        </p:nvSpPr>
        <p:spPr>
          <a:xfrm>
            <a:off x="859536" y="3282696"/>
            <a:ext cx="3520440" cy="237744"/>
          </a:xfrm>
          <a:prstGeom prst="rect">
            <a:avLst/>
          </a:prstGeom>
          <a:noFill/>
          <a:ln/>
        </p:spPr>
        <p:txBody>
          <a:bodyPr wrap="square" lIns="0" tIns="0" rIns="0" bIns="0" rtlCol="0" anchor="ctr"/>
          <a:lstStyle/>
          <a:p>
            <a:pPr indent="0" marL="0">
              <a:buNone/>
            </a:pPr>
            <a:r>
              <a:rPr lang="en-US" sz="900" dirty="0">
                <a:solidFill>
                  <a:srgbClr val="546E7A"/>
                </a:solidFill>
              </a:rPr>
              <a:t>GPT-4o NL Integration (Level 3) [12]</a:t>
            </a:r>
            <a:endParaRPr lang="en-US" sz="900" dirty="0"/>
          </a:p>
        </p:txBody>
      </p:sp>
      <p:sp>
        <p:nvSpPr>
          <p:cNvPr id="24" name="Shape 20"/>
          <p:cNvSpPr/>
          <p:nvPr/>
        </p:nvSpPr>
        <p:spPr>
          <a:xfrm>
            <a:off x="704088" y="3593592"/>
            <a:ext cx="73152" cy="73152"/>
          </a:xfrm>
          <a:prstGeom prst="ellipse">
            <a:avLst/>
          </a:prstGeom>
          <a:solidFill>
            <a:srgbClr val="F57C00"/>
          </a:solidFill>
          <a:ln w="12700">
            <a:solidFill>
              <a:srgbClr val="F57C00"/>
            </a:solidFill>
            <a:prstDash val="solid"/>
          </a:ln>
        </p:spPr>
      </p:sp>
      <p:sp>
        <p:nvSpPr>
          <p:cNvPr id="25" name="Text 21"/>
          <p:cNvSpPr/>
          <p:nvPr/>
        </p:nvSpPr>
        <p:spPr>
          <a:xfrm>
            <a:off x="859536" y="3529584"/>
            <a:ext cx="3520440" cy="237744"/>
          </a:xfrm>
          <a:prstGeom prst="rect">
            <a:avLst/>
          </a:prstGeom>
          <a:noFill/>
          <a:ln/>
        </p:spPr>
        <p:txBody>
          <a:bodyPr wrap="square" lIns="0" tIns="0" rIns="0" bIns="0" rtlCol="0" anchor="ctr"/>
          <a:lstStyle/>
          <a:p>
            <a:pPr indent="0" marL="0">
              <a:buNone/>
            </a:pPr>
            <a:r>
              <a:rPr lang="en-US" sz="900" dirty="0">
                <a:solidFill>
                  <a:srgbClr val="546E7A"/>
                </a:solidFill>
              </a:rPr>
              <a:t>Code Construction Engine</a:t>
            </a:r>
            <a:endParaRPr lang="en-US" sz="900" dirty="0"/>
          </a:p>
        </p:txBody>
      </p:sp>
      <p:sp>
        <p:nvSpPr>
          <p:cNvPr id="26" name="Shape 22"/>
          <p:cNvSpPr/>
          <p:nvPr/>
        </p:nvSpPr>
        <p:spPr>
          <a:xfrm>
            <a:off x="201168" y="3694176"/>
            <a:ext cx="4279392" cy="126187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7" name="Shape 23"/>
          <p:cNvSpPr/>
          <p:nvPr/>
        </p:nvSpPr>
        <p:spPr>
          <a:xfrm>
            <a:off x="201168" y="3694176"/>
            <a:ext cx="384048" cy="1261872"/>
          </a:xfrm>
          <a:prstGeom prst="rect">
            <a:avLst/>
          </a:prstGeom>
          <a:solidFill>
            <a:srgbClr val="00ACC1"/>
          </a:solidFill>
          <a:ln w="12700">
            <a:solidFill>
              <a:srgbClr val="00ACC1"/>
            </a:solidFill>
            <a:prstDash val="solid"/>
          </a:ln>
        </p:spPr>
      </p:sp>
      <p:pic>
        <p:nvPicPr>
          <p:cNvPr id="28" name="Image 2" descr="preencoded.png">    </p:cNvPr>
          <p:cNvPicPr>
            <a:picLocks noChangeAspect="1"/>
          </p:cNvPicPr>
          <p:nvPr/>
        </p:nvPicPr>
        <p:blipFill>
          <a:blip r:embed="rId3"/>
          <a:stretch>
            <a:fillRect/>
          </a:stretch>
        </p:blipFill>
        <p:spPr>
          <a:xfrm>
            <a:off x="246888" y="4059936"/>
            <a:ext cx="292608" cy="292608"/>
          </a:xfrm>
          <a:prstGeom prst="rect">
            <a:avLst/>
          </a:prstGeom>
        </p:spPr>
      </p:pic>
      <p:sp>
        <p:nvSpPr>
          <p:cNvPr id="29" name="Text 24"/>
          <p:cNvSpPr/>
          <p:nvPr/>
        </p:nvSpPr>
        <p:spPr>
          <a:xfrm>
            <a:off x="676656" y="3767328"/>
            <a:ext cx="3703320" cy="329184"/>
          </a:xfrm>
          <a:prstGeom prst="rect">
            <a:avLst/>
          </a:prstGeom>
          <a:noFill/>
          <a:ln/>
        </p:spPr>
        <p:txBody>
          <a:bodyPr wrap="square" lIns="0" tIns="0" rIns="0" bIns="0" rtlCol="0" anchor="ctr"/>
          <a:lstStyle/>
          <a:p>
            <a:pPr indent="0" marL="0">
              <a:buNone/>
            </a:pPr>
            <a:r>
              <a:rPr lang="en-US" sz="1100" b="1" dirty="0">
                <a:solidFill>
                  <a:srgbClr val="0B1F3A"/>
                </a:solidFill>
              </a:rPr>
              <a:t>C. Coding Interface</a:t>
            </a:r>
            <a:endParaRPr lang="en-US" sz="1100" dirty="0"/>
          </a:p>
        </p:txBody>
      </p:sp>
      <p:sp>
        <p:nvSpPr>
          <p:cNvPr id="30" name="Shape 25"/>
          <p:cNvSpPr/>
          <p:nvPr/>
        </p:nvSpPr>
        <p:spPr>
          <a:xfrm>
            <a:off x="704088" y="4197096"/>
            <a:ext cx="73152" cy="73152"/>
          </a:xfrm>
          <a:prstGeom prst="ellipse">
            <a:avLst/>
          </a:prstGeom>
          <a:solidFill>
            <a:srgbClr val="00ACC1"/>
          </a:solidFill>
          <a:ln w="12700">
            <a:solidFill>
              <a:srgbClr val="00ACC1"/>
            </a:solidFill>
            <a:prstDash val="solid"/>
          </a:ln>
        </p:spPr>
      </p:sp>
      <p:sp>
        <p:nvSpPr>
          <p:cNvPr id="31" name="Text 26"/>
          <p:cNvSpPr/>
          <p:nvPr/>
        </p:nvSpPr>
        <p:spPr>
          <a:xfrm>
            <a:off x="859536" y="4133088"/>
            <a:ext cx="3520440" cy="237744"/>
          </a:xfrm>
          <a:prstGeom prst="rect">
            <a:avLst/>
          </a:prstGeom>
          <a:noFill/>
          <a:ln/>
        </p:spPr>
        <p:txBody>
          <a:bodyPr wrap="square" lIns="0" tIns="0" rIns="0" bIns="0" rtlCol="0" anchor="ctr"/>
          <a:lstStyle/>
          <a:p>
            <a:pPr indent="0" marL="0">
              <a:buNone/>
            </a:pPr>
            <a:r>
              <a:rPr lang="en-US" sz="900" dirty="0">
                <a:solidFill>
                  <a:srgbClr val="546E7A"/>
                </a:solidFill>
              </a:rPr>
              <a:t>Monaco Rendering Module [3]</a:t>
            </a:r>
            <a:endParaRPr lang="en-US" sz="900" dirty="0"/>
          </a:p>
        </p:txBody>
      </p:sp>
      <p:sp>
        <p:nvSpPr>
          <p:cNvPr id="32" name="Shape 27"/>
          <p:cNvSpPr/>
          <p:nvPr/>
        </p:nvSpPr>
        <p:spPr>
          <a:xfrm>
            <a:off x="704088" y="4443984"/>
            <a:ext cx="73152" cy="73152"/>
          </a:xfrm>
          <a:prstGeom prst="ellipse">
            <a:avLst/>
          </a:prstGeom>
          <a:solidFill>
            <a:srgbClr val="00ACC1"/>
          </a:solidFill>
          <a:ln w="12700">
            <a:solidFill>
              <a:srgbClr val="00ACC1"/>
            </a:solidFill>
            <a:prstDash val="solid"/>
          </a:ln>
        </p:spPr>
      </p:sp>
      <p:sp>
        <p:nvSpPr>
          <p:cNvPr id="33" name="Text 28"/>
          <p:cNvSpPr/>
          <p:nvPr/>
        </p:nvSpPr>
        <p:spPr>
          <a:xfrm>
            <a:off x="859536" y="4379976"/>
            <a:ext cx="3520440" cy="237744"/>
          </a:xfrm>
          <a:prstGeom prst="rect">
            <a:avLst/>
          </a:prstGeom>
          <a:noFill/>
          <a:ln/>
        </p:spPr>
        <p:txBody>
          <a:bodyPr wrap="square" lIns="0" tIns="0" rIns="0" bIns="0" rtlCol="0" anchor="ctr"/>
          <a:lstStyle/>
          <a:p>
            <a:pPr indent="0" marL="0">
              <a:buNone/>
            </a:pPr>
            <a:r>
              <a:rPr lang="en-US" sz="900" dirty="0">
                <a:solidFill>
                  <a:srgbClr val="546E7A"/>
                </a:solidFill>
              </a:rPr>
              <a:t>Editor Interaction Layer (undo/redo)</a:t>
            </a:r>
            <a:endParaRPr lang="en-US" sz="900" dirty="0"/>
          </a:p>
        </p:txBody>
      </p:sp>
      <p:sp>
        <p:nvSpPr>
          <p:cNvPr id="34" name="Shape 29"/>
          <p:cNvSpPr/>
          <p:nvPr/>
        </p:nvSpPr>
        <p:spPr>
          <a:xfrm>
            <a:off x="704088" y="4690872"/>
            <a:ext cx="73152" cy="73152"/>
          </a:xfrm>
          <a:prstGeom prst="ellipse">
            <a:avLst/>
          </a:prstGeom>
          <a:solidFill>
            <a:srgbClr val="00ACC1"/>
          </a:solidFill>
          <a:ln w="12700">
            <a:solidFill>
              <a:srgbClr val="00ACC1"/>
            </a:solidFill>
            <a:prstDash val="solid"/>
          </a:ln>
        </p:spPr>
      </p:sp>
      <p:sp>
        <p:nvSpPr>
          <p:cNvPr id="35" name="Text 30"/>
          <p:cNvSpPr/>
          <p:nvPr/>
        </p:nvSpPr>
        <p:spPr>
          <a:xfrm>
            <a:off x="859536" y="4626864"/>
            <a:ext cx="3520440" cy="237744"/>
          </a:xfrm>
          <a:prstGeom prst="rect">
            <a:avLst/>
          </a:prstGeom>
          <a:noFill/>
          <a:ln/>
        </p:spPr>
        <p:txBody>
          <a:bodyPr wrap="square" lIns="0" tIns="0" rIns="0" bIns="0" rtlCol="0" anchor="ctr"/>
          <a:lstStyle/>
          <a:p>
            <a:pPr indent="0" marL="0">
              <a:buNone/>
            </a:pPr>
            <a:r>
              <a:rPr lang="en-US" sz="900" dirty="0">
                <a:solidFill>
                  <a:srgbClr val="546E7A"/>
                </a:solidFill>
              </a:rPr>
              <a:t>Push-to-Talk Mode Handler</a:t>
            </a:r>
            <a:endParaRPr lang="en-US" sz="900" dirty="0"/>
          </a:p>
        </p:txBody>
      </p:sp>
      <p:sp>
        <p:nvSpPr>
          <p:cNvPr id="36" name="Shape 31"/>
          <p:cNvSpPr/>
          <p:nvPr/>
        </p:nvSpPr>
        <p:spPr>
          <a:xfrm>
            <a:off x="4773168" y="1005840"/>
            <a:ext cx="4279392" cy="126187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37" name="Shape 32"/>
          <p:cNvSpPr/>
          <p:nvPr/>
        </p:nvSpPr>
        <p:spPr>
          <a:xfrm>
            <a:off x="4773168" y="1005840"/>
            <a:ext cx="384048" cy="1261872"/>
          </a:xfrm>
          <a:prstGeom prst="rect">
            <a:avLst/>
          </a:prstGeom>
          <a:solidFill>
            <a:srgbClr val="1565C0"/>
          </a:solidFill>
          <a:ln w="12700">
            <a:solidFill>
              <a:srgbClr val="1565C0"/>
            </a:solidFill>
            <a:prstDash val="solid"/>
          </a:ln>
        </p:spPr>
      </p:sp>
      <p:pic>
        <p:nvPicPr>
          <p:cNvPr id="38" name="Image 3" descr="preencoded.png">    </p:cNvPr>
          <p:cNvPicPr>
            <a:picLocks noChangeAspect="1"/>
          </p:cNvPicPr>
          <p:nvPr/>
        </p:nvPicPr>
        <p:blipFill>
          <a:blip r:embed="rId4"/>
          <a:stretch>
            <a:fillRect/>
          </a:stretch>
        </p:blipFill>
        <p:spPr>
          <a:xfrm>
            <a:off x="4818888" y="1371600"/>
            <a:ext cx="292608" cy="292608"/>
          </a:xfrm>
          <a:prstGeom prst="rect">
            <a:avLst/>
          </a:prstGeom>
        </p:spPr>
      </p:pic>
      <p:sp>
        <p:nvSpPr>
          <p:cNvPr id="39" name="Text 33"/>
          <p:cNvSpPr/>
          <p:nvPr/>
        </p:nvSpPr>
        <p:spPr>
          <a:xfrm>
            <a:off x="5248656" y="1078992"/>
            <a:ext cx="3703320" cy="329184"/>
          </a:xfrm>
          <a:prstGeom prst="rect">
            <a:avLst/>
          </a:prstGeom>
          <a:noFill/>
          <a:ln/>
        </p:spPr>
        <p:txBody>
          <a:bodyPr wrap="square" lIns="0" tIns="0" rIns="0" bIns="0" rtlCol="0" anchor="ctr"/>
          <a:lstStyle/>
          <a:p>
            <a:pPr indent="0" marL="0">
              <a:buNone/>
            </a:pPr>
            <a:r>
              <a:rPr lang="en-US" sz="1100" b="1" dirty="0">
                <a:solidFill>
                  <a:srgbClr val="0B1F3A"/>
                </a:solidFill>
              </a:rPr>
              <a:t>D. Compilation &amp; Output</a:t>
            </a:r>
            <a:endParaRPr lang="en-US" sz="1100" dirty="0"/>
          </a:p>
        </p:txBody>
      </p:sp>
      <p:sp>
        <p:nvSpPr>
          <p:cNvPr id="40" name="Shape 34"/>
          <p:cNvSpPr/>
          <p:nvPr/>
        </p:nvSpPr>
        <p:spPr>
          <a:xfrm>
            <a:off x="5276088" y="1508760"/>
            <a:ext cx="73152" cy="73152"/>
          </a:xfrm>
          <a:prstGeom prst="ellipse">
            <a:avLst/>
          </a:prstGeom>
          <a:solidFill>
            <a:srgbClr val="1565C0"/>
          </a:solidFill>
          <a:ln w="12700">
            <a:solidFill>
              <a:srgbClr val="1565C0"/>
            </a:solidFill>
            <a:prstDash val="solid"/>
          </a:ln>
        </p:spPr>
      </p:sp>
      <p:sp>
        <p:nvSpPr>
          <p:cNvPr id="41" name="Text 35"/>
          <p:cNvSpPr/>
          <p:nvPr/>
        </p:nvSpPr>
        <p:spPr>
          <a:xfrm>
            <a:off x="5431536" y="1444752"/>
            <a:ext cx="3520440" cy="237744"/>
          </a:xfrm>
          <a:prstGeom prst="rect">
            <a:avLst/>
          </a:prstGeom>
          <a:noFill/>
          <a:ln/>
        </p:spPr>
        <p:txBody>
          <a:bodyPr wrap="square" lIns="0" tIns="0" rIns="0" bIns="0" rtlCol="0" anchor="ctr"/>
          <a:lstStyle/>
          <a:p>
            <a:pPr indent="0" marL="0">
              <a:buNone/>
            </a:pPr>
            <a:r>
              <a:rPr lang="en-US" sz="900" dirty="0">
                <a:solidFill>
                  <a:srgbClr val="546E7A"/>
                </a:solidFill>
              </a:rPr>
              <a:t>Compiler API Handler (Judge0/Paiza/JDoodle) [2],[8]</a:t>
            </a:r>
            <a:endParaRPr lang="en-US" sz="900" dirty="0"/>
          </a:p>
        </p:txBody>
      </p:sp>
      <p:sp>
        <p:nvSpPr>
          <p:cNvPr id="42" name="Shape 36"/>
          <p:cNvSpPr/>
          <p:nvPr/>
        </p:nvSpPr>
        <p:spPr>
          <a:xfrm>
            <a:off x="5276088" y="1755648"/>
            <a:ext cx="73152" cy="73152"/>
          </a:xfrm>
          <a:prstGeom prst="ellipse">
            <a:avLst/>
          </a:prstGeom>
          <a:solidFill>
            <a:srgbClr val="1565C0"/>
          </a:solidFill>
          <a:ln w="12700">
            <a:solidFill>
              <a:srgbClr val="1565C0"/>
            </a:solidFill>
            <a:prstDash val="solid"/>
          </a:ln>
        </p:spPr>
      </p:sp>
      <p:sp>
        <p:nvSpPr>
          <p:cNvPr id="43" name="Text 37"/>
          <p:cNvSpPr/>
          <p:nvPr/>
        </p:nvSpPr>
        <p:spPr>
          <a:xfrm>
            <a:off x="5431536" y="1691640"/>
            <a:ext cx="3520440" cy="237744"/>
          </a:xfrm>
          <a:prstGeom prst="rect">
            <a:avLst/>
          </a:prstGeom>
          <a:noFill/>
          <a:ln/>
        </p:spPr>
        <p:txBody>
          <a:bodyPr wrap="square" lIns="0" tIns="0" rIns="0" bIns="0" rtlCol="0" anchor="ctr"/>
          <a:lstStyle/>
          <a:p>
            <a:pPr indent="0" marL="0">
              <a:buNone/>
            </a:pPr>
            <a:r>
              <a:rPr lang="en-US" sz="900" dirty="0">
                <a:solidFill>
                  <a:srgbClr val="546E7A"/>
                </a:solidFill>
              </a:rPr>
              <a:t>Execution Manager (sandbox)</a:t>
            </a:r>
            <a:endParaRPr lang="en-US" sz="900" dirty="0"/>
          </a:p>
        </p:txBody>
      </p:sp>
      <p:sp>
        <p:nvSpPr>
          <p:cNvPr id="44" name="Shape 38"/>
          <p:cNvSpPr/>
          <p:nvPr/>
        </p:nvSpPr>
        <p:spPr>
          <a:xfrm>
            <a:off x="5276088" y="2002536"/>
            <a:ext cx="73152" cy="73152"/>
          </a:xfrm>
          <a:prstGeom prst="ellipse">
            <a:avLst/>
          </a:prstGeom>
          <a:solidFill>
            <a:srgbClr val="1565C0"/>
          </a:solidFill>
          <a:ln w="12700">
            <a:solidFill>
              <a:srgbClr val="1565C0"/>
            </a:solidFill>
            <a:prstDash val="solid"/>
          </a:ln>
        </p:spPr>
      </p:sp>
      <p:sp>
        <p:nvSpPr>
          <p:cNvPr id="45" name="Text 39"/>
          <p:cNvSpPr/>
          <p:nvPr/>
        </p:nvSpPr>
        <p:spPr>
          <a:xfrm>
            <a:off x="5431536" y="1938528"/>
            <a:ext cx="3520440" cy="237744"/>
          </a:xfrm>
          <a:prstGeom prst="rect">
            <a:avLst/>
          </a:prstGeom>
          <a:noFill/>
          <a:ln/>
        </p:spPr>
        <p:txBody>
          <a:bodyPr wrap="square" lIns="0" tIns="0" rIns="0" bIns="0" rtlCol="0" anchor="ctr"/>
          <a:lstStyle/>
          <a:p>
            <a:pPr indent="0" marL="0">
              <a:buNone/>
            </a:pPr>
            <a:r>
              <a:rPr lang="en-US" sz="900" dirty="0">
                <a:solidFill>
                  <a:srgbClr val="546E7A"/>
                </a:solidFill>
              </a:rPr>
              <a:t>Output Renderer + Urdu TTS [1]</a:t>
            </a:r>
            <a:endParaRPr lang="en-US" sz="900" dirty="0"/>
          </a:p>
        </p:txBody>
      </p:sp>
      <p:sp>
        <p:nvSpPr>
          <p:cNvPr id="46" name="Shape 40"/>
          <p:cNvSpPr/>
          <p:nvPr/>
        </p:nvSpPr>
        <p:spPr>
          <a:xfrm>
            <a:off x="4773168" y="2350008"/>
            <a:ext cx="4279392" cy="126187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47" name="Shape 41"/>
          <p:cNvSpPr/>
          <p:nvPr/>
        </p:nvSpPr>
        <p:spPr>
          <a:xfrm>
            <a:off x="4773168" y="2350008"/>
            <a:ext cx="384048" cy="1261872"/>
          </a:xfrm>
          <a:prstGeom prst="rect">
            <a:avLst/>
          </a:prstGeom>
          <a:solidFill>
            <a:srgbClr val="F57C00"/>
          </a:solidFill>
          <a:ln w="12700">
            <a:solidFill>
              <a:srgbClr val="F57C00"/>
            </a:solidFill>
            <a:prstDash val="solid"/>
          </a:ln>
        </p:spPr>
      </p:sp>
      <p:pic>
        <p:nvPicPr>
          <p:cNvPr id="48" name="Image 4" descr="preencoded.png">    </p:cNvPr>
          <p:cNvPicPr>
            <a:picLocks noChangeAspect="1"/>
          </p:cNvPicPr>
          <p:nvPr/>
        </p:nvPicPr>
        <p:blipFill>
          <a:blip r:embed="rId5"/>
          <a:stretch>
            <a:fillRect/>
          </a:stretch>
        </p:blipFill>
        <p:spPr>
          <a:xfrm>
            <a:off x="4818888" y="2715768"/>
            <a:ext cx="292608" cy="292608"/>
          </a:xfrm>
          <a:prstGeom prst="rect">
            <a:avLst/>
          </a:prstGeom>
        </p:spPr>
      </p:pic>
      <p:sp>
        <p:nvSpPr>
          <p:cNvPr id="49" name="Text 42"/>
          <p:cNvSpPr/>
          <p:nvPr/>
        </p:nvSpPr>
        <p:spPr>
          <a:xfrm>
            <a:off x="5248656" y="2423160"/>
            <a:ext cx="3703320" cy="329184"/>
          </a:xfrm>
          <a:prstGeom prst="rect">
            <a:avLst/>
          </a:prstGeom>
          <a:noFill/>
          <a:ln/>
        </p:spPr>
        <p:txBody>
          <a:bodyPr wrap="square" lIns="0" tIns="0" rIns="0" bIns="0" rtlCol="0" anchor="ctr"/>
          <a:lstStyle/>
          <a:p>
            <a:pPr indent="0" marL="0">
              <a:buNone/>
            </a:pPr>
            <a:r>
              <a:rPr lang="en-US" sz="1100" b="1" dirty="0">
                <a:solidFill>
                  <a:srgbClr val="0B1F3A"/>
                </a:solidFill>
              </a:rPr>
              <a:t>E. Auth &amp; Storage</a:t>
            </a:r>
            <a:endParaRPr lang="en-US" sz="1100" dirty="0"/>
          </a:p>
        </p:txBody>
      </p:sp>
      <p:sp>
        <p:nvSpPr>
          <p:cNvPr id="50" name="Shape 43"/>
          <p:cNvSpPr/>
          <p:nvPr/>
        </p:nvSpPr>
        <p:spPr>
          <a:xfrm>
            <a:off x="5276088" y="2852928"/>
            <a:ext cx="73152" cy="73152"/>
          </a:xfrm>
          <a:prstGeom prst="ellipse">
            <a:avLst/>
          </a:prstGeom>
          <a:solidFill>
            <a:srgbClr val="F57C00"/>
          </a:solidFill>
          <a:ln w="12700">
            <a:solidFill>
              <a:srgbClr val="F57C00"/>
            </a:solidFill>
            <a:prstDash val="solid"/>
          </a:ln>
        </p:spPr>
      </p:sp>
      <p:sp>
        <p:nvSpPr>
          <p:cNvPr id="51" name="Text 44"/>
          <p:cNvSpPr/>
          <p:nvPr/>
        </p:nvSpPr>
        <p:spPr>
          <a:xfrm>
            <a:off x="5431536" y="2788920"/>
            <a:ext cx="3520440" cy="237744"/>
          </a:xfrm>
          <a:prstGeom prst="rect">
            <a:avLst/>
          </a:prstGeom>
          <a:noFill/>
          <a:ln/>
        </p:spPr>
        <p:txBody>
          <a:bodyPr wrap="square" lIns="0" tIns="0" rIns="0" bIns="0" rtlCol="0" anchor="ctr"/>
          <a:lstStyle/>
          <a:p>
            <a:pPr indent="0" marL="0">
              <a:buNone/>
            </a:pPr>
            <a:r>
              <a:rPr lang="en-US" sz="900" dirty="0">
                <a:solidFill>
                  <a:srgbClr val="546E7A"/>
                </a:solidFill>
              </a:rPr>
              <a:t>JWT Auth Module [7]</a:t>
            </a:r>
            <a:endParaRPr lang="en-US" sz="900" dirty="0"/>
          </a:p>
        </p:txBody>
      </p:sp>
      <p:sp>
        <p:nvSpPr>
          <p:cNvPr id="52" name="Shape 45"/>
          <p:cNvSpPr/>
          <p:nvPr/>
        </p:nvSpPr>
        <p:spPr>
          <a:xfrm>
            <a:off x="5276088" y="3099816"/>
            <a:ext cx="73152" cy="73152"/>
          </a:xfrm>
          <a:prstGeom prst="ellipse">
            <a:avLst/>
          </a:prstGeom>
          <a:solidFill>
            <a:srgbClr val="F57C00"/>
          </a:solidFill>
          <a:ln w="12700">
            <a:solidFill>
              <a:srgbClr val="F57C00"/>
            </a:solidFill>
            <a:prstDash val="solid"/>
          </a:ln>
        </p:spPr>
      </p:sp>
      <p:sp>
        <p:nvSpPr>
          <p:cNvPr id="53" name="Text 46"/>
          <p:cNvSpPr/>
          <p:nvPr/>
        </p:nvSpPr>
        <p:spPr>
          <a:xfrm>
            <a:off x="5431536" y="3035808"/>
            <a:ext cx="3520440" cy="237744"/>
          </a:xfrm>
          <a:prstGeom prst="rect">
            <a:avLst/>
          </a:prstGeom>
          <a:noFill/>
          <a:ln/>
        </p:spPr>
        <p:txBody>
          <a:bodyPr wrap="square" lIns="0" tIns="0" rIns="0" bIns="0" rtlCol="0" anchor="ctr"/>
          <a:lstStyle/>
          <a:p>
            <a:pPr indent="0" marL="0">
              <a:buNone/>
            </a:pPr>
            <a:r>
              <a:rPr lang="en-US" sz="900" dirty="0">
                <a:solidFill>
                  <a:srgbClr val="546E7A"/>
                </a:solidFill>
              </a:rPr>
              <a:t>Supabase Storage Manager [13]</a:t>
            </a:r>
            <a:endParaRPr lang="en-US" sz="900" dirty="0"/>
          </a:p>
        </p:txBody>
      </p:sp>
      <p:sp>
        <p:nvSpPr>
          <p:cNvPr id="54" name="Shape 47"/>
          <p:cNvSpPr/>
          <p:nvPr/>
        </p:nvSpPr>
        <p:spPr>
          <a:xfrm>
            <a:off x="5276088" y="3346704"/>
            <a:ext cx="73152" cy="73152"/>
          </a:xfrm>
          <a:prstGeom prst="ellipse">
            <a:avLst/>
          </a:prstGeom>
          <a:solidFill>
            <a:srgbClr val="F57C00"/>
          </a:solidFill>
          <a:ln w="12700">
            <a:solidFill>
              <a:srgbClr val="F57C00"/>
            </a:solidFill>
            <a:prstDash val="solid"/>
          </a:ln>
        </p:spPr>
      </p:sp>
      <p:sp>
        <p:nvSpPr>
          <p:cNvPr id="55" name="Text 48"/>
          <p:cNvSpPr/>
          <p:nvPr/>
        </p:nvSpPr>
        <p:spPr>
          <a:xfrm>
            <a:off x="5431536" y="3282696"/>
            <a:ext cx="3520440" cy="237744"/>
          </a:xfrm>
          <a:prstGeom prst="rect">
            <a:avLst/>
          </a:prstGeom>
          <a:noFill/>
          <a:ln/>
        </p:spPr>
        <p:txBody>
          <a:bodyPr wrap="square" lIns="0" tIns="0" rIns="0" bIns="0" rtlCol="0" anchor="ctr"/>
          <a:lstStyle/>
          <a:p>
            <a:pPr indent="0" marL="0">
              <a:buNone/>
            </a:pPr>
            <a:r>
              <a:rPr lang="en-US" sz="900" dirty="0">
                <a:solidFill>
                  <a:srgbClr val="546E7A"/>
                </a:solidFill>
              </a:rPr>
              <a:t>Share Link Generator</a:t>
            </a:r>
            <a:endParaRPr lang="en-US" sz="900" dirty="0"/>
          </a:p>
        </p:txBody>
      </p:sp>
      <p:sp>
        <p:nvSpPr>
          <p:cNvPr id="56" name="Shape 49"/>
          <p:cNvSpPr/>
          <p:nvPr/>
        </p:nvSpPr>
        <p:spPr>
          <a:xfrm>
            <a:off x="4773168" y="3694176"/>
            <a:ext cx="4279392" cy="126187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7" name="Shape 50"/>
          <p:cNvSpPr/>
          <p:nvPr/>
        </p:nvSpPr>
        <p:spPr>
          <a:xfrm>
            <a:off x="4773168" y="3694176"/>
            <a:ext cx="384048" cy="1261872"/>
          </a:xfrm>
          <a:prstGeom prst="rect">
            <a:avLst/>
          </a:prstGeom>
          <a:solidFill>
            <a:srgbClr val="00ACC1"/>
          </a:solidFill>
          <a:ln w="12700">
            <a:solidFill>
              <a:srgbClr val="00ACC1"/>
            </a:solidFill>
            <a:prstDash val="solid"/>
          </a:ln>
        </p:spPr>
      </p:sp>
      <p:pic>
        <p:nvPicPr>
          <p:cNvPr id="58" name="Image 5" descr="preencoded.png">    </p:cNvPr>
          <p:cNvPicPr>
            <a:picLocks noChangeAspect="1"/>
          </p:cNvPicPr>
          <p:nvPr/>
        </p:nvPicPr>
        <p:blipFill>
          <a:blip r:embed="rId6"/>
          <a:stretch>
            <a:fillRect/>
          </a:stretch>
        </p:blipFill>
        <p:spPr>
          <a:xfrm>
            <a:off x="4818888" y="4059936"/>
            <a:ext cx="292608" cy="292608"/>
          </a:xfrm>
          <a:prstGeom prst="rect">
            <a:avLst/>
          </a:prstGeom>
        </p:spPr>
      </p:pic>
      <p:sp>
        <p:nvSpPr>
          <p:cNvPr id="59" name="Text 51"/>
          <p:cNvSpPr/>
          <p:nvPr/>
        </p:nvSpPr>
        <p:spPr>
          <a:xfrm>
            <a:off x="5248656" y="3767328"/>
            <a:ext cx="3703320" cy="329184"/>
          </a:xfrm>
          <a:prstGeom prst="rect">
            <a:avLst/>
          </a:prstGeom>
          <a:noFill/>
          <a:ln/>
        </p:spPr>
        <p:txBody>
          <a:bodyPr wrap="square" lIns="0" tIns="0" rIns="0" bIns="0" rtlCol="0" anchor="ctr"/>
          <a:lstStyle/>
          <a:p>
            <a:pPr indent="0" marL="0">
              <a:buNone/>
            </a:pPr>
            <a:r>
              <a:rPr lang="en-US" sz="1100" b="1" dirty="0">
                <a:solidFill>
                  <a:srgbClr val="0B1F3A"/>
                </a:solidFill>
              </a:rPr>
              <a:t>F. System Utilities</a:t>
            </a:r>
            <a:endParaRPr lang="en-US" sz="1100" dirty="0"/>
          </a:p>
        </p:txBody>
      </p:sp>
      <p:sp>
        <p:nvSpPr>
          <p:cNvPr id="60" name="Shape 52"/>
          <p:cNvSpPr/>
          <p:nvPr/>
        </p:nvSpPr>
        <p:spPr>
          <a:xfrm>
            <a:off x="5276088" y="4197096"/>
            <a:ext cx="73152" cy="73152"/>
          </a:xfrm>
          <a:prstGeom prst="ellipse">
            <a:avLst/>
          </a:prstGeom>
          <a:solidFill>
            <a:srgbClr val="00ACC1"/>
          </a:solidFill>
          <a:ln w="12700">
            <a:solidFill>
              <a:srgbClr val="00ACC1"/>
            </a:solidFill>
            <a:prstDash val="solid"/>
          </a:ln>
        </p:spPr>
      </p:sp>
      <p:sp>
        <p:nvSpPr>
          <p:cNvPr id="61" name="Text 53"/>
          <p:cNvSpPr/>
          <p:nvPr/>
        </p:nvSpPr>
        <p:spPr>
          <a:xfrm>
            <a:off x="5431536" y="4133088"/>
            <a:ext cx="3520440" cy="237744"/>
          </a:xfrm>
          <a:prstGeom prst="rect">
            <a:avLst/>
          </a:prstGeom>
          <a:noFill/>
          <a:ln/>
        </p:spPr>
        <p:txBody>
          <a:bodyPr wrap="square" lIns="0" tIns="0" rIns="0" bIns="0" rtlCol="0" anchor="ctr"/>
          <a:lstStyle/>
          <a:p>
            <a:pPr indent="0" marL="0">
              <a:buNone/>
            </a:pPr>
            <a:r>
              <a:rPr lang="en-US" sz="900" dirty="0">
                <a:solidFill>
                  <a:srgbClr val="546E7A"/>
                </a:solidFill>
              </a:rPr>
              <a:t>Error Logging &amp; Handling Module</a:t>
            </a:r>
            <a:endParaRPr lang="en-US" sz="900" dirty="0"/>
          </a:p>
        </p:txBody>
      </p:sp>
      <p:sp>
        <p:nvSpPr>
          <p:cNvPr id="62" name="Shape 54"/>
          <p:cNvSpPr/>
          <p:nvPr/>
        </p:nvSpPr>
        <p:spPr>
          <a:xfrm>
            <a:off x="5276088" y="4443984"/>
            <a:ext cx="73152" cy="73152"/>
          </a:xfrm>
          <a:prstGeom prst="ellipse">
            <a:avLst/>
          </a:prstGeom>
          <a:solidFill>
            <a:srgbClr val="00ACC1"/>
          </a:solidFill>
          <a:ln w="12700">
            <a:solidFill>
              <a:srgbClr val="00ACC1"/>
            </a:solidFill>
            <a:prstDash val="solid"/>
          </a:ln>
        </p:spPr>
      </p:sp>
      <p:sp>
        <p:nvSpPr>
          <p:cNvPr id="63" name="Text 55"/>
          <p:cNvSpPr/>
          <p:nvPr/>
        </p:nvSpPr>
        <p:spPr>
          <a:xfrm>
            <a:off x="5431536" y="4379976"/>
            <a:ext cx="3520440" cy="237744"/>
          </a:xfrm>
          <a:prstGeom prst="rect">
            <a:avLst/>
          </a:prstGeom>
          <a:noFill/>
          <a:ln/>
        </p:spPr>
        <p:txBody>
          <a:bodyPr wrap="square" lIns="0" tIns="0" rIns="0" bIns="0" rtlCol="0" anchor="ctr"/>
          <a:lstStyle/>
          <a:p>
            <a:pPr indent="0" marL="0">
              <a:buNone/>
            </a:pPr>
            <a:r>
              <a:rPr lang="en-US" sz="900" dirty="0">
                <a:solidFill>
                  <a:srgbClr val="546E7A"/>
                </a:solidFill>
              </a:rPr>
              <a:t>Session Manager (secure cleanup)</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SDS: Key Design Strategies</a:t>
            </a:r>
            <a:endParaRPr lang="en-US" sz="2600" dirty="0"/>
          </a:p>
        </p:txBody>
      </p:sp>
      <p:sp>
        <p:nvSpPr>
          <p:cNvPr id="4" name="Shape 2"/>
          <p:cNvSpPr/>
          <p:nvPr/>
        </p:nvSpPr>
        <p:spPr>
          <a:xfrm>
            <a:off x="201168" y="1005840"/>
            <a:ext cx="4279392" cy="123444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01168" y="1005840"/>
            <a:ext cx="4279392" cy="384048"/>
          </a:xfrm>
          <a:prstGeom prst="rect">
            <a:avLst/>
          </a:prstGeom>
          <a:solidFill>
            <a:srgbClr val="1565C0"/>
          </a:solidFill>
          <a:ln w="12700">
            <a:solidFill>
              <a:srgbClr val="1565C0"/>
            </a:solidFill>
            <a:prstDash val="solid"/>
          </a:ln>
        </p:spPr>
      </p:sp>
      <p:sp>
        <p:nvSpPr>
          <p:cNvPr id="6" name="Text 4"/>
          <p:cNvSpPr/>
          <p:nvPr/>
        </p:nvSpPr>
        <p:spPr>
          <a:xfrm>
            <a:off x="310896" y="1042416"/>
            <a:ext cx="914400" cy="329184"/>
          </a:xfrm>
          <a:prstGeom prst="rect">
            <a:avLst/>
          </a:prstGeom>
          <a:noFill/>
          <a:ln/>
        </p:spPr>
        <p:txBody>
          <a:bodyPr wrap="square" lIns="0" tIns="0" rIns="0" bIns="0" rtlCol="0" anchor="ctr"/>
          <a:lstStyle/>
          <a:p>
            <a:pPr indent="0" marL="0">
              <a:buNone/>
            </a:pPr>
            <a:r>
              <a:rPr lang="en-US" sz="900" dirty="0">
                <a:solidFill>
                  <a:srgbClr val="FFFFFF"/>
                </a:solidFill>
              </a:rPr>
              <a:t>Strategy 1</a:t>
            </a:r>
            <a:endParaRPr lang="en-US" sz="900" dirty="0"/>
          </a:p>
        </p:txBody>
      </p:sp>
      <p:pic>
        <p:nvPicPr>
          <p:cNvPr id="7" name="Image 0" descr="preencoded.png">    </p:cNvPr>
          <p:cNvPicPr>
            <a:picLocks noChangeAspect="1"/>
          </p:cNvPicPr>
          <p:nvPr/>
        </p:nvPicPr>
        <p:blipFill>
          <a:blip r:embed="rId1"/>
          <a:stretch>
            <a:fillRect/>
          </a:stretch>
        </p:blipFill>
        <p:spPr>
          <a:xfrm>
            <a:off x="3584448" y="1060704"/>
            <a:ext cx="256032" cy="256032"/>
          </a:xfrm>
          <a:prstGeom prst="rect">
            <a:avLst/>
          </a:prstGeom>
        </p:spPr>
      </p:pic>
      <p:sp>
        <p:nvSpPr>
          <p:cNvPr id="8" name="Text 5"/>
          <p:cNvSpPr/>
          <p:nvPr/>
        </p:nvSpPr>
        <p:spPr>
          <a:xfrm>
            <a:off x="310896" y="1042416"/>
            <a:ext cx="3200400" cy="329184"/>
          </a:xfrm>
          <a:prstGeom prst="rect">
            <a:avLst/>
          </a:prstGeom>
          <a:noFill/>
          <a:ln/>
        </p:spPr>
        <p:txBody>
          <a:bodyPr wrap="square" lIns="0" tIns="0" rIns="0" bIns="0" rtlCol="0" anchor="ctr"/>
          <a:lstStyle/>
          <a:p>
            <a:pPr indent="0" marL="0">
              <a:buNone/>
            </a:pPr>
            <a:r>
              <a:rPr lang="en-US" sz="1200" b="1" dirty="0">
                <a:solidFill>
                  <a:srgbClr val="FFFFFF"/>
                </a:solidFill>
              </a:rPr>
              <a:t>Modular Architecture</a:t>
            </a:r>
            <a:endParaRPr lang="en-US" sz="1200" dirty="0"/>
          </a:p>
        </p:txBody>
      </p:sp>
      <p:sp>
        <p:nvSpPr>
          <p:cNvPr id="9" name="Text 6"/>
          <p:cNvSpPr/>
          <p:nvPr/>
        </p:nvSpPr>
        <p:spPr>
          <a:xfrm>
            <a:off x="338328" y="1481328"/>
            <a:ext cx="4005072" cy="658368"/>
          </a:xfrm>
          <a:prstGeom prst="rect">
            <a:avLst/>
          </a:prstGeom>
          <a:noFill/>
          <a:ln/>
        </p:spPr>
        <p:txBody>
          <a:bodyPr wrap="square" lIns="0" tIns="0" rIns="0" bIns="0" rtlCol="0" anchor="ctr"/>
          <a:lstStyle/>
          <a:p>
            <a:pPr indent="0" marL="0">
              <a:buNone/>
            </a:pPr>
            <a:r>
              <a:rPr lang="en-US" sz="1000" dirty="0">
                <a:solidFill>
                  <a:srgbClr val="546E7A"/>
                </a:solidFill>
              </a:rPr>
              <a:t>Isolates subsystems for easy API updates (Web Speech, GPT-4o, Supabase) [12],[13]</a:t>
            </a:r>
            <a:endParaRPr lang="en-US" sz="1000" dirty="0"/>
          </a:p>
        </p:txBody>
      </p:sp>
      <p:sp>
        <p:nvSpPr>
          <p:cNvPr id="10" name="Shape 7"/>
          <p:cNvSpPr/>
          <p:nvPr/>
        </p:nvSpPr>
        <p:spPr>
          <a:xfrm>
            <a:off x="201168" y="2350008"/>
            <a:ext cx="4279392" cy="123444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1" name="Shape 8"/>
          <p:cNvSpPr/>
          <p:nvPr/>
        </p:nvSpPr>
        <p:spPr>
          <a:xfrm>
            <a:off x="201168" y="2350008"/>
            <a:ext cx="4279392" cy="384048"/>
          </a:xfrm>
          <a:prstGeom prst="rect">
            <a:avLst/>
          </a:prstGeom>
          <a:solidFill>
            <a:srgbClr val="00ACC1"/>
          </a:solidFill>
          <a:ln w="12700">
            <a:solidFill>
              <a:srgbClr val="00ACC1"/>
            </a:solidFill>
            <a:prstDash val="solid"/>
          </a:ln>
        </p:spPr>
      </p:sp>
      <p:sp>
        <p:nvSpPr>
          <p:cNvPr id="12" name="Text 9"/>
          <p:cNvSpPr/>
          <p:nvPr/>
        </p:nvSpPr>
        <p:spPr>
          <a:xfrm>
            <a:off x="310896" y="2386584"/>
            <a:ext cx="914400" cy="329184"/>
          </a:xfrm>
          <a:prstGeom prst="rect">
            <a:avLst/>
          </a:prstGeom>
          <a:noFill/>
          <a:ln/>
        </p:spPr>
        <p:txBody>
          <a:bodyPr wrap="square" lIns="0" tIns="0" rIns="0" bIns="0" rtlCol="0" anchor="ctr"/>
          <a:lstStyle/>
          <a:p>
            <a:pPr indent="0" marL="0">
              <a:buNone/>
            </a:pPr>
            <a:r>
              <a:rPr lang="en-US" sz="900" dirty="0">
                <a:solidFill>
                  <a:srgbClr val="FFFFFF"/>
                </a:solidFill>
              </a:rPr>
              <a:t>Strategy 2</a:t>
            </a:r>
            <a:endParaRPr lang="en-US" sz="900" dirty="0"/>
          </a:p>
        </p:txBody>
      </p:sp>
      <p:pic>
        <p:nvPicPr>
          <p:cNvPr id="13" name="Image 1" descr="preencoded.png">    </p:cNvPr>
          <p:cNvPicPr>
            <a:picLocks noChangeAspect="1"/>
          </p:cNvPicPr>
          <p:nvPr/>
        </p:nvPicPr>
        <p:blipFill>
          <a:blip r:embed="rId2"/>
          <a:stretch>
            <a:fillRect/>
          </a:stretch>
        </p:blipFill>
        <p:spPr>
          <a:xfrm>
            <a:off x="3584448" y="2404872"/>
            <a:ext cx="256032" cy="256032"/>
          </a:xfrm>
          <a:prstGeom prst="rect">
            <a:avLst/>
          </a:prstGeom>
        </p:spPr>
      </p:pic>
      <p:sp>
        <p:nvSpPr>
          <p:cNvPr id="14" name="Text 10"/>
          <p:cNvSpPr/>
          <p:nvPr/>
        </p:nvSpPr>
        <p:spPr>
          <a:xfrm>
            <a:off x="310896" y="2386584"/>
            <a:ext cx="3200400" cy="329184"/>
          </a:xfrm>
          <a:prstGeom prst="rect">
            <a:avLst/>
          </a:prstGeom>
          <a:noFill/>
          <a:ln/>
        </p:spPr>
        <p:txBody>
          <a:bodyPr wrap="square" lIns="0" tIns="0" rIns="0" bIns="0" rtlCol="0" anchor="ctr"/>
          <a:lstStyle/>
          <a:p>
            <a:pPr indent="0" marL="0">
              <a:buNone/>
            </a:pPr>
            <a:r>
              <a:rPr lang="en-US" sz="1200" b="1" dirty="0">
                <a:solidFill>
                  <a:srgbClr val="FFFFFF"/>
                </a:solidFill>
              </a:rPr>
              <a:t>Event-Driven UI</a:t>
            </a:r>
            <a:endParaRPr lang="en-US" sz="1200" dirty="0"/>
          </a:p>
        </p:txBody>
      </p:sp>
      <p:sp>
        <p:nvSpPr>
          <p:cNvPr id="15" name="Text 11"/>
          <p:cNvSpPr/>
          <p:nvPr/>
        </p:nvSpPr>
        <p:spPr>
          <a:xfrm>
            <a:off x="338328" y="2825496"/>
            <a:ext cx="4005072" cy="658368"/>
          </a:xfrm>
          <a:prstGeom prst="rect">
            <a:avLst/>
          </a:prstGeom>
          <a:noFill/>
          <a:ln/>
        </p:spPr>
        <p:txBody>
          <a:bodyPr wrap="square" lIns="0" tIns="0" rIns="0" bIns="0" rtlCol="0" anchor="ctr"/>
          <a:lstStyle/>
          <a:p>
            <a:pPr indent="0" marL="0">
              <a:buNone/>
            </a:pPr>
            <a:r>
              <a:rPr lang="en-US" sz="1000" dirty="0">
                <a:solidFill>
                  <a:srgbClr val="546E7A"/>
                </a:solidFill>
              </a:rPr>
              <a:t>Zero UI freezing; handles async speech, AI, and compiler callbacks [12]</a:t>
            </a:r>
            <a:endParaRPr lang="en-US" sz="1000" dirty="0"/>
          </a:p>
        </p:txBody>
      </p:sp>
      <p:sp>
        <p:nvSpPr>
          <p:cNvPr id="16" name="Shape 12"/>
          <p:cNvSpPr/>
          <p:nvPr/>
        </p:nvSpPr>
        <p:spPr>
          <a:xfrm>
            <a:off x="201168" y="3694176"/>
            <a:ext cx="4279392" cy="123444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7" name="Shape 13"/>
          <p:cNvSpPr/>
          <p:nvPr/>
        </p:nvSpPr>
        <p:spPr>
          <a:xfrm>
            <a:off x="201168" y="3694176"/>
            <a:ext cx="4279392" cy="384048"/>
          </a:xfrm>
          <a:prstGeom prst="rect">
            <a:avLst/>
          </a:prstGeom>
          <a:solidFill>
            <a:srgbClr val="F57C00"/>
          </a:solidFill>
          <a:ln w="12700">
            <a:solidFill>
              <a:srgbClr val="F57C00"/>
            </a:solidFill>
            <a:prstDash val="solid"/>
          </a:ln>
        </p:spPr>
      </p:sp>
      <p:sp>
        <p:nvSpPr>
          <p:cNvPr id="18" name="Text 14"/>
          <p:cNvSpPr/>
          <p:nvPr/>
        </p:nvSpPr>
        <p:spPr>
          <a:xfrm>
            <a:off x="310896" y="3730752"/>
            <a:ext cx="914400" cy="329184"/>
          </a:xfrm>
          <a:prstGeom prst="rect">
            <a:avLst/>
          </a:prstGeom>
          <a:noFill/>
          <a:ln/>
        </p:spPr>
        <p:txBody>
          <a:bodyPr wrap="square" lIns="0" tIns="0" rIns="0" bIns="0" rtlCol="0" anchor="ctr"/>
          <a:lstStyle/>
          <a:p>
            <a:pPr indent="0" marL="0">
              <a:buNone/>
            </a:pPr>
            <a:r>
              <a:rPr lang="en-US" sz="900" dirty="0">
                <a:solidFill>
                  <a:srgbClr val="FFFFFF"/>
                </a:solidFill>
              </a:rPr>
              <a:t>Strategy 3</a:t>
            </a:r>
            <a:endParaRPr lang="en-US" sz="900" dirty="0"/>
          </a:p>
        </p:txBody>
      </p:sp>
      <p:pic>
        <p:nvPicPr>
          <p:cNvPr id="19" name="Image 2" descr="preencoded.png">    </p:cNvPr>
          <p:cNvPicPr>
            <a:picLocks noChangeAspect="1"/>
          </p:cNvPicPr>
          <p:nvPr/>
        </p:nvPicPr>
        <p:blipFill>
          <a:blip r:embed="rId3"/>
          <a:stretch>
            <a:fillRect/>
          </a:stretch>
        </p:blipFill>
        <p:spPr>
          <a:xfrm>
            <a:off x="3584448" y="3749040"/>
            <a:ext cx="256032" cy="256032"/>
          </a:xfrm>
          <a:prstGeom prst="rect">
            <a:avLst/>
          </a:prstGeom>
        </p:spPr>
      </p:pic>
      <p:sp>
        <p:nvSpPr>
          <p:cNvPr id="20" name="Text 15"/>
          <p:cNvSpPr/>
          <p:nvPr/>
        </p:nvSpPr>
        <p:spPr>
          <a:xfrm>
            <a:off x="310896" y="3730752"/>
            <a:ext cx="3200400" cy="329184"/>
          </a:xfrm>
          <a:prstGeom prst="rect">
            <a:avLst/>
          </a:prstGeom>
          <a:noFill/>
          <a:ln/>
        </p:spPr>
        <p:txBody>
          <a:bodyPr wrap="square" lIns="0" tIns="0" rIns="0" bIns="0" rtlCol="0" anchor="ctr"/>
          <a:lstStyle/>
          <a:p>
            <a:pPr indent="0" marL="0">
              <a:buNone/>
            </a:pPr>
            <a:r>
              <a:rPr lang="en-US" sz="1200" b="1" dirty="0">
                <a:solidFill>
                  <a:srgbClr val="FFFFFF"/>
                </a:solidFill>
              </a:rPr>
              <a:t>3-Level Command Parsing</a:t>
            </a:r>
            <a:endParaRPr lang="en-US" sz="1200" dirty="0"/>
          </a:p>
        </p:txBody>
      </p:sp>
      <p:sp>
        <p:nvSpPr>
          <p:cNvPr id="21" name="Text 16"/>
          <p:cNvSpPr/>
          <p:nvPr/>
        </p:nvSpPr>
        <p:spPr>
          <a:xfrm>
            <a:off x="338328" y="4169664"/>
            <a:ext cx="4005072" cy="658368"/>
          </a:xfrm>
          <a:prstGeom prst="rect">
            <a:avLst/>
          </a:prstGeom>
          <a:noFill/>
          <a:ln/>
        </p:spPr>
        <p:txBody>
          <a:bodyPr wrap="square" lIns="0" tIns="0" rIns="0" bIns="0" rtlCol="0" anchor="ctr"/>
          <a:lstStyle/>
          <a:p>
            <a:pPr indent="0" marL="0">
              <a:buNone/>
            </a:pPr>
            <a:r>
              <a:rPr lang="en-US" sz="1000" dirty="0">
                <a:solidFill>
                  <a:srgbClr val="546E7A"/>
                </a:solidFill>
              </a:rPr>
              <a:t>L1/L2 rules for speed; GPT-4o for unlimited NL expressiveness [5],[12]</a:t>
            </a:r>
            <a:endParaRPr lang="en-US" sz="1000" dirty="0"/>
          </a:p>
        </p:txBody>
      </p:sp>
      <p:sp>
        <p:nvSpPr>
          <p:cNvPr id="22" name="Shape 17"/>
          <p:cNvSpPr/>
          <p:nvPr/>
        </p:nvSpPr>
        <p:spPr>
          <a:xfrm>
            <a:off x="4773168" y="1005840"/>
            <a:ext cx="4279392" cy="123444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3" name="Shape 18"/>
          <p:cNvSpPr/>
          <p:nvPr/>
        </p:nvSpPr>
        <p:spPr>
          <a:xfrm>
            <a:off x="4773168" y="1005840"/>
            <a:ext cx="4279392" cy="384048"/>
          </a:xfrm>
          <a:prstGeom prst="rect">
            <a:avLst/>
          </a:prstGeom>
          <a:solidFill>
            <a:srgbClr val="1565C0"/>
          </a:solidFill>
          <a:ln w="12700">
            <a:solidFill>
              <a:srgbClr val="1565C0"/>
            </a:solidFill>
            <a:prstDash val="solid"/>
          </a:ln>
        </p:spPr>
      </p:sp>
      <p:sp>
        <p:nvSpPr>
          <p:cNvPr id="24" name="Text 19"/>
          <p:cNvSpPr/>
          <p:nvPr/>
        </p:nvSpPr>
        <p:spPr>
          <a:xfrm>
            <a:off x="4882896" y="1042416"/>
            <a:ext cx="914400" cy="329184"/>
          </a:xfrm>
          <a:prstGeom prst="rect">
            <a:avLst/>
          </a:prstGeom>
          <a:noFill/>
          <a:ln/>
        </p:spPr>
        <p:txBody>
          <a:bodyPr wrap="square" lIns="0" tIns="0" rIns="0" bIns="0" rtlCol="0" anchor="ctr"/>
          <a:lstStyle/>
          <a:p>
            <a:pPr indent="0" marL="0">
              <a:buNone/>
            </a:pPr>
            <a:r>
              <a:rPr lang="en-US" sz="900" dirty="0">
                <a:solidFill>
                  <a:srgbClr val="FFFFFF"/>
                </a:solidFill>
              </a:rPr>
              <a:t>Strategy 4</a:t>
            </a:r>
            <a:endParaRPr lang="en-US" sz="900" dirty="0"/>
          </a:p>
        </p:txBody>
      </p:sp>
      <p:pic>
        <p:nvPicPr>
          <p:cNvPr id="25" name="Image 3" descr="preencoded.png">    </p:cNvPr>
          <p:cNvPicPr>
            <a:picLocks noChangeAspect="1"/>
          </p:cNvPicPr>
          <p:nvPr/>
        </p:nvPicPr>
        <p:blipFill>
          <a:blip r:embed="rId4"/>
          <a:stretch>
            <a:fillRect/>
          </a:stretch>
        </p:blipFill>
        <p:spPr>
          <a:xfrm>
            <a:off x="8156448" y="1060704"/>
            <a:ext cx="256032" cy="256032"/>
          </a:xfrm>
          <a:prstGeom prst="rect">
            <a:avLst/>
          </a:prstGeom>
        </p:spPr>
      </p:pic>
      <p:sp>
        <p:nvSpPr>
          <p:cNvPr id="26" name="Text 20"/>
          <p:cNvSpPr/>
          <p:nvPr/>
        </p:nvSpPr>
        <p:spPr>
          <a:xfrm>
            <a:off x="4882896" y="1042416"/>
            <a:ext cx="3200400" cy="329184"/>
          </a:xfrm>
          <a:prstGeom prst="rect">
            <a:avLst/>
          </a:prstGeom>
          <a:noFill/>
          <a:ln/>
        </p:spPr>
        <p:txBody>
          <a:bodyPr wrap="square" lIns="0" tIns="0" rIns="0" bIns="0" rtlCol="0" anchor="ctr"/>
          <a:lstStyle/>
          <a:p>
            <a:pPr indent="0" marL="0">
              <a:buNone/>
            </a:pPr>
            <a:r>
              <a:rPr lang="en-US" sz="1200" b="1" dirty="0">
                <a:solidFill>
                  <a:srgbClr val="FFFFFF"/>
                </a:solidFill>
              </a:rPr>
              <a:t>Cloud-Sandboxed Execution</a:t>
            </a:r>
            <a:endParaRPr lang="en-US" sz="1200" dirty="0"/>
          </a:p>
        </p:txBody>
      </p:sp>
      <p:sp>
        <p:nvSpPr>
          <p:cNvPr id="27" name="Text 21"/>
          <p:cNvSpPr/>
          <p:nvPr/>
        </p:nvSpPr>
        <p:spPr>
          <a:xfrm>
            <a:off x="4910328" y="1481328"/>
            <a:ext cx="4005072" cy="658368"/>
          </a:xfrm>
          <a:prstGeom prst="rect">
            <a:avLst/>
          </a:prstGeom>
          <a:noFill/>
          <a:ln/>
        </p:spPr>
        <p:txBody>
          <a:bodyPr wrap="square" lIns="0" tIns="0" rIns="0" bIns="0" rtlCol="0" anchor="ctr"/>
          <a:lstStyle/>
          <a:p>
            <a:pPr indent="0" marL="0">
              <a:buNone/>
            </a:pPr>
            <a:r>
              <a:rPr lang="en-US" sz="1000" dirty="0">
                <a:solidFill>
                  <a:srgbClr val="546E7A"/>
                </a:solidFill>
              </a:rPr>
              <a:t>No local code risk; Judge0/Paiza/JDoodle safe isolation [2],[8]</a:t>
            </a:r>
            <a:endParaRPr lang="en-US" sz="1000" dirty="0"/>
          </a:p>
        </p:txBody>
      </p:sp>
      <p:sp>
        <p:nvSpPr>
          <p:cNvPr id="28" name="Shape 22"/>
          <p:cNvSpPr/>
          <p:nvPr/>
        </p:nvSpPr>
        <p:spPr>
          <a:xfrm>
            <a:off x="4773168" y="2350008"/>
            <a:ext cx="4279392" cy="123444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9" name="Shape 23"/>
          <p:cNvSpPr/>
          <p:nvPr/>
        </p:nvSpPr>
        <p:spPr>
          <a:xfrm>
            <a:off x="4773168" y="2350008"/>
            <a:ext cx="4279392" cy="384048"/>
          </a:xfrm>
          <a:prstGeom prst="rect">
            <a:avLst/>
          </a:prstGeom>
          <a:solidFill>
            <a:srgbClr val="00ACC1"/>
          </a:solidFill>
          <a:ln w="12700">
            <a:solidFill>
              <a:srgbClr val="00ACC1"/>
            </a:solidFill>
            <a:prstDash val="solid"/>
          </a:ln>
        </p:spPr>
      </p:sp>
      <p:sp>
        <p:nvSpPr>
          <p:cNvPr id="30" name="Text 24"/>
          <p:cNvSpPr/>
          <p:nvPr/>
        </p:nvSpPr>
        <p:spPr>
          <a:xfrm>
            <a:off x="4882896" y="2386584"/>
            <a:ext cx="914400" cy="329184"/>
          </a:xfrm>
          <a:prstGeom prst="rect">
            <a:avLst/>
          </a:prstGeom>
          <a:noFill/>
          <a:ln/>
        </p:spPr>
        <p:txBody>
          <a:bodyPr wrap="square" lIns="0" tIns="0" rIns="0" bIns="0" rtlCol="0" anchor="ctr"/>
          <a:lstStyle/>
          <a:p>
            <a:pPr indent="0" marL="0">
              <a:buNone/>
            </a:pPr>
            <a:r>
              <a:rPr lang="en-US" sz="900" dirty="0">
                <a:solidFill>
                  <a:srgbClr val="FFFFFF"/>
                </a:solidFill>
              </a:rPr>
              <a:t>Strategy 5</a:t>
            </a:r>
            <a:endParaRPr lang="en-US" sz="900" dirty="0"/>
          </a:p>
        </p:txBody>
      </p:sp>
      <p:pic>
        <p:nvPicPr>
          <p:cNvPr id="31" name="Image 4" descr="preencoded.png">    </p:cNvPr>
          <p:cNvPicPr>
            <a:picLocks noChangeAspect="1"/>
          </p:cNvPicPr>
          <p:nvPr/>
        </p:nvPicPr>
        <p:blipFill>
          <a:blip r:embed="rId5"/>
          <a:stretch>
            <a:fillRect/>
          </a:stretch>
        </p:blipFill>
        <p:spPr>
          <a:xfrm>
            <a:off x="8156448" y="2404872"/>
            <a:ext cx="256032" cy="256032"/>
          </a:xfrm>
          <a:prstGeom prst="rect">
            <a:avLst/>
          </a:prstGeom>
        </p:spPr>
      </p:pic>
      <p:sp>
        <p:nvSpPr>
          <p:cNvPr id="32" name="Text 25"/>
          <p:cNvSpPr/>
          <p:nvPr/>
        </p:nvSpPr>
        <p:spPr>
          <a:xfrm>
            <a:off x="4882896" y="2386584"/>
            <a:ext cx="3200400" cy="329184"/>
          </a:xfrm>
          <a:prstGeom prst="rect">
            <a:avLst/>
          </a:prstGeom>
          <a:noFill/>
          <a:ln/>
        </p:spPr>
        <p:txBody>
          <a:bodyPr wrap="square" lIns="0" tIns="0" rIns="0" bIns="0" rtlCol="0" anchor="ctr"/>
          <a:lstStyle/>
          <a:p>
            <a:pPr indent="0" marL="0">
              <a:buNone/>
            </a:pPr>
            <a:r>
              <a:rPr lang="en-US" sz="1200" b="1" dirty="0">
                <a:solidFill>
                  <a:srgbClr val="FFFFFF"/>
                </a:solidFill>
              </a:rPr>
              <a:t>Security-First Backend</a:t>
            </a:r>
            <a:endParaRPr lang="en-US" sz="1200" dirty="0"/>
          </a:p>
        </p:txBody>
      </p:sp>
      <p:sp>
        <p:nvSpPr>
          <p:cNvPr id="33" name="Text 26"/>
          <p:cNvSpPr/>
          <p:nvPr/>
        </p:nvSpPr>
        <p:spPr>
          <a:xfrm>
            <a:off x="4910328" y="2825496"/>
            <a:ext cx="4005072" cy="658368"/>
          </a:xfrm>
          <a:prstGeom prst="rect">
            <a:avLst/>
          </a:prstGeom>
          <a:noFill/>
          <a:ln/>
        </p:spPr>
        <p:txBody>
          <a:bodyPr wrap="square" lIns="0" tIns="0" rIns="0" bIns="0" rtlCol="0" anchor="ctr"/>
          <a:lstStyle/>
          <a:p>
            <a:pPr indent="0" marL="0">
              <a:buNone/>
            </a:pPr>
            <a:r>
              <a:rPr lang="en-US" sz="1000" dirty="0">
                <a:solidFill>
                  <a:srgbClr val="546E7A"/>
                </a:solidFill>
              </a:rPr>
              <a:t>OWASP compliance; JWT; bcrypt; server-side API keys [7]</a:t>
            </a:r>
            <a:endParaRPr lang="en-US" sz="1000" dirty="0"/>
          </a:p>
        </p:txBody>
      </p:sp>
      <p:sp>
        <p:nvSpPr>
          <p:cNvPr id="34" name="Shape 27"/>
          <p:cNvSpPr/>
          <p:nvPr/>
        </p:nvSpPr>
        <p:spPr>
          <a:xfrm>
            <a:off x="4773168" y="3694176"/>
            <a:ext cx="4279392" cy="123444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35" name="Shape 28"/>
          <p:cNvSpPr/>
          <p:nvPr/>
        </p:nvSpPr>
        <p:spPr>
          <a:xfrm>
            <a:off x="4773168" y="3694176"/>
            <a:ext cx="4279392" cy="384048"/>
          </a:xfrm>
          <a:prstGeom prst="rect">
            <a:avLst/>
          </a:prstGeom>
          <a:solidFill>
            <a:srgbClr val="F57C00"/>
          </a:solidFill>
          <a:ln w="12700">
            <a:solidFill>
              <a:srgbClr val="F57C00"/>
            </a:solidFill>
            <a:prstDash val="solid"/>
          </a:ln>
        </p:spPr>
      </p:sp>
      <p:sp>
        <p:nvSpPr>
          <p:cNvPr id="36" name="Text 29"/>
          <p:cNvSpPr/>
          <p:nvPr/>
        </p:nvSpPr>
        <p:spPr>
          <a:xfrm>
            <a:off x="4882896" y="3730752"/>
            <a:ext cx="914400" cy="329184"/>
          </a:xfrm>
          <a:prstGeom prst="rect">
            <a:avLst/>
          </a:prstGeom>
          <a:noFill/>
          <a:ln/>
        </p:spPr>
        <p:txBody>
          <a:bodyPr wrap="square" lIns="0" tIns="0" rIns="0" bIns="0" rtlCol="0" anchor="ctr"/>
          <a:lstStyle/>
          <a:p>
            <a:pPr indent="0" marL="0">
              <a:buNone/>
            </a:pPr>
            <a:r>
              <a:rPr lang="en-US" sz="900" dirty="0">
                <a:solidFill>
                  <a:srgbClr val="FFFFFF"/>
                </a:solidFill>
              </a:rPr>
              <a:t>Strategy 6</a:t>
            </a:r>
            <a:endParaRPr lang="en-US" sz="900" dirty="0"/>
          </a:p>
        </p:txBody>
      </p:sp>
      <p:pic>
        <p:nvPicPr>
          <p:cNvPr id="37" name="Image 5" descr="preencoded.png">    </p:cNvPr>
          <p:cNvPicPr>
            <a:picLocks noChangeAspect="1"/>
          </p:cNvPicPr>
          <p:nvPr/>
        </p:nvPicPr>
        <p:blipFill>
          <a:blip r:embed="rId6"/>
          <a:stretch>
            <a:fillRect/>
          </a:stretch>
        </p:blipFill>
        <p:spPr>
          <a:xfrm>
            <a:off x="8156448" y="3749040"/>
            <a:ext cx="256032" cy="256032"/>
          </a:xfrm>
          <a:prstGeom prst="rect">
            <a:avLst/>
          </a:prstGeom>
        </p:spPr>
      </p:pic>
      <p:sp>
        <p:nvSpPr>
          <p:cNvPr id="38" name="Text 30"/>
          <p:cNvSpPr/>
          <p:nvPr/>
        </p:nvSpPr>
        <p:spPr>
          <a:xfrm>
            <a:off x="4882896" y="3730752"/>
            <a:ext cx="3200400" cy="329184"/>
          </a:xfrm>
          <a:prstGeom prst="rect">
            <a:avLst/>
          </a:prstGeom>
          <a:noFill/>
          <a:ln/>
        </p:spPr>
        <p:txBody>
          <a:bodyPr wrap="square" lIns="0" tIns="0" rIns="0" bIns="0" rtlCol="0" anchor="ctr"/>
          <a:lstStyle/>
          <a:p>
            <a:pPr indent="0" marL="0">
              <a:buNone/>
            </a:pPr>
            <a:r>
              <a:rPr lang="en-US" sz="1200" b="1" dirty="0">
                <a:solidFill>
                  <a:srgbClr val="FFFFFF"/>
                </a:solidFill>
              </a:rPr>
              <a:t>Accessibility-First UI</a:t>
            </a:r>
            <a:endParaRPr lang="en-US" sz="1200" dirty="0"/>
          </a:p>
        </p:txBody>
      </p:sp>
      <p:sp>
        <p:nvSpPr>
          <p:cNvPr id="39" name="Text 31"/>
          <p:cNvSpPr/>
          <p:nvPr/>
        </p:nvSpPr>
        <p:spPr>
          <a:xfrm>
            <a:off x="4910328" y="4169664"/>
            <a:ext cx="4005072" cy="658368"/>
          </a:xfrm>
          <a:prstGeom prst="rect">
            <a:avLst/>
          </a:prstGeom>
          <a:noFill/>
          <a:ln/>
        </p:spPr>
        <p:txBody>
          <a:bodyPr wrap="square" lIns="0" tIns="0" rIns="0" bIns="0" rtlCol="0" anchor="ctr"/>
          <a:lstStyle/>
          <a:p>
            <a:pPr indent="0" marL="0">
              <a:buNone/>
            </a:pPr>
            <a:r>
              <a:rPr lang="en-US" sz="1000" dirty="0">
                <a:solidFill>
                  <a:srgbClr val="546E7A"/>
                </a:solidFill>
              </a:rPr>
              <a:t>WCAG 2.1 compliant; voice-driven; Urdu TTS; large controls [1],[16]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Detailed Design: Core Classes</a:t>
            </a:r>
            <a:endParaRPr lang="en-US" sz="2600" dirty="0"/>
          </a:p>
        </p:txBody>
      </p:sp>
      <p:sp>
        <p:nvSpPr>
          <p:cNvPr id="4" name="Shape 2"/>
          <p:cNvSpPr/>
          <p:nvPr/>
        </p:nvSpPr>
        <p:spPr>
          <a:xfrm>
            <a:off x="201168" y="1005840"/>
            <a:ext cx="4279392" cy="89611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92608" y="1179576"/>
            <a:ext cx="502920" cy="502920"/>
          </a:xfrm>
          <a:prstGeom prst="ellipse">
            <a:avLst/>
          </a:prstGeom>
          <a:solidFill>
            <a:srgbClr val="1565C0"/>
          </a:solidFill>
          <a:ln w="12700">
            <a:solidFill>
              <a:srgbClr val="1565C0"/>
            </a:solidFill>
            <a:prstDash val="solid"/>
          </a:ln>
        </p:spPr>
      </p:sp>
      <p:pic>
        <p:nvPicPr>
          <p:cNvPr id="6" name="Image 0" descr="preencoded.png">    </p:cNvPr>
          <p:cNvPicPr>
            <a:picLocks noChangeAspect="1"/>
          </p:cNvPicPr>
          <p:nvPr/>
        </p:nvPicPr>
        <p:blipFill>
          <a:blip r:embed="rId1"/>
          <a:stretch>
            <a:fillRect/>
          </a:stretch>
        </p:blipFill>
        <p:spPr>
          <a:xfrm>
            <a:off x="365760" y="1243584"/>
            <a:ext cx="347472" cy="347472"/>
          </a:xfrm>
          <a:prstGeom prst="rect">
            <a:avLst/>
          </a:prstGeom>
        </p:spPr>
      </p:pic>
      <p:sp>
        <p:nvSpPr>
          <p:cNvPr id="7" name="Text 4"/>
          <p:cNvSpPr/>
          <p:nvPr/>
        </p:nvSpPr>
        <p:spPr>
          <a:xfrm>
            <a:off x="896112" y="1078992"/>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VoiceCoderApplication</a:t>
            </a:r>
            <a:endParaRPr lang="en-US" sz="1100" dirty="0"/>
          </a:p>
        </p:txBody>
      </p:sp>
      <p:sp>
        <p:nvSpPr>
          <p:cNvPr id="8" name="Text 5"/>
          <p:cNvSpPr/>
          <p:nvPr/>
        </p:nvSpPr>
        <p:spPr>
          <a:xfrm>
            <a:off x="896112" y="1408176"/>
            <a:ext cx="3474720" cy="402336"/>
          </a:xfrm>
          <a:prstGeom prst="rect">
            <a:avLst/>
          </a:prstGeom>
          <a:noFill/>
          <a:ln/>
        </p:spPr>
        <p:txBody>
          <a:bodyPr wrap="square" lIns="0" tIns="0" rIns="0" bIns="0" rtlCol="0" anchor="ctr"/>
          <a:lstStyle/>
          <a:p>
            <a:pPr indent="0" marL="0">
              <a:buNone/>
            </a:pPr>
            <a:r>
              <a:rPr lang="en-US" sz="900" dirty="0">
                <a:solidFill>
                  <a:srgbClr val="546E7A"/>
                </a:solidFill>
              </a:rPr>
              <a:t>Main controller: orchestrates all components; startRecording(), compileCode(), saveCode()</a:t>
            </a:r>
            <a:endParaRPr lang="en-US" sz="900" dirty="0"/>
          </a:p>
        </p:txBody>
      </p:sp>
      <p:sp>
        <p:nvSpPr>
          <p:cNvPr id="9" name="Shape 6"/>
          <p:cNvSpPr/>
          <p:nvPr/>
        </p:nvSpPr>
        <p:spPr>
          <a:xfrm>
            <a:off x="201168" y="2011680"/>
            <a:ext cx="4279392" cy="89611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0" name="Shape 7"/>
          <p:cNvSpPr/>
          <p:nvPr/>
        </p:nvSpPr>
        <p:spPr>
          <a:xfrm>
            <a:off x="292608" y="2185416"/>
            <a:ext cx="502920" cy="502920"/>
          </a:xfrm>
          <a:prstGeom prst="ellipse">
            <a:avLst/>
          </a:prstGeom>
          <a:solidFill>
            <a:srgbClr val="00ACC1"/>
          </a:solidFill>
          <a:ln w="12700">
            <a:solidFill>
              <a:srgbClr val="00ACC1"/>
            </a:solidFill>
            <a:prstDash val="solid"/>
          </a:ln>
        </p:spPr>
      </p:sp>
      <p:pic>
        <p:nvPicPr>
          <p:cNvPr id="11" name="Image 1" descr="preencoded.png">    </p:cNvPr>
          <p:cNvPicPr>
            <a:picLocks noChangeAspect="1"/>
          </p:cNvPicPr>
          <p:nvPr/>
        </p:nvPicPr>
        <p:blipFill>
          <a:blip r:embed="rId2"/>
          <a:stretch>
            <a:fillRect/>
          </a:stretch>
        </p:blipFill>
        <p:spPr>
          <a:xfrm>
            <a:off x="365760" y="2249424"/>
            <a:ext cx="347472" cy="347472"/>
          </a:xfrm>
          <a:prstGeom prst="rect">
            <a:avLst/>
          </a:prstGeom>
        </p:spPr>
      </p:pic>
      <p:sp>
        <p:nvSpPr>
          <p:cNvPr id="12" name="Text 8"/>
          <p:cNvSpPr/>
          <p:nvPr/>
        </p:nvSpPr>
        <p:spPr>
          <a:xfrm>
            <a:off x="896112" y="2084832"/>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VoiceProcessor</a:t>
            </a:r>
            <a:endParaRPr lang="en-US" sz="1100" dirty="0"/>
          </a:p>
        </p:txBody>
      </p:sp>
      <p:sp>
        <p:nvSpPr>
          <p:cNvPr id="13" name="Text 9"/>
          <p:cNvSpPr/>
          <p:nvPr/>
        </p:nvSpPr>
        <p:spPr>
          <a:xfrm>
            <a:off x="896112" y="2414016"/>
            <a:ext cx="3474720" cy="402336"/>
          </a:xfrm>
          <a:prstGeom prst="rect">
            <a:avLst/>
          </a:prstGeom>
          <a:noFill/>
          <a:ln/>
        </p:spPr>
        <p:txBody>
          <a:bodyPr wrap="square" lIns="0" tIns="0" rIns="0" bIns="0" rtlCol="0" anchor="ctr"/>
          <a:lstStyle/>
          <a:p>
            <a:pPr indent="0" marL="0">
              <a:buNone/>
            </a:pPr>
            <a:r>
              <a:rPr lang="en-US" sz="900" dirty="0">
                <a:solidFill>
                  <a:srgbClr val="546E7A"/>
                </a:solidFill>
              </a:rPr>
              <a:t>Web Speech API wrapper; push-to-talk; processCommand() → Command [1]</a:t>
            </a:r>
            <a:endParaRPr lang="en-US" sz="900" dirty="0"/>
          </a:p>
        </p:txBody>
      </p:sp>
      <p:sp>
        <p:nvSpPr>
          <p:cNvPr id="14" name="Shape 10"/>
          <p:cNvSpPr/>
          <p:nvPr/>
        </p:nvSpPr>
        <p:spPr>
          <a:xfrm>
            <a:off x="201168" y="3017520"/>
            <a:ext cx="4279392" cy="89611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5" name="Shape 11"/>
          <p:cNvSpPr/>
          <p:nvPr/>
        </p:nvSpPr>
        <p:spPr>
          <a:xfrm>
            <a:off x="292608" y="3191256"/>
            <a:ext cx="502920" cy="502920"/>
          </a:xfrm>
          <a:prstGeom prst="ellipse">
            <a:avLst/>
          </a:prstGeom>
          <a:solidFill>
            <a:srgbClr val="F57C00"/>
          </a:solidFill>
          <a:ln w="12700">
            <a:solidFill>
              <a:srgbClr val="F57C00"/>
            </a:solidFill>
            <a:prstDash val="solid"/>
          </a:ln>
        </p:spPr>
      </p:sp>
      <p:pic>
        <p:nvPicPr>
          <p:cNvPr id="16" name="Image 2" descr="preencoded.png">    </p:cNvPr>
          <p:cNvPicPr>
            <a:picLocks noChangeAspect="1"/>
          </p:cNvPicPr>
          <p:nvPr/>
        </p:nvPicPr>
        <p:blipFill>
          <a:blip r:embed="rId3"/>
          <a:stretch>
            <a:fillRect/>
          </a:stretch>
        </p:blipFill>
        <p:spPr>
          <a:xfrm>
            <a:off x="365760" y="3255264"/>
            <a:ext cx="347472" cy="347472"/>
          </a:xfrm>
          <a:prstGeom prst="rect">
            <a:avLst/>
          </a:prstGeom>
        </p:spPr>
      </p:pic>
      <p:sp>
        <p:nvSpPr>
          <p:cNvPr id="17" name="Text 12"/>
          <p:cNvSpPr/>
          <p:nvPr/>
        </p:nvSpPr>
        <p:spPr>
          <a:xfrm>
            <a:off x="896112" y="3090672"/>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CommandParser</a:t>
            </a:r>
            <a:endParaRPr lang="en-US" sz="1100" dirty="0"/>
          </a:p>
        </p:txBody>
      </p:sp>
      <p:sp>
        <p:nvSpPr>
          <p:cNvPr id="18" name="Text 13"/>
          <p:cNvSpPr/>
          <p:nvPr/>
        </p:nvSpPr>
        <p:spPr>
          <a:xfrm>
            <a:off x="896112" y="3419856"/>
            <a:ext cx="3474720" cy="402336"/>
          </a:xfrm>
          <a:prstGeom prst="rect">
            <a:avLst/>
          </a:prstGeom>
          <a:noFill/>
          <a:ln/>
        </p:spPr>
        <p:txBody>
          <a:bodyPr wrap="square" lIns="0" tIns="0" rIns="0" bIns="0" rtlCol="0" anchor="ctr"/>
          <a:lstStyle/>
          <a:p>
            <a:pPr indent="0" marL="0">
              <a:buNone/>
            </a:pPr>
            <a:r>
              <a:rPr lang="en-US" sz="900" dirty="0">
                <a:solidFill>
                  <a:srgbClr val="546E7A"/>
                </a:solidFill>
              </a:rPr>
              <a:t>3-level router: L1/L2 rules or routeToAI() for Level 3 [5]</a:t>
            </a:r>
            <a:endParaRPr lang="en-US" sz="900" dirty="0"/>
          </a:p>
        </p:txBody>
      </p:sp>
      <p:sp>
        <p:nvSpPr>
          <p:cNvPr id="19" name="Shape 14"/>
          <p:cNvSpPr/>
          <p:nvPr/>
        </p:nvSpPr>
        <p:spPr>
          <a:xfrm>
            <a:off x="201168" y="4023360"/>
            <a:ext cx="4279392" cy="89611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0" name="Shape 15"/>
          <p:cNvSpPr/>
          <p:nvPr/>
        </p:nvSpPr>
        <p:spPr>
          <a:xfrm>
            <a:off x="292608" y="4197096"/>
            <a:ext cx="502920" cy="502920"/>
          </a:xfrm>
          <a:prstGeom prst="ellipse">
            <a:avLst/>
          </a:prstGeom>
          <a:solidFill>
            <a:srgbClr val="1565C0"/>
          </a:solidFill>
          <a:ln w="12700">
            <a:solidFill>
              <a:srgbClr val="1565C0"/>
            </a:solidFill>
            <a:prstDash val="solid"/>
          </a:ln>
        </p:spPr>
      </p:sp>
      <p:pic>
        <p:nvPicPr>
          <p:cNvPr id="21" name="Image 3" descr="preencoded.png">    </p:cNvPr>
          <p:cNvPicPr>
            <a:picLocks noChangeAspect="1"/>
          </p:cNvPicPr>
          <p:nvPr/>
        </p:nvPicPr>
        <p:blipFill>
          <a:blip r:embed="rId4"/>
          <a:stretch>
            <a:fillRect/>
          </a:stretch>
        </p:blipFill>
        <p:spPr>
          <a:xfrm>
            <a:off x="365760" y="4261104"/>
            <a:ext cx="347472" cy="347472"/>
          </a:xfrm>
          <a:prstGeom prst="rect">
            <a:avLst/>
          </a:prstGeom>
        </p:spPr>
      </p:pic>
      <p:sp>
        <p:nvSpPr>
          <p:cNvPr id="22" name="Text 16"/>
          <p:cNvSpPr/>
          <p:nvPr/>
        </p:nvSpPr>
        <p:spPr>
          <a:xfrm>
            <a:off x="896112" y="4096512"/>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AIService (GPT-4o)</a:t>
            </a:r>
            <a:endParaRPr lang="en-US" sz="1100" dirty="0"/>
          </a:p>
        </p:txBody>
      </p:sp>
      <p:sp>
        <p:nvSpPr>
          <p:cNvPr id="23" name="Text 17"/>
          <p:cNvSpPr/>
          <p:nvPr/>
        </p:nvSpPr>
        <p:spPr>
          <a:xfrm>
            <a:off x="896112" y="4425696"/>
            <a:ext cx="3474720" cy="402336"/>
          </a:xfrm>
          <a:prstGeom prst="rect">
            <a:avLst/>
          </a:prstGeom>
          <a:noFill/>
          <a:ln/>
        </p:spPr>
        <p:txBody>
          <a:bodyPr wrap="square" lIns="0" tIns="0" rIns="0" bIns="0" rtlCol="0" anchor="ctr"/>
          <a:lstStyle/>
          <a:p>
            <a:pPr indent="0" marL="0">
              <a:buNone/>
            </a:pPr>
            <a:r>
              <a:rPr lang="en-US" sz="900" dirty="0">
                <a:solidFill>
                  <a:srgbClr val="546E7A"/>
                </a:solidFill>
              </a:rPr>
              <a:t>generateCode(), fixErrors(), explainCode(), reviewCode() [12]</a:t>
            </a:r>
            <a:endParaRPr lang="en-US" sz="900" dirty="0"/>
          </a:p>
        </p:txBody>
      </p:sp>
      <p:sp>
        <p:nvSpPr>
          <p:cNvPr id="24" name="Shape 18"/>
          <p:cNvSpPr/>
          <p:nvPr/>
        </p:nvSpPr>
        <p:spPr>
          <a:xfrm>
            <a:off x="4773168" y="1005840"/>
            <a:ext cx="4279392" cy="89611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5" name="Shape 19"/>
          <p:cNvSpPr/>
          <p:nvPr/>
        </p:nvSpPr>
        <p:spPr>
          <a:xfrm>
            <a:off x="4864608" y="1179576"/>
            <a:ext cx="502920" cy="502920"/>
          </a:xfrm>
          <a:prstGeom prst="ellipse">
            <a:avLst/>
          </a:prstGeom>
          <a:solidFill>
            <a:srgbClr val="00ACC1"/>
          </a:solidFill>
          <a:ln w="12700">
            <a:solidFill>
              <a:srgbClr val="00ACC1"/>
            </a:solidFill>
            <a:prstDash val="solid"/>
          </a:ln>
        </p:spPr>
      </p:sp>
      <p:pic>
        <p:nvPicPr>
          <p:cNvPr id="26" name="Image 4" descr="preencoded.png">    </p:cNvPr>
          <p:cNvPicPr>
            <a:picLocks noChangeAspect="1"/>
          </p:cNvPicPr>
          <p:nvPr/>
        </p:nvPicPr>
        <p:blipFill>
          <a:blip r:embed="rId5"/>
          <a:stretch>
            <a:fillRect/>
          </a:stretch>
        </p:blipFill>
        <p:spPr>
          <a:xfrm>
            <a:off x="4937760" y="1243584"/>
            <a:ext cx="347472" cy="347472"/>
          </a:xfrm>
          <a:prstGeom prst="rect">
            <a:avLst/>
          </a:prstGeom>
        </p:spPr>
      </p:pic>
      <p:sp>
        <p:nvSpPr>
          <p:cNvPr id="27" name="Text 20"/>
          <p:cNvSpPr/>
          <p:nvPr/>
        </p:nvSpPr>
        <p:spPr>
          <a:xfrm>
            <a:off x="5468112" y="1078992"/>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CompilerService</a:t>
            </a:r>
            <a:endParaRPr lang="en-US" sz="1100" dirty="0"/>
          </a:p>
        </p:txBody>
      </p:sp>
      <p:sp>
        <p:nvSpPr>
          <p:cNvPr id="28" name="Text 21"/>
          <p:cNvSpPr/>
          <p:nvPr/>
        </p:nvSpPr>
        <p:spPr>
          <a:xfrm>
            <a:off x="5468112" y="1408176"/>
            <a:ext cx="3474720" cy="402336"/>
          </a:xfrm>
          <a:prstGeom prst="rect">
            <a:avLst/>
          </a:prstGeom>
          <a:noFill/>
          <a:ln/>
        </p:spPr>
        <p:txBody>
          <a:bodyPr wrap="square" lIns="0" tIns="0" rIns="0" bIns="0" rtlCol="0" anchor="ctr"/>
          <a:lstStyle/>
          <a:p>
            <a:pPr indent="0" marL="0">
              <a:buNone/>
            </a:pPr>
            <a:r>
              <a:rPr lang="en-US" sz="900" dirty="0">
                <a:solidFill>
                  <a:srgbClr val="546E7A"/>
                </a:solidFill>
              </a:rPr>
              <a:t>compile() → CompilationResult via Judge0/Paiza/JDoodle [2],[8]</a:t>
            </a:r>
            <a:endParaRPr lang="en-US" sz="900" dirty="0"/>
          </a:p>
        </p:txBody>
      </p:sp>
      <p:sp>
        <p:nvSpPr>
          <p:cNvPr id="29" name="Shape 22"/>
          <p:cNvSpPr/>
          <p:nvPr/>
        </p:nvSpPr>
        <p:spPr>
          <a:xfrm>
            <a:off x="4773168" y="2011680"/>
            <a:ext cx="4279392" cy="89611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30" name="Shape 23"/>
          <p:cNvSpPr/>
          <p:nvPr/>
        </p:nvSpPr>
        <p:spPr>
          <a:xfrm>
            <a:off x="4864608" y="2185416"/>
            <a:ext cx="502920" cy="502920"/>
          </a:xfrm>
          <a:prstGeom prst="ellipse">
            <a:avLst/>
          </a:prstGeom>
          <a:solidFill>
            <a:srgbClr val="F57C00"/>
          </a:solidFill>
          <a:ln w="12700">
            <a:solidFill>
              <a:srgbClr val="F57C00"/>
            </a:solidFill>
            <a:prstDash val="solid"/>
          </a:ln>
        </p:spPr>
      </p:sp>
      <p:pic>
        <p:nvPicPr>
          <p:cNvPr id="31" name="Image 5" descr="preencoded.png">    </p:cNvPr>
          <p:cNvPicPr>
            <a:picLocks noChangeAspect="1"/>
          </p:cNvPicPr>
          <p:nvPr/>
        </p:nvPicPr>
        <p:blipFill>
          <a:blip r:embed="rId6"/>
          <a:stretch>
            <a:fillRect/>
          </a:stretch>
        </p:blipFill>
        <p:spPr>
          <a:xfrm>
            <a:off x="4937760" y="2249424"/>
            <a:ext cx="347472" cy="347472"/>
          </a:xfrm>
          <a:prstGeom prst="rect">
            <a:avLst/>
          </a:prstGeom>
        </p:spPr>
      </p:pic>
      <p:sp>
        <p:nvSpPr>
          <p:cNvPr id="32" name="Text 24"/>
          <p:cNvSpPr/>
          <p:nvPr/>
        </p:nvSpPr>
        <p:spPr>
          <a:xfrm>
            <a:off x="5468112" y="2084832"/>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AuthService (JWT)</a:t>
            </a:r>
            <a:endParaRPr lang="en-US" sz="1100" dirty="0"/>
          </a:p>
        </p:txBody>
      </p:sp>
      <p:sp>
        <p:nvSpPr>
          <p:cNvPr id="33" name="Text 25"/>
          <p:cNvSpPr/>
          <p:nvPr/>
        </p:nvSpPr>
        <p:spPr>
          <a:xfrm>
            <a:off x="5468112" y="2414016"/>
            <a:ext cx="3474720" cy="402336"/>
          </a:xfrm>
          <a:prstGeom prst="rect">
            <a:avLst/>
          </a:prstGeom>
          <a:noFill/>
          <a:ln/>
        </p:spPr>
        <p:txBody>
          <a:bodyPr wrap="square" lIns="0" tIns="0" rIns="0" bIns="0" rtlCol="0" anchor="ctr"/>
          <a:lstStyle/>
          <a:p>
            <a:pPr indent="0" marL="0">
              <a:buNone/>
            </a:pPr>
            <a:r>
              <a:rPr lang="en-US" sz="900" dirty="0">
                <a:solidFill>
                  <a:srgbClr val="546E7A"/>
                </a:solidFill>
              </a:rPr>
              <a:t>register(), login() → JWT token, verifyToken(), bcrypt hashing [7]</a:t>
            </a:r>
            <a:endParaRPr lang="en-US" sz="900" dirty="0"/>
          </a:p>
        </p:txBody>
      </p:sp>
      <p:sp>
        <p:nvSpPr>
          <p:cNvPr id="34" name="Shape 26"/>
          <p:cNvSpPr/>
          <p:nvPr/>
        </p:nvSpPr>
        <p:spPr>
          <a:xfrm>
            <a:off x="4773168" y="3017520"/>
            <a:ext cx="4279392" cy="89611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35" name="Shape 27"/>
          <p:cNvSpPr/>
          <p:nvPr/>
        </p:nvSpPr>
        <p:spPr>
          <a:xfrm>
            <a:off x="4864608" y="3191256"/>
            <a:ext cx="502920" cy="502920"/>
          </a:xfrm>
          <a:prstGeom prst="ellipse">
            <a:avLst/>
          </a:prstGeom>
          <a:solidFill>
            <a:srgbClr val="1565C0"/>
          </a:solidFill>
          <a:ln w="12700">
            <a:solidFill>
              <a:srgbClr val="1565C0"/>
            </a:solidFill>
            <a:prstDash val="solid"/>
          </a:ln>
        </p:spPr>
      </p:sp>
      <p:pic>
        <p:nvPicPr>
          <p:cNvPr id="36" name="Image 6" descr="preencoded.png">    </p:cNvPr>
          <p:cNvPicPr>
            <a:picLocks noChangeAspect="1"/>
          </p:cNvPicPr>
          <p:nvPr/>
        </p:nvPicPr>
        <p:blipFill>
          <a:blip r:embed="rId7"/>
          <a:stretch>
            <a:fillRect/>
          </a:stretch>
        </p:blipFill>
        <p:spPr>
          <a:xfrm>
            <a:off x="4937760" y="3255264"/>
            <a:ext cx="347472" cy="347472"/>
          </a:xfrm>
          <a:prstGeom prst="rect">
            <a:avLst/>
          </a:prstGeom>
        </p:spPr>
      </p:pic>
      <p:sp>
        <p:nvSpPr>
          <p:cNvPr id="37" name="Text 28"/>
          <p:cNvSpPr/>
          <p:nvPr/>
        </p:nvSpPr>
        <p:spPr>
          <a:xfrm>
            <a:off x="5468112" y="3090672"/>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StorageService</a:t>
            </a:r>
            <a:endParaRPr lang="en-US" sz="1100" dirty="0"/>
          </a:p>
        </p:txBody>
      </p:sp>
      <p:sp>
        <p:nvSpPr>
          <p:cNvPr id="38" name="Text 29"/>
          <p:cNvSpPr/>
          <p:nvPr/>
        </p:nvSpPr>
        <p:spPr>
          <a:xfrm>
            <a:off x="5468112" y="3419856"/>
            <a:ext cx="3474720" cy="402336"/>
          </a:xfrm>
          <a:prstGeom prst="rect">
            <a:avLst/>
          </a:prstGeom>
          <a:noFill/>
          <a:ln/>
        </p:spPr>
        <p:txBody>
          <a:bodyPr wrap="square" lIns="0" tIns="0" rIns="0" bIns="0" rtlCol="0" anchor="ctr"/>
          <a:lstStyle/>
          <a:p>
            <a:pPr indent="0" marL="0">
              <a:buNone/>
            </a:pPr>
            <a:r>
              <a:rPr lang="en-US" sz="900" dirty="0">
                <a:solidFill>
                  <a:srgbClr val="546E7A"/>
                </a:solidFill>
              </a:rPr>
              <a:t>saveCode(), loadCode(), generateShareLink() via Supabase [13]</a:t>
            </a:r>
            <a:endParaRPr lang="en-US" sz="900" dirty="0"/>
          </a:p>
        </p:txBody>
      </p:sp>
      <p:sp>
        <p:nvSpPr>
          <p:cNvPr id="39" name="Shape 30"/>
          <p:cNvSpPr/>
          <p:nvPr/>
        </p:nvSpPr>
        <p:spPr>
          <a:xfrm>
            <a:off x="4773168" y="4023360"/>
            <a:ext cx="4279392" cy="896112"/>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40" name="Shape 31"/>
          <p:cNvSpPr/>
          <p:nvPr/>
        </p:nvSpPr>
        <p:spPr>
          <a:xfrm>
            <a:off x="4864608" y="4197096"/>
            <a:ext cx="502920" cy="502920"/>
          </a:xfrm>
          <a:prstGeom prst="ellipse">
            <a:avLst/>
          </a:prstGeom>
          <a:solidFill>
            <a:srgbClr val="00ACC1"/>
          </a:solidFill>
          <a:ln w="12700">
            <a:solidFill>
              <a:srgbClr val="00ACC1"/>
            </a:solidFill>
            <a:prstDash val="solid"/>
          </a:ln>
        </p:spPr>
      </p:sp>
      <p:pic>
        <p:nvPicPr>
          <p:cNvPr id="41" name="Image 7" descr="preencoded.png">    </p:cNvPr>
          <p:cNvPicPr>
            <a:picLocks noChangeAspect="1"/>
          </p:cNvPicPr>
          <p:nvPr/>
        </p:nvPicPr>
        <p:blipFill>
          <a:blip r:embed="rId8"/>
          <a:stretch>
            <a:fillRect/>
          </a:stretch>
        </p:blipFill>
        <p:spPr>
          <a:xfrm>
            <a:off x="4937760" y="4261104"/>
            <a:ext cx="347472" cy="347472"/>
          </a:xfrm>
          <a:prstGeom prst="rect">
            <a:avLst/>
          </a:prstGeom>
        </p:spPr>
      </p:pic>
      <p:sp>
        <p:nvSpPr>
          <p:cNvPr id="42" name="Text 32"/>
          <p:cNvSpPr/>
          <p:nvPr/>
        </p:nvSpPr>
        <p:spPr>
          <a:xfrm>
            <a:off x="5468112" y="4096512"/>
            <a:ext cx="3474720" cy="320040"/>
          </a:xfrm>
          <a:prstGeom prst="rect">
            <a:avLst/>
          </a:prstGeom>
          <a:noFill/>
          <a:ln/>
        </p:spPr>
        <p:txBody>
          <a:bodyPr wrap="square" lIns="0" tIns="0" rIns="0" bIns="0" rtlCol="0" anchor="ctr"/>
          <a:lstStyle/>
          <a:p>
            <a:pPr indent="0" marL="0">
              <a:buNone/>
            </a:pPr>
            <a:r>
              <a:rPr lang="en-US" sz="1100" b="1" dirty="0">
                <a:solidFill>
                  <a:srgbClr val="0B1F3A"/>
                </a:solidFill>
              </a:rPr>
              <a:t>TTSService</a:t>
            </a:r>
            <a:endParaRPr lang="en-US" sz="1100" dirty="0"/>
          </a:p>
        </p:txBody>
      </p:sp>
      <p:sp>
        <p:nvSpPr>
          <p:cNvPr id="43" name="Text 33"/>
          <p:cNvSpPr/>
          <p:nvPr/>
        </p:nvSpPr>
        <p:spPr>
          <a:xfrm>
            <a:off x="5468112" y="4425696"/>
            <a:ext cx="3474720" cy="402336"/>
          </a:xfrm>
          <a:prstGeom prst="rect">
            <a:avLst/>
          </a:prstGeom>
          <a:noFill/>
          <a:ln/>
        </p:spPr>
        <p:txBody>
          <a:bodyPr wrap="square" lIns="0" tIns="0" rIns="0" bIns="0" rtlCol="0" anchor="ctr"/>
          <a:lstStyle/>
          <a:p>
            <a:pPr indent="0" marL="0">
              <a:buNone/>
            </a:pPr>
            <a:r>
              <a:rPr lang="en-US" sz="900" dirty="0">
                <a:solidFill>
                  <a:srgbClr val="546E7A"/>
                </a:solidFill>
              </a:rPr>
              <a:t>speak() in Urdu/English using Speech Synthesis API [1]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Detailed Design: Flow &amp; States</a:t>
            </a:r>
            <a:endParaRPr lang="en-US" sz="2600" dirty="0"/>
          </a:p>
        </p:txBody>
      </p:sp>
      <p:sp>
        <p:nvSpPr>
          <p:cNvPr id="4" name="Shape 2"/>
          <p:cNvSpPr/>
          <p:nvPr/>
        </p:nvSpPr>
        <p:spPr>
          <a:xfrm>
            <a:off x="228600" y="1005840"/>
            <a:ext cx="4206240" cy="379476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28600" y="1005840"/>
            <a:ext cx="4206240" cy="384048"/>
          </a:xfrm>
          <a:prstGeom prst="rect">
            <a:avLst/>
          </a:prstGeom>
          <a:solidFill>
            <a:srgbClr val="1565C0"/>
          </a:solidFill>
          <a:ln w="12700">
            <a:solidFill>
              <a:srgbClr val="1565C0"/>
            </a:solidFill>
            <a:prstDash val="solid"/>
          </a:ln>
        </p:spPr>
      </p:sp>
      <p:sp>
        <p:nvSpPr>
          <p:cNvPr id="6" name="Text 4"/>
          <p:cNvSpPr/>
          <p:nvPr/>
        </p:nvSpPr>
        <p:spPr>
          <a:xfrm>
            <a:off x="320040" y="1024128"/>
            <a:ext cx="4023360" cy="347472"/>
          </a:xfrm>
          <a:prstGeom prst="rect">
            <a:avLst/>
          </a:prstGeom>
          <a:noFill/>
          <a:ln/>
        </p:spPr>
        <p:txBody>
          <a:bodyPr wrap="square" lIns="0" tIns="0" rIns="0" bIns="0" rtlCol="0" anchor="ctr"/>
          <a:lstStyle/>
          <a:p>
            <a:pPr indent="0" marL="0">
              <a:buNone/>
            </a:pPr>
            <a:r>
              <a:rPr lang="en-US" sz="1300" b="1" dirty="0">
                <a:solidFill>
                  <a:srgbClr val="FFFFFF"/>
                </a:solidFill>
              </a:rPr>
              <a:t>Sequence Flow (12 Steps)</a:t>
            </a:r>
            <a:endParaRPr lang="en-US" sz="1300" dirty="0"/>
          </a:p>
        </p:txBody>
      </p:sp>
      <p:sp>
        <p:nvSpPr>
          <p:cNvPr id="7" name="Shape 5"/>
          <p:cNvSpPr/>
          <p:nvPr/>
        </p:nvSpPr>
        <p:spPr>
          <a:xfrm>
            <a:off x="320040" y="1481328"/>
            <a:ext cx="201168" cy="201168"/>
          </a:xfrm>
          <a:prstGeom prst="ellipse">
            <a:avLst/>
          </a:prstGeom>
          <a:solidFill>
            <a:srgbClr val="1565C0"/>
          </a:solidFill>
          <a:ln w="12700">
            <a:solidFill>
              <a:srgbClr val="1565C0"/>
            </a:solidFill>
            <a:prstDash val="solid"/>
          </a:ln>
        </p:spPr>
      </p:sp>
      <p:sp>
        <p:nvSpPr>
          <p:cNvPr id="8" name="Text 6"/>
          <p:cNvSpPr/>
          <p:nvPr/>
        </p:nvSpPr>
        <p:spPr>
          <a:xfrm>
            <a:off x="320040" y="1481328"/>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rPr>
              <a:t>1</a:t>
            </a:r>
            <a:endParaRPr lang="en-US" sz="700" dirty="0"/>
          </a:p>
        </p:txBody>
      </p:sp>
      <p:sp>
        <p:nvSpPr>
          <p:cNvPr id="9" name="Text 7"/>
          <p:cNvSpPr/>
          <p:nvPr/>
        </p:nvSpPr>
        <p:spPr>
          <a:xfrm>
            <a:off x="576072" y="1453896"/>
            <a:ext cx="3749040" cy="228600"/>
          </a:xfrm>
          <a:prstGeom prst="rect">
            <a:avLst/>
          </a:prstGeom>
          <a:noFill/>
          <a:ln/>
        </p:spPr>
        <p:txBody>
          <a:bodyPr wrap="square" lIns="0" tIns="0" rIns="0" bIns="0" rtlCol="0" anchor="ctr"/>
          <a:lstStyle/>
          <a:p>
            <a:pPr indent="0" marL="0">
              <a:buNone/>
            </a:pPr>
            <a:r>
              <a:rPr lang="en-US" sz="900" dirty="0">
                <a:solidFill>
                  <a:srgbClr val="546E7A"/>
                </a:solidFill>
              </a:rPr>
              <a:t>User speaks C++ command</a:t>
            </a:r>
            <a:endParaRPr lang="en-US" sz="900" dirty="0"/>
          </a:p>
        </p:txBody>
      </p:sp>
      <p:sp>
        <p:nvSpPr>
          <p:cNvPr id="10" name="Shape 8"/>
          <p:cNvSpPr/>
          <p:nvPr/>
        </p:nvSpPr>
        <p:spPr>
          <a:xfrm>
            <a:off x="320040" y="1728216"/>
            <a:ext cx="201168" cy="201168"/>
          </a:xfrm>
          <a:prstGeom prst="ellipse">
            <a:avLst/>
          </a:prstGeom>
          <a:solidFill>
            <a:srgbClr val="00ACC1"/>
          </a:solidFill>
          <a:ln w="12700">
            <a:solidFill>
              <a:srgbClr val="00ACC1"/>
            </a:solidFill>
            <a:prstDash val="solid"/>
          </a:ln>
        </p:spPr>
      </p:sp>
      <p:sp>
        <p:nvSpPr>
          <p:cNvPr id="11" name="Text 9"/>
          <p:cNvSpPr/>
          <p:nvPr/>
        </p:nvSpPr>
        <p:spPr>
          <a:xfrm>
            <a:off x="320040" y="1728216"/>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rPr>
              <a:t>2</a:t>
            </a:r>
            <a:endParaRPr lang="en-US" sz="700" dirty="0"/>
          </a:p>
        </p:txBody>
      </p:sp>
      <p:sp>
        <p:nvSpPr>
          <p:cNvPr id="12" name="Text 10"/>
          <p:cNvSpPr/>
          <p:nvPr/>
        </p:nvSpPr>
        <p:spPr>
          <a:xfrm>
            <a:off x="576072" y="1700784"/>
            <a:ext cx="3749040" cy="228600"/>
          </a:xfrm>
          <a:prstGeom prst="rect">
            <a:avLst/>
          </a:prstGeom>
          <a:noFill/>
          <a:ln/>
        </p:spPr>
        <p:txBody>
          <a:bodyPr wrap="square" lIns="0" tIns="0" rIns="0" bIns="0" rtlCol="0" anchor="ctr"/>
          <a:lstStyle/>
          <a:p>
            <a:pPr indent="0" marL="0">
              <a:buNone/>
            </a:pPr>
            <a:r>
              <a:rPr lang="en-US" sz="900" dirty="0">
                <a:solidFill>
                  <a:srgbClr val="546E7A"/>
                </a:solidFill>
              </a:rPr>
              <a:t>Audio captured → Web Speech API [1]</a:t>
            </a:r>
            <a:endParaRPr lang="en-US" sz="900" dirty="0"/>
          </a:p>
        </p:txBody>
      </p:sp>
      <p:sp>
        <p:nvSpPr>
          <p:cNvPr id="13" name="Shape 11"/>
          <p:cNvSpPr/>
          <p:nvPr/>
        </p:nvSpPr>
        <p:spPr>
          <a:xfrm>
            <a:off x="320040" y="1975104"/>
            <a:ext cx="201168" cy="201168"/>
          </a:xfrm>
          <a:prstGeom prst="ellipse">
            <a:avLst/>
          </a:prstGeom>
          <a:solidFill>
            <a:srgbClr val="F57C00"/>
          </a:solidFill>
          <a:ln w="12700">
            <a:solidFill>
              <a:srgbClr val="F57C00"/>
            </a:solidFill>
            <a:prstDash val="solid"/>
          </a:ln>
        </p:spPr>
      </p:sp>
      <p:sp>
        <p:nvSpPr>
          <p:cNvPr id="14" name="Text 12"/>
          <p:cNvSpPr/>
          <p:nvPr/>
        </p:nvSpPr>
        <p:spPr>
          <a:xfrm>
            <a:off x="320040" y="1975104"/>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rPr>
              <a:t>3</a:t>
            </a:r>
            <a:endParaRPr lang="en-US" sz="700" dirty="0"/>
          </a:p>
        </p:txBody>
      </p:sp>
      <p:sp>
        <p:nvSpPr>
          <p:cNvPr id="15" name="Text 13"/>
          <p:cNvSpPr/>
          <p:nvPr/>
        </p:nvSpPr>
        <p:spPr>
          <a:xfrm>
            <a:off x="576072" y="1947672"/>
            <a:ext cx="3749040" cy="228600"/>
          </a:xfrm>
          <a:prstGeom prst="rect">
            <a:avLst/>
          </a:prstGeom>
          <a:noFill/>
          <a:ln/>
        </p:spPr>
        <p:txBody>
          <a:bodyPr wrap="square" lIns="0" tIns="0" rIns="0" bIns="0" rtlCol="0" anchor="ctr"/>
          <a:lstStyle/>
          <a:p>
            <a:pPr indent="0" marL="0">
              <a:buNone/>
            </a:pPr>
            <a:r>
              <a:rPr lang="en-US" sz="900" dirty="0">
                <a:solidFill>
                  <a:srgbClr val="546E7A"/>
                </a:solidFill>
              </a:rPr>
              <a:t>Text transcribed and returned</a:t>
            </a:r>
            <a:endParaRPr lang="en-US" sz="900" dirty="0"/>
          </a:p>
        </p:txBody>
      </p:sp>
      <p:sp>
        <p:nvSpPr>
          <p:cNvPr id="16" name="Shape 14"/>
          <p:cNvSpPr/>
          <p:nvPr/>
        </p:nvSpPr>
        <p:spPr>
          <a:xfrm>
            <a:off x="320040" y="2221992"/>
            <a:ext cx="201168" cy="201168"/>
          </a:xfrm>
          <a:prstGeom prst="ellipse">
            <a:avLst/>
          </a:prstGeom>
          <a:solidFill>
            <a:srgbClr val="1565C0"/>
          </a:solidFill>
          <a:ln w="12700">
            <a:solidFill>
              <a:srgbClr val="1565C0"/>
            </a:solidFill>
            <a:prstDash val="solid"/>
          </a:ln>
        </p:spPr>
      </p:sp>
      <p:sp>
        <p:nvSpPr>
          <p:cNvPr id="17" name="Text 15"/>
          <p:cNvSpPr/>
          <p:nvPr/>
        </p:nvSpPr>
        <p:spPr>
          <a:xfrm>
            <a:off x="320040" y="2221992"/>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rPr>
              <a:t>4</a:t>
            </a:r>
            <a:endParaRPr lang="en-US" sz="700" dirty="0"/>
          </a:p>
        </p:txBody>
      </p:sp>
      <p:sp>
        <p:nvSpPr>
          <p:cNvPr id="18" name="Text 16"/>
          <p:cNvSpPr/>
          <p:nvPr/>
        </p:nvSpPr>
        <p:spPr>
          <a:xfrm>
            <a:off x="576072" y="2194560"/>
            <a:ext cx="3749040" cy="228600"/>
          </a:xfrm>
          <a:prstGeom prst="rect">
            <a:avLst/>
          </a:prstGeom>
          <a:noFill/>
          <a:ln/>
        </p:spPr>
        <p:txBody>
          <a:bodyPr wrap="square" lIns="0" tIns="0" rIns="0" bIns="0" rtlCol="0" anchor="ctr"/>
          <a:lstStyle/>
          <a:p>
            <a:pPr indent="0" marL="0">
              <a:buNone/>
            </a:pPr>
            <a:r>
              <a:rPr lang="en-US" sz="900" dirty="0">
                <a:solidFill>
                  <a:srgbClr val="546E7A"/>
                </a:solidFill>
              </a:rPr>
              <a:t>Command Parser detects level (1/2/3)</a:t>
            </a:r>
            <a:endParaRPr lang="en-US" sz="900" dirty="0"/>
          </a:p>
        </p:txBody>
      </p:sp>
      <p:sp>
        <p:nvSpPr>
          <p:cNvPr id="19" name="Shape 17"/>
          <p:cNvSpPr/>
          <p:nvPr/>
        </p:nvSpPr>
        <p:spPr>
          <a:xfrm>
            <a:off x="320040" y="2468880"/>
            <a:ext cx="201168" cy="201168"/>
          </a:xfrm>
          <a:prstGeom prst="ellipse">
            <a:avLst/>
          </a:prstGeom>
          <a:solidFill>
            <a:srgbClr val="00ACC1"/>
          </a:solidFill>
          <a:ln w="12700">
            <a:solidFill>
              <a:srgbClr val="00ACC1"/>
            </a:solidFill>
            <a:prstDash val="solid"/>
          </a:ln>
        </p:spPr>
      </p:sp>
      <p:sp>
        <p:nvSpPr>
          <p:cNvPr id="20" name="Text 18"/>
          <p:cNvSpPr/>
          <p:nvPr/>
        </p:nvSpPr>
        <p:spPr>
          <a:xfrm>
            <a:off x="320040" y="2468880"/>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rPr>
              <a:t>5</a:t>
            </a:r>
            <a:endParaRPr lang="en-US" sz="700" dirty="0"/>
          </a:p>
        </p:txBody>
      </p:sp>
      <p:sp>
        <p:nvSpPr>
          <p:cNvPr id="21" name="Text 19"/>
          <p:cNvSpPr/>
          <p:nvPr/>
        </p:nvSpPr>
        <p:spPr>
          <a:xfrm>
            <a:off x="576072" y="2441448"/>
            <a:ext cx="3749040" cy="228600"/>
          </a:xfrm>
          <a:prstGeom prst="rect">
            <a:avLst/>
          </a:prstGeom>
          <a:noFill/>
          <a:ln/>
        </p:spPr>
        <p:txBody>
          <a:bodyPr wrap="square" lIns="0" tIns="0" rIns="0" bIns="0" rtlCol="0" anchor="ctr"/>
          <a:lstStyle/>
          <a:p>
            <a:pPr indent="0" marL="0">
              <a:buNone/>
            </a:pPr>
            <a:r>
              <a:rPr lang="en-US" sz="900" dirty="0">
                <a:solidFill>
                  <a:srgbClr val="546E7A"/>
                </a:solidFill>
              </a:rPr>
              <a:t>L3: Sent to GPT-4o → C++ returned [12]</a:t>
            </a:r>
            <a:endParaRPr lang="en-US" sz="900" dirty="0"/>
          </a:p>
        </p:txBody>
      </p:sp>
      <p:sp>
        <p:nvSpPr>
          <p:cNvPr id="22" name="Shape 20"/>
          <p:cNvSpPr/>
          <p:nvPr/>
        </p:nvSpPr>
        <p:spPr>
          <a:xfrm>
            <a:off x="320040" y="2715768"/>
            <a:ext cx="201168" cy="201168"/>
          </a:xfrm>
          <a:prstGeom prst="ellipse">
            <a:avLst/>
          </a:prstGeom>
          <a:solidFill>
            <a:srgbClr val="F57C00"/>
          </a:solidFill>
          <a:ln w="12700">
            <a:solidFill>
              <a:srgbClr val="F57C00"/>
            </a:solidFill>
            <a:prstDash val="solid"/>
          </a:ln>
        </p:spPr>
      </p:sp>
      <p:sp>
        <p:nvSpPr>
          <p:cNvPr id="23" name="Text 21"/>
          <p:cNvSpPr/>
          <p:nvPr/>
        </p:nvSpPr>
        <p:spPr>
          <a:xfrm>
            <a:off x="320040" y="2715768"/>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rPr>
              <a:t>6</a:t>
            </a:r>
            <a:endParaRPr lang="en-US" sz="700" dirty="0"/>
          </a:p>
        </p:txBody>
      </p:sp>
      <p:sp>
        <p:nvSpPr>
          <p:cNvPr id="24" name="Text 22"/>
          <p:cNvSpPr/>
          <p:nvPr/>
        </p:nvSpPr>
        <p:spPr>
          <a:xfrm>
            <a:off x="576072" y="2688336"/>
            <a:ext cx="3749040" cy="228600"/>
          </a:xfrm>
          <a:prstGeom prst="rect">
            <a:avLst/>
          </a:prstGeom>
          <a:noFill/>
          <a:ln/>
        </p:spPr>
        <p:txBody>
          <a:bodyPr wrap="square" lIns="0" tIns="0" rIns="0" bIns="0" rtlCol="0" anchor="ctr"/>
          <a:lstStyle/>
          <a:p>
            <a:pPr indent="0" marL="0">
              <a:buNone/>
            </a:pPr>
            <a:r>
              <a:rPr lang="en-US" sz="900" dirty="0">
                <a:solidFill>
                  <a:srgbClr val="546E7A"/>
                </a:solidFill>
              </a:rPr>
              <a:t>Code displayed in Monaco Editor [3]</a:t>
            </a:r>
            <a:endParaRPr lang="en-US" sz="900" dirty="0"/>
          </a:p>
        </p:txBody>
      </p:sp>
      <p:sp>
        <p:nvSpPr>
          <p:cNvPr id="25" name="Shape 23"/>
          <p:cNvSpPr/>
          <p:nvPr/>
        </p:nvSpPr>
        <p:spPr>
          <a:xfrm>
            <a:off x="320040" y="2962656"/>
            <a:ext cx="201168" cy="201168"/>
          </a:xfrm>
          <a:prstGeom prst="ellipse">
            <a:avLst/>
          </a:prstGeom>
          <a:solidFill>
            <a:srgbClr val="1565C0"/>
          </a:solidFill>
          <a:ln w="12700">
            <a:solidFill>
              <a:srgbClr val="1565C0"/>
            </a:solidFill>
            <a:prstDash val="solid"/>
          </a:ln>
        </p:spPr>
      </p:sp>
      <p:sp>
        <p:nvSpPr>
          <p:cNvPr id="26" name="Text 24"/>
          <p:cNvSpPr/>
          <p:nvPr/>
        </p:nvSpPr>
        <p:spPr>
          <a:xfrm>
            <a:off x="320040" y="2962656"/>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rPr>
              <a:t>7</a:t>
            </a:r>
            <a:endParaRPr lang="en-US" sz="700" dirty="0"/>
          </a:p>
        </p:txBody>
      </p:sp>
      <p:sp>
        <p:nvSpPr>
          <p:cNvPr id="27" name="Text 25"/>
          <p:cNvSpPr/>
          <p:nvPr/>
        </p:nvSpPr>
        <p:spPr>
          <a:xfrm>
            <a:off x="576072" y="2935224"/>
            <a:ext cx="3749040" cy="228600"/>
          </a:xfrm>
          <a:prstGeom prst="rect">
            <a:avLst/>
          </a:prstGeom>
          <a:noFill/>
          <a:ln/>
        </p:spPr>
        <p:txBody>
          <a:bodyPr wrap="square" lIns="0" tIns="0" rIns="0" bIns="0" rtlCol="0" anchor="ctr"/>
          <a:lstStyle/>
          <a:p>
            <a:pPr indent="0" marL="0">
              <a:buNone/>
            </a:pPr>
            <a:r>
              <a:rPr lang="en-US" sz="900" dirty="0">
                <a:solidFill>
                  <a:srgbClr val="546E7A"/>
                </a:solidFill>
              </a:rPr>
              <a:t>User reviews / optional keyboard edit</a:t>
            </a:r>
            <a:endParaRPr lang="en-US" sz="900" dirty="0"/>
          </a:p>
        </p:txBody>
      </p:sp>
      <p:sp>
        <p:nvSpPr>
          <p:cNvPr id="28" name="Shape 26"/>
          <p:cNvSpPr/>
          <p:nvPr/>
        </p:nvSpPr>
        <p:spPr>
          <a:xfrm>
            <a:off x="320040" y="3209544"/>
            <a:ext cx="201168" cy="201168"/>
          </a:xfrm>
          <a:prstGeom prst="ellipse">
            <a:avLst/>
          </a:prstGeom>
          <a:solidFill>
            <a:srgbClr val="00ACC1"/>
          </a:solidFill>
          <a:ln w="12700">
            <a:solidFill>
              <a:srgbClr val="00ACC1"/>
            </a:solidFill>
            <a:prstDash val="solid"/>
          </a:ln>
        </p:spPr>
      </p:sp>
      <p:sp>
        <p:nvSpPr>
          <p:cNvPr id="29" name="Text 27"/>
          <p:cNvSpPr/>
          <p:nvPr/>
        </p:nvSpPr>
        <p:spPr>
          <a:xfrm>
            <a:off x="320040" y="3209544"/>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rPr>
              <a:t>8</a:t>
            </a:r>
            <a:endParaRPr lang="en-US" sz="700" dirty="0"/>
          </a:p>
        </p:txBody>
      </p:sp>
      <p:sp>
        <p:nvSpPr>
          <p:cNvPr id="30" name="Text 28"/>
          <p:cNvSpPr/>
          <p:nvPr/>
        </p:nvSpPr>
        <p:spPr>
          <a:xfrm>
            <a:off x="576072" y="3182112"/>
            <a:ext cx="3749040" cy="228600"/>
          </a:xfrm>
          <a:prstGeom prst="rect">
            <a:avLst/>
          </a:prstGeom>
          <a:noFill/>
          <a:ln/>
        </p:spPr>
        <p:txBody>
          <a:bodyPr wrap="square" lIns="0" tIns="0" rIns="0" bIns="0" rtlCol="0" anchor="ctr"/>
          <a:lstStyle/>
          <a:p>
            <a:pPr indent="0" marL="0">
              <a:buNone/>
            </a:pPr>
            <a:r>
              <a:rPr lang="en-US" sz="900" dirty="0">
                <a:solidFill>
                  <a:srgbClr val="546E7A"/>
                </a:solidFill>
              </a:rPr>
              <a:t>Compile triggered (voice or click)</a:t>
            </a:r>
            <a:endParaRPr lang="en-US" sz="900" dirty="0"/>
          </a:p>
        </p:txBody>
      </p:sp>
      <p:sp>
        <p:nvSpPr>
          <p:cNvPr id="31" name="Shape 29"/>
          <p:cNvSpPr/>
          <p:nvPr/>
        </p:nvSpPr>
        <p:spPr>
          <a:xfrm>
            <a:off x="320040" y="3456432"/>
            <a:ext cx="201168" cy="201168"/>
          </a:xfrm>
          <a:prstGeom prst="ellipse">
            <a:avLst/>
          </a:prstGeom>
          <a:solidFill>
            <a:srgbClr val="F57C00"/>
          </a:solidFill>
          <a:ln w="12700">
            <a:solidFill>
              <a:srgbClr val="F57C00"/>
            </a:solidFill>
            <a:prstDash val="solid"/>
          </a:ln>
        </p:spPr>
      </p:sp>
      <p:sp>
        <p:nvSpPr>
          <p:cNvPr id="32" name="Text 30"/>
          <p:cNvSpPr/>
          <p:nvPr/>
        </p:nvSpPr>
        <p:spPr>
          <a:xfrm>
            <a:off x="320040" y="3456432"/>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rPr>
              <a:t>9</a:t>
            </a:r>
            <a:endParaRPr lang="en-US" sz="700" dirty="0"/>
          </a:p>
        </p:txBody>
      </p:sp>
      <p:sp>
        <p:nvSpPr>
          <p:cNvPr id="33" name="Text 31"/>
          <p:cNvSpPr/>
          <p:nvPr/>
        </p:nvSpPr>
        <p:spPr>
          <a:xfrm>
            <a:off x="576072" y="3429000"/>
            <a:ext cx="3749040" cy="228600"/>
          </a:xfrm>
          <a:prstGeom prst="rect">
            <a:avLst/>
          </a:prstGeom>
          <a:noFill/>
          <a:ln/>
        </p:spPr>
        <p:txBody>
          <a:bodyPr wrap="square" lIns="0" tIns="0" rIns="0" bIns="0" rtlCol="0" anchor="ctr"/>
          <a:lstStyle/>
          <a:p>
            <a:pPr indent="0" marL="0">
              <a:buNone/>
            </a:pPr>
            <a:r>
              <a:rPr lang="en-US" sz="900" dirty="0">
                <a:solidFill>
                  <a:srgbClr val="546E7A"/>
                </a:solidFill>
              </a:rPr>
              <a:t>Backend sends to Compiler API [2],[8]</a:t>
            </a:r>
            <a:endParaRPr lang="en-US" sz="900" dirty="0"/>
          </a:p>
        </p:txBody>
      </p:sp>
      <p:sp>
        <p:nvSpPr>
          <p:cNvPr id="34" name="Shape 32"/>
          <p:cNvSpPr/>
          <p:nvPr/>
        </p:nvSpPr>
        <p:spPr>
          <a:xfrm>
            <a:off x="320040" y="3703320"/>
            <a:ext cx="201168" cy="201168"/>
          </a:xfrm>
          <a:prstGeom prst="ellipse">
            <a:avLst/>
          </a:prstGeom>
          <a:solidFill>
            <a:srgbClr val="1565C0"/>
          </a:solidFill>
          <a:ln w="12700">
            <a:solidFill>
              <a:srgbClr val="1565C0"/>
            </a:solidFill>
            <a:prstDash val="solid"/>
          </a:ln>
        </p:spPr>
      </p:sp>
      <p:sp>
        <p:nvSpPr>
          <p:cNvPr id="35" name="Text 33"/>
          <p:cNvSpPr/>
          <p:nvPr/>
        </p:nvSpPr>
        <p:spPr>
          <a:xfrm>
            <a:off x="320040" y="3703320"/>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rPr>
              <a:t>10</a:t>
            </a:r>
            <a:endParaRPr lang="en-US" sz="700" dirty="0"/>
          </a:p>
        </p:txBody>
      </p:sp>
      <p:sp>
        <p:nvSpPr>
          <p:cNvPr id="36" name="Text 34"/>
          <p:cNvSpPr/>
          <p:nvPr/>
        </p:nvSpPr>
        <p:spPr>
          <a:xfrm>
            <a:off x="576072" y="3675888"/>
            <a:ext cx="3749040" cy="228600"/>
          </a:xfrm>
          <a:prstGeom prst="rect">
            <a:avLst/>
          </a:prstGeom>
          <a:noFill/>
          <a:ln/>
        </p:spPr>
        <p:txBody>
          <a:bodyPr wrap="square" lIns="0" tIns="0" rIns="0" bIns="0" rtlCol="0" anchor="ctr"/>
          <a:lstStyle/>
          <a:p>
            <a:pPr indent="0" marL="0">
              <a:buNone/>
            </a:pPr>
            <a:r>
              <a:rPr lang="en-US" sz="900" dirty="0">
                <a:solidFill>
                  <a:srgbClr val="546E7A"/>
                </a:solidFill>
              </a:rPr>
              <a:t>Output returned and displayed</a:t>
            </a:r>
            <a:endParaRPr lang="en-US" sz="900" dirty="0"/>
          </a:p>
        </p:txBody>
      </p:sp>
      <p:sp>
        <p:nvSpPr>
          <p:cNvPr id="37" name="Shape 35"/>
          <p:cNvSpPr/>
          <p:nvPr/>
        </p:nvSpPr>
        <p:spPr>
          <a:xfrm>
            <a:off x="320040" y="3950208"/>
            <a:ext cx="201168" cy="201168"/>
          </a:xfrm>
          <a:prstGeom prst="ellipse">
            <a:avLst/>
          </a:prstGeom>
          <a:solidFill>
            <a:srgbClr val="00ACC1"/>
          </a:solidFill>
          <a:ln w="12700">
            <a:solidFill>
              <a:srgbClr val="00ACC1"/>
            </a:solidFill>
            <a:prstDash val="solid"/>
          </a:ln>
        </p:spPr>
      </p:sp>
      <p:sp>
        <p:nvSpPr>
          <p:cNvPr id="38" name="Text 36"/>
          <p:cNvSpPr/>
          <p:nvPr/>
        </p:nvSpPr>
        <p:spPr>
          <a:xfrm>
            <a:off x="320040" y="3950208"/>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rPr>
              <a:t>11</a:t>
            </a:r>
            <a:endParaRPr lang="en-US" sz="700" dirty="0"/>
          </a:p>
        </p:txBody>
      </p:sp>
      <p:sp>
        <p:nvSpPr>
          <p:cNvPr id="39" name="Text 37"/>
          <p:cNvSpPr/>
          <p:nvPr/>
        </p:nvSpPr>
        <p:spPr>
          <a:xfrm>
            <a:off x="576072" y="3922776"/>
            <a:ext cx="3749040" cy="228600"/>
          </a:xfrm>
          <a:prstGeom prst="rect">
            <a:avLst/>
          </a:prstGeom>
          <a:noFill/>
          <a:ln/>
        </p:spPr>
        <p:txBody>
          <a:bodyPr wrap="square" lIns="0" tIns="0" rIns="0" bIns="0" rtlCol="0" anchor="ctr"/>
          <a:lstStyle/>
          <a:p>
            <a:pPr indent="0" marL="0">
              <a:buNone/>
            </a:pPr>
            <a:r>
              <a:rPr lang="en-US" sz="900" dirty="0">
                <a:solidFill>
                  <a:srgbClr val="546E7A"/>
                </a:solidFill>
              </a:rPr>
              <a:t>Urdu TTS reads result aloud [1]</a:t>
            </a:r>
            <a:endParaRPr lang="en-US" sz="900" dirty="0"/>
          </a:p>
        </p:txBody>
      </p:sp>
      <p:sp>
        <p:nvSpPr>
          <p:cNvPr id="40" name="Shape 38"/>
          <p:cNvSpPr/>
          <p:nvPr/>
        </p:nvSpPr>
        <p:spPr>
          <a:xfrm>
            <a:off x="320040" y="4197096"/>
            <a:ext cx="201168" cy="201168"/>
          </a:xfrm>
          <a:prstGeom prst="ellipse">
            <a:avLst/>
          </a:prstGeom>
          <a:solidFill>
            <a:srgbClr val="F57C00"/>
          </a:solidFill>
          <a:ln w="12700">
            <a:solidFill>
              <a:srgbClr val="F57C00"/>
            </a:solidFill>
            <a:prstDash val="solid"/>
          </a:ln>
        </p:spPr>
      </p:sp>
      <p:sp>
        <p:nvSpPr>
          <p:cNvPr id="41" name="Text 39"/>
          <p:cNvSpPr/>
          <p:nvPr/>
        </p:nvSpPr>
        <p:spPr>
          <a:xfrm>
            <a:off x="320040" y="4197096"/>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rPr>
              <a:t>12</a:t>
            </a:r>
            <a:endParaRPr lang="en-US" sz="700" dirty="0"/>
          </a:p>
        </p:txBody>
      </p:sp>
      <p:sp>
        <p:nvSpPr>
          <p:cNvPr id="42" name="Text 40"/>
          <p:cNvSpPr/>
          <p:nvPr/>
        </p:nvSpPr>
        <p:spPr>
          <a:xfrm>
            <a:off x="576072" y="4169664"/>
            <a:ext cx="3749040" cy="228600"/>
          </a:xfrm>
          <a:prstGeom prst="rect">
            <a:avLst/>
          </a:prstGeom>
          <a:noFill/>
          <a:ln/>
        </p:spPr>
        <p:txBody>
          <a:bodyPr wrap="square" lIns="0" tIns="0" rIns="0" bIns="0" rtlCol="0" anchor="ctr"/>
          <a:lstStyle/>
          <a:p>
            <a:pPr indent="0" marL="0">
              <a:buNone/>
            </a:pPr>
            <a:r>
              <a:rPr lang="en-US" sz="900" dirty="0">
                <a:solidFill>
                  <a:srgbClr val="546E7A"/>
                </a:solidFill>
              </a:rPr>
              <a:t>User saves/shares file via JWT [7],[13]</a:t>
            </a:r>
            <a:endParaRPr lang="en-US" sz="900" dirty="0"/>
          </a:p>
        </p:txBody>
      </p:sp>
      <p:sp>
        <p:nvSpPr>
          <p:cNvPr id="43" name="Shape 41"/>
          <p:cNvSpPr/>
          <p:nvPr/>
        </p:nvSpPr>
        <p:spPr>
          <a:xfrm>
            <a:off x="4663440" y="1005840"/>
            <a:ext cx="4251960" cy="379476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44" name="Shape 42"/>
          <p:cNvSpPr/>
          <p:nvPr/>
        </p:nvSpPr>
        <p:spPr>
          <a:xfrm>
            <a:off x="4663440" y="1005840"/>
            <a:ext cx="4251960" cy="384048"/>
          </a:xfrm>
          <a:prstGeom prst="rect">
            <a:avLst/>
          </a:prstGeom>
          <a:solidFill>
            <a:srgbClr val="00ACC1"/>
          </a:solidFill>
          <a:ln w="12700">
            <a:solidFill>
              <a:srgbClr val="00ACC1"/>
            </a:solidFill>
            <a:prstDash val="solid"/>
          </a:ln>
        </p:spPr>
      </p:sp>
      <p:sp>
        <p:nvSpPr>
          <p:cNvPr id="45" name="Text 43"/>
          <p:cNvSpPr/>
          <p:nvPr/>
        </p:nvSpPr>
        <p:spPr>
          <a:xfrm>
            <a:off x="4754880" y="1024128"/>
            <a:ext cx="4069080" cy="347472"/>
          </a:xfrm>
          <a:prstGeom prst="rect">
            <a:avLst/>
          </a:prstGeom>
          <a:noFill/>
          <a:ln/>
        </p:spPr>
        <p:txBody>
          <a:bodyPr wrap="square" lIns="0" tIns="0" rIns="0" bIns="0" rtlCol="0" anchor="ctr"/>
          <a:lstStyle/>
          <a:p>
            <a:pPr indent="0" marL="0">
              <a:buNone/>
            </a:pPr>
            <a:r>
              <a:rPr lang="en-US" sz="1300" b="1" dirty="0">
                <a:solidFill>
                  <a:srgbClr val="FFFFFF"/>
                </a:solidFill>
              </a:rPr>
              <a:t>State Transition (8 States)</a:t>
            </a:r>
            <a:endParaRPr lang="en-US" sz="1300" dirty="0"/>
          </a:p>
        </p:txBody>
      </p:sp>
      <p:sp>
        <p:nvSpPr>
          <p:cNvPr id="46" name="Shape 44"/>
          <p:cNvSpPr/>
          <p:nvPr/>
        </p:nvSpPr>
        <p:spPr>
          <a:xfrm>
            <a:off x="4754880" y="1481328"/>
            <a:ext cx="292608" cy="274320"/>
          </a:xfrm>
          <a:prstGeom prst="rect">
            <a:avLst/>
          </a:prstGeom>
          <a:solidFill>
            <a:srgbClr val="1565C0"/>
          </a:solidFill>
          <a:ln w="12700">
            <a:solidFill>
              <a:srgbClr val="1565C0"/>
            </a:solidFill>
            <a:prstDash val="solid"/>
          </a:ln>
        </p:spPr>
      </p:sp>
      <p:sp>
        <p:nvSpPr>
          <p:cNvPr id="47" name="Text 45"/>
          <p:cNvSpPr/>
          <p:nvPr/>
        </p:nvSpPr>
        <p:spPr>
          <a:xfrm>
            <a:off x="4754880" y="1481328"/>
            <a:ext cx="292608" cy="274320"/>
          </a:xfrm>
          <a:prstGeom prst="rect">
            <a:avLst/>
          </a:prstGeom>
          <a:noFill/>
          <a:ln/>
        </p:spPr>
        <p:txBody>
          <a:bodyPr wrap="square" lIns="0" tIns="0" rIns="0" bIns="0" rtlCol="0" anchor="ctr"/>
          <a:lstStyle/>
          <a:p>
            <a:pPr algn="ctr" indent="0" marL="0">
              <a:buNone/>
            </a:pPr>
            <a:r>
              <a:rPr lang="en-US" sz="800" b="1" dirty="0">
                <a:solidFill>
                  <a:srgbClr val="FFFFFF"/>
                </a:solidFill>
              </a:rPr>
              <a:t>1</a:t>
            </a:r>
            <a:endParaRPr lang="en-US" sz="800" dirty="0"/>
          </a:p>
        </p:txBody>
      </p:sp>
      <p:sp>
        <p:nvSpPr>
          <p:cNvPr id="48" name="Text 46"/>
          <p:cNvSpPr/>
          <p:nvPr/>
        </p:nvSpPr>
        <p:spPr>
          <a:xfrm>
            <a:off x="5102352" y="1481328"/>
            <a:ext cx="1417320" cy="274320"/>
          </a:xfrm>
          <a:prstGeom prst="rect">
            <a:avLst/>
          </a:prstGeom>
          <a:noFill/>
          <a:ln/>
        </p:spPr>
        <p:txBody>
          <a:bodyPr wrap="square" lIns="0" tIns="0" rIns="0" bIns="0" rtlCol="0" anchor="ctr"/>
          <a:lstStyle/>
          <a:p>
            <a:pPr indent="0" marL="0">
              <a:buNone/>
            </a:pPr>
            <a:r>
              <a:rPr lang="en-US" sz="900" b="1" dirty="0">
                <a:solidFill>
                  <a:srgbClr val="0B1F3A"/>
                </a:solidFill>
              </a:rPr>
              <a:t>Idle</a:t>
            </a:r>
            <a:endParaRPr lang="en-US" sz="900" dirty="0"/>
          </a:p>
        </p:txBody>
      </p:sp>
      <p:sp>
        <p:nvSpPr>
          <p:cNvPr id="49" name="Text 47"/>
          <p:cNvSpPr/>
          <p:nvPr/>
        </p:nvSpPr>
        <p:spPr>
          <a:xfrm>
            <a:off x="6565392" y="1481328"/>
            <a:ext cx="2267712" cy="274320"/>
          </a:xfrm>
          <a:prstGeom prst="rect">
            <a:avLst/>
          </a:prstGeom>
          <a:noFill/>
          <a:ln/>
        </p:spPr>
        <p:txBody>
          <a:bodyPr wrap="square" lIns="0" tIns="0" rIns="0" bIns="0" rtlCol="0" anchor="ctr"/>
          <a:lstStyle/>
          <a:p>
            <a:pPr indent="0" marL="0">
              <a:buNone/>
            </a:pPr>
            <a:r>
              <a:rPr lang="en-US" sz="850" dirty="0">
                <a:solidFill>
                  <a:srgbClr val="546E7A"/>
                </a:solidFill>
              </a:rPr>
              <a:t>App initialized, awaiting user</a:t>
            </a:r>
            <a:endParaRPr lang="en-US" sz="850" dirty="0"/>
          </a:p>
        </p:txBody>
      </p:sp>
      <p:sp>
        <p:nvSpPr>
          <p:cNvPr id="50" name="Shape 48"/>
          <p:cNvSpPr/>
          <p:nvPr/>
        </p:nvSpPr>
        <p:spPr>
          <a:xfrm>
            <a:off x="4754880" y="1828800"/>
            <a:ext cx="292608" cy="274320"/>
          </a:xfrm>
          <a:prstGeom prst="rect">
            <a:avLst/>
          </a:prstGeom>
          <a:solidFill>
            <a:srgbClr val="00ACC1"/>
          </a:solidFill>
          <a:ln w="12700">
            <a:solidFill>
              <a:srgbClr val="00ACC1"/>
            </a:solidFill>
            <a:prstDash val="solid"/>
          </a:ln>
        </p:spPr>
      </p:sp>
      <p:sp>
        <p:nvSpPr>
          <p:cNvPr id="51" name="Text 49"/>
          <p:cNvSpPr/>
          <p:nvPr/>
        </p:nvSpPr>
        <p:spPr>
          <a:xfrm>
            <a:off x="4754880" y="1828800"/>
            <a:ext cx="292608" cy="274320"/>
          </a:xfrm>
          <a:prstGeom prst="rect">
            <a:avLst/>
          </a:prstGeom>
          <a:noFill/>
          <a:ln/>
        </p:spPr>
        <p:txBody>
          <a:bodyPr wrap="square" lIns="0" tIns="0" rIns="0" bIns="0" rtlCol="0" anchor="ctr"/>
          <a:lstStyle/>
          <a:p>
            <a:pPr algn="ctr" indent="0" marL="0">
              <a:buNone/>
            </a:pPr>
            <a:r>
              <a:rPr lang="en-US" sz="800" b="1" dirty="0">
                <a:solidFill>
                  <a:srgbClr val="FFFFFF"/>
                </a:solidFill>
              </a:rPr>
              <a:t>2</a:t>
            </a:r>
            <a:endParaRPr lang="en-US" sz="800" dirty="0"/>
          </a:p>
        </p:txBody>
      </p:sp>
      <p:sp>
        <p:nvSpPr>
          <p:cNvPr id="52" name="Text 50"/>
          <p:cNvSpPr/>
          <p:nvPr/>
        </p:nvSpPr>
        <p:spPr>
          <a:xfrm>
            <a:off x="5102352" y="1828800"/>
            <a:ext cx="1417320" cy="274320"/>
          </a:xfrm>
          <a:prstGeom prst="rect">
            <a:avLst/>
          </a:prstGeom>
          <a:noFill/>
          <a:ln/>
        </p:spPr>
        <p:txBody>
          <a:bodyPr wrap="square" lIns="0" tIns="0" rIns="0" bIns="0" rtlCol="0" anchor="ctr"/>
          <a:lstStyle/>
          <a:p>
            <a:pPr indent="0" marL="0">
              <a:buNone/>
            </a:pPr>
            <a:r>
              <a:rPr lang="en-US" sz="900" b="1" dirty="0">
                <a:solidFill>
                  <a:srgbClr val="0B1F3A"/>
                </a:solidFill>
              </a:rPr>
              <a:t>Listening</a:t>
            </a:r>
            <a:endParaRPr lang="en-US" sz="900" dirty="0"/>
          </a:p>
        </p:txBody>
      </p:sp>
      <p:sp>
        <p:nvSpPr>
          <p:cNvPr id="53" name="Text 51"/>
          <p:cNvSpPr/>
          <p:nvPr/>
        </p:nvSpPr>
        <p:spPr>
          <a:xfrm>
            <a:off x="6565392" y="1828800"/>
            <a:ext cx="2267712" cy="274320"/>
          </a:xfrm>
          <a:prstGeom prst="rect">
            <a:avLst/>
          </a:prstGeom>
          <a:noFill/>
          <a:ln/>
        </p:spPr>
        <p:txBody>
          <a:bodyPr wrap="square" lIns="0" tIns="0" rIns="0" bIns="0" rtlCol="0" anchor="ctr"/>
          <a:lstStyle/>
          <a:p>
            <a:pPr indent="0" marL="0">
              <a:buNone/>
            </a:pPr>
            <a:r>
              <a:rPr lang="en-US" sz="850" dirty="0">
                <a:solidFill>
                  <a:srgbClr val="546E7A"/>
                </a:solidFill>
              </a:rPr>
              <a:t>Microphone active, capturing audio [1]</a:t>
            </a:r>
            <a:endParaRPr lang="en-US" sz="850" dirty="0"/>
          </a:p>
        </p:txBody>
      </p:sp>
      <p:sp>
        <p:nvSpPr>
          <p:cNvPr id="54" name="Shape 52"/>
          <p:cNvSpPr/>
          <p:nvPr/>
        </p:nvSpPr>
        <p:spPr>
          <a:xfrm>
            <a:off x="4754880" y="2176272"/>
            <a:ext cx="292608" cy="274320"/>
          </a:xfrm>
          <a:prstGeom prst="rect">
            <a:avLst/>
          </a:prstGeom>
          <a:solidFill>
            <a:srgbClr val="1565C0"/>
          </a:solidFill>
          <a:ln w="12700">
            <a:solidFill>
              <a:srgbClr val="1565C0"/>
            </a:solidFill>
            <a:prstDash val="solid"/>
          </a:ln>
        </p:spPr>
      </p:sp>
      <p:sp>
        <p:nvSpPr>
          <p:cNvPr id="55" name="Text 53"/>
          <p:cNvSpPr/>
          <p:nvPr/>
        </p:nvSpPr>
        <p:spPr>
          <a:xfrm>
            <a:off x="4754880" y="2176272"/>
            <a:ext cx="292608" cy="274320"/>
          </a:xfrm>
          <a:prstGeom prst="rect">
            <a:avLst/>
          </a:prstGeom>
          <a:noFill/>
          <a:ln/>
        </p:spPr>
        <p:txBody>
          <a:bodyPr wrap="square" lIns="0" tIns="0" rIns="0" bIns="0" rtlCol="0" anchor="ctr"/>
          <a:lstStyle/>
          <a:p>
            <a:pPr algn="ctr" indent="0" marL="0">
              <a:buNone/>
            </a:pPr>
            <a:r>
              <a:rPr lang="en-US" sz="800" b="1" dirty="0">
                <a:solidFill>
                  <a:srgbClr val="FFFFFF"/>
                </a:solidFill>
              </a:rPr>
              <a:t>3</a:t>
            </a:r>
            <a:endParaRPr lang="en-US" sz="800" dirty="0"/>
          </a:p>
        </p:txBody>
      </p:sp>
      <p:sp>
        <p:nvSpPr>
          <p:cNvPr id="56" name="Text 54"/>
          <p:cNvSpPr/>
          <p:nvPr/>
        </p:nvSpPr>
        <p:spPr>
          <a:xfrm>
            <a:off x="5102352" y="2176272"/>
            <a:ext cx="1417320" cy="274320"/>
          </a:xfrm>
          <a:prstGeom prst="rect">
            <a:avLst/>
          </a:prstGeom>
          <a:noFill/>
          <a:ln/>
        </p:spPr>
        <p:txBody>
          <a:bodyPr wrap="square" lIns="0" tIns="0" rIns="0" bIns="0" rtlCol="0" anchor="ctr"/>
          <a:lstStyle/>
          <a:p>
            <a:pPr indent="0" marL="0">
              <a:buNone/>
            </a:pPr>
            <a:r>
              <a:rPr lang="en-US" sz="900" b="1" dirty="0">
                <a:solidFill>
                  <a:srgbClr val="0B1F3A"/>
                </a:solidFill>
              </a:rPr>
              <a:t>Processing Speech</a:t>
            </a:r>
            <a:endParaRPr lang="en-US" sz="900" dirty="0"/>
          </a:p>
        </p:txBody>
      </p:sp>
      <p:sp>
        <p:nvSpPr>
          <p:cNvPr id="57" name="Text 55"/>
          <p:cNvSpPr/>
          <p:nvPr/>
        </p:nvSpPr>
        <p:spPr>
          <a:xfrm>
            <a:off x="6565392" y="2176272"/>
            <a:ext cx="2267712" cy="274320"/>
          </a:xfrm>
          <a:prstGeom prst="rect">
            <a:avLst/>
          </a:prstGeom>
          <a:noFill/>
          <a:ln/>
        </p:spPr>
        <p:txBody>
          <a:bodyPr wrap="square" lIns="0" tIns="0" rIns="0" bIns="0" rtlCol="0" anchor="ctr"/>
          <a:lstStyle/>
          <a:p>
            <a:pPr indent="0" marL="0">
              <a:buNone/>
            </a:pPr>
            <a:r>
              <a:rPr lang="en-US" sz="850" dirty="0">
                <a:solidFill>
                  <a:srgbClr val="546E7A"/>
                </a:solidFill>
              </a:rPr>
              <a:t>Audio → text via Web Speech API [1]</a:t>
            </a:r>
            <a:endParaRPr lang="en-US" sz="850" dirty="0"/>
          </a:p>
        </p:txBody>
      </p:sp>
      <p:sp>
        <p:nvSpPr>
          <p:cNvPr id="58" name="Shape 56"/>
          <p:cNvSpPr/>
          <p:nvPr/>
        </p:nvSpPr>
        <p:spPr>
          <a:xfrm>
            <a:off x="4754880" y="2523744"/>
            <a:ext cx="292608" cy="274320"/>
          </a:xfrm>
          <a:prstGeom prst="rect">
            <a:avLst/>
          </a:prstGeom>
          <a:solidFill>
            <a:srgbClr val="F57C00"/>
          </a:solidFill>
          <a:ln w="12700">
            <a:solidFill>
              <a:srgbClr val="F57C00"/>
            </a:solidFill>
            <a:prstDash val="solid"/>
          </a:ln>
        </p:spPr>
      </p:sp>
      <p:sp>
        <p:nvSpPr>
          <p:cNvPr id="59" name="Text 57"/>
          <p:cNvSpPr/>
          <p:nvPr/>
        </p:nvSpPr>
        <p:spPr>
          <a:xfrm>
            <a:off x="4754880" y="2523744"/>
            <a:ext cx="292608" cy="274320"/>
          </a:xfrm>
          <a:prstGeom prst="rect">
            <a:avLst/>
          </a:prstGeom>
          <a:noFill/>
          <a:ln/>
        </p:spPr>
        <p:txBody>
          <a:bodyPr wrap="square" lIns="0" tIns="0" rIns="0" bIns="0" rtlCol="0" anchor="ctr"/>
          <a:lstStyle/>
          <a:p>
            <a:pPr algn="ctr" indent="0" marL="0">
              <a:buNone/>
            </a:pPr>
            <a:r>
              <a:rPr lang="en-US" sz="800" b="1" dirty="0">
                <a:solidFill>
                  <a:srgbClr val="FFFFFF"/>
                </a:solidFill>
              </a:rPr>
              <a:t>4</a:t>
            </a:r>
            <a:endParaRPr lang="en-US" sz="800" dirty="0"/>
          </a:p>
        </p:txBody>
      </p:sp>
      <p:sp>
        <p:nvSpPr>
          <p:cNvPr id="60" name="Text 58"/>
          <p:cNvSpPr/>
          <p:nvPr/>
        </p:nvSpPr>
        <p:spPr>
          <a:xfrm>
            <a:off x="5102352" y="2523744"/>
            <a:ext cx="1417320" cy="274320"/>
          </a:xfrm>
          <a:prstGeom prst="rect">
            <a:avLst/>
          </a:prstGeom>
          <a:noFill/>
          <a:ln/>
        </p:spPr>
        <p:txBody>
          <a:bodyPr wrap="square" lIns="0" tIns="0" rIns="0" bIns="0" rtlCol="0" anchor="ctr"/>
          <a:lstStyle/>
          <a:p>
            <a:pPr indent="0" marL="0">
              <a:buNone/>
            </a:pPr>
            <a:r>
              <a:rPr lang="en-US" sz="900" b="1" dirty="0">
                <a:solidFill>
                  <a:srgbClr val="0B1F3A"/>
                </a:solidFill>
              </a:rPr>
              <a:t>Parsing Command</a:t>
            </a:r>
            <a:endParaRPr lang="en-US" sz="900" dirty="0"/>
          </a:p>
        </p:txBody>
      </p:sp>
      <p:sp>
        <p:nvSpPr>
          <p:cNvPr id="61" name="Text 59"/>
          <p:cNvSpPr/>
          <p:nvPr/>
        </p:nvSpPr>
        <p:spPr>
          <a:xfrm>
            <a:off x="6565392" y="2523744"/>
            <a:ext cx="2267712" cy="274320"/>
          </a:xfrm>
          <a:prstGeom prst="rect">
            <a:avLst/>
          </a:prstGeom>
          <a:noFill/>
          <a:ln/>
        </p:spPr>
        <p:txBody>
          <a:bodyPr wrap="square" lIns="0" tIns="0" rIns="0" bIns="0" rtlCol="0" anchor="ctr"/>
          <a:lstStyle/>
          <a:p>
            <a:pPr indent="0" marL="0">
              <a:buNone/>
            </a:pPr>
            <a:r>
              <a:rPr lang="en-US" sz="850" dirty="0">
                <a:solidFill>
                  <a:srgbClr val="546E7A"/>
                </a:solidFill>
              </a:rPr>
              <a:t>L1/L2 rule matching [5]</a:t>
            </a:r>
            <a:endParaRPr lang="en-US" sz="850" dirty="0"/>
          </a:p>
        </p:txBody>
      </p:sp>
      <p:sp>
        <p:nvSpPr>
          <p:cNvPr id="62" name="Shape 60"/>
          <p:cNvSpPr/>
          <p:nvPr/>
        </p:nvSpPr>
        <p:spPr>
          <a:xfrm>
            <a:off x="4754880" y="2871216"/>
            <a:ext cx="292608" cy="274320"/>
          </a:xfrm>
          <a:prstGeom prst="rect">
            <a:avLst/>
          </a:prstGeom>
          <a:solidFill>
            <a:srgbClr val="1565C0"/>
          </a:solidFill>
          <a:ln w="12700">
            <a:solidFill>
              <a:srgbClr val="1565C0"/>
            </a:solidFill>
            <a:prstDash val="solid"/>
          </a:ln>
        </p:spPr>
      </p:sp>
      <p:sp>
        <p:nvSpPr>
          <p:cNvPr id="63" name="Text 61"/>
          <p:cNvSpPr/>
          <p:nvPr/>
        </p:nvSpPr>
        <p:spPr>
          <a:xfrm>
            <a:off x="4754880" y="2871216"/>
            <a:ext cx="292608" cy="274320"/>
          </a:xfrm>
          <a:prstGeom prst="rect">
            <a:avLst/>
          </a:prstGeom>
          <a:noFill/>
          <a:ln/>
        </p:spPr>
        <p:txBody>
          <a:bodyPr wrap="square" lIns="0" tIns="0" rIns="0" bIns="0" rtlCol="0" anchor="ctr"/>
          <a:lstStyle/>
          <a:p>
            <a:pPr algn="ctr" indent="0" marL="0">
              <a:buNone/>
            </a:pPr>
            <a:r>
              <a:rPr lang="en-US" sz="800" b="1" dirty="0">
                <a:solidFill>
                  <a:srgbClr val="FFFFFF"/>
                </a:solidFill>
              </a:rPr>
              <a:t>4b</a:t>
            </a:r>
            <a:endParaRPr lang="en-US" sz="800" dirty="0"/>
          </a:p>
        </p:txBody>
      </p:sp>
      <p:sp>
        <p:nvSpPr>
          <p:cNvPr id="64" name="Text 62"/>
          <p:cNvSpPr/>
          <p:nvPr/>
        </p:nvSpPr>
        <p:spPr>
          <a:xfrm>
            <a:off x="5102352" y="2871216"/>
            <a:ext cx="1417320" cy="274320"/>
          </a:xfrm>
          <a:prstGeom prst="rect">
            <a:avLst/>
          </a:prstGeom>
          <a:noFill/>
          <a:ln/>
        </p:spPr>
        <p:txBody>
          <a:bodyPr wrap="square" lIns="0" tIns="0" rIns="0" bIns="0" rtlCol="0" anchor="ctr"/>
          <a:lstStyle/>
          <a:p>
            <a:pPr indent="0" marL="0">
              <a:buNone/>
            </a:pPr>
            <a:r>
              <a:rPr lang="en-US" sz="900" b="1" dirty="0">
                <a:solidFill>
                  <a:srgbClr val="0B1F3A"/>
                </a:solidFill>
              </a:rPr>
              <a:t>AI Generation</a:t>
            </a:r>
            <a:endParaRPr lang="en-US" sz="900" dirty="0"/>
          </a:p>
        </p:txBody>
      </p:sp>
      <p:sp>
        <p:nvSpPr>
          <p:cNvPr id="65" name="Text 63"/>
          <p:cNvSpPr/>
          <p:nvPr/>
        </p:nvSpPr>
        <p:spPr>
          <a:xfrm>
            <a:off x="6565392" y="2871216"/>
            <a:ext cx="2267712" cy="274320"/>
          </a:xfrm>
          <a:prstGeom prst="rect">
            <a:avLst/>
          </a:prstGeom>
          <a:noFill/>
          <a:ln/>
        </p:spPr>
        <p:txBody>
          <a:bodyPr wrap="square" lIns="0" tIns="0" rIns="0" bIns="0" rtlCol="0" anchor="ctr"/>
          <a:lstStyle/>
          <a:p>
            <a:pPr indent="0" marL="0">
              <a:buNone/>
            </a:pPr>
            <a:r>
              <a:rPr lang="en-US" sz="850" dirty="0">
                <a:solidFill>
                  <a:srgbClr val="546E7A"/>
                </a:solidFill>
              </a:rPr>
              <a:t>GPT-4o processes Level 3 request [12]</a:t>
            </a:r>
            <a:endParaRPr lang="en-US" sz="850" dirty="0"/>
          </a:p>
        </p:txBody>
      </p:sp>
      <p:sp>
        <p:nvSpPr>
          <p:cNvPr id="66" name="Shape 64"/>
          <p:cNvSpPr/>
          <p:nvPr/>
        </p:nvSpPr>
        <p:spPr>
          <a:xfrm>
            <a:off x="4754880" y="3218688"/>
            <a:ext cx="292608" cy="274320"/>
          </a:xfrm>
          <a:prstGeom prst="rect">
            <a:avLst/>
          </a:prstGeom>
          <a:solidFill>
            <a:srgbClr val="F57C00"/>
          </a:solidFill>
          <a:ln w="12700">
            <a:solidFill>
              <a:srgbClr val="F57C00"/>
            </a:solidFill>
            <a:prstDash val="solid"/>
          </a:ln>
        </p:spPr>
      </p:sp>
      <p:sp>
        <p:nvSpPr>
          <p:cNvPr id="67" name="Text 65"/>
          <p:cNvSpPr/>
          <p:nvPr/>
        </p:nvSpPr>
        <p:spPr>
          <a:xfrm>
            <a:off x="4754880" y="3218688"/>
            <a:ext cx="292608" cy="274320"/>
          </a:xfrm>
          <a:prstGeom prst="rect">
            <a:avLst/>
          </a:prstGeom>
          <a:noFill/>
          <a:ln/>
        </p:spPr>
        <p:txBody>
          <a:bodyPr wrap="square" lIns="0" tIns="0" rIns="0" bIns="0" rtlCol="0" anchor="ctr"/>
          <a:lstStyle/>
          <a:p>
            <a:pPr algn="ctr" indent="0" marL="0">
              <a:buNone/>
            </a:pPr>
            <a:r>
              <a:rPr lang="en-US" sz="800" b="1" dirty="0">
                <a:solidFill>
                  <a:srgbClr val="FFFFFF"/>
                </a:solidFill>
              </a:rPr>
              <a:t>5</a:t>
            </a:r>
            <a:endParaRPr lang="en-US" sz="800" dirty="0"/>
          </a:p>
        </p:txBody>
      </p:sp>
      <p:sp>
        <p:nvSpPr>
          <p:cNvPr id="68" name="Text 66"/>
          <p:cNvSpPr/>
          <p:nvPr/>
        </p:nvSpPr>
        <p:spPr>
          <a:xfrm>
            <a:off x="5102352" y="3218688"/>
            <a:ext cx="1417320" cy="274320"/>
          </a:xfrm>
          <a:prstGeom prst="rect">
            <a:avLst/>
          </a:prstGeom>
          <a:noFill/>
          <a:ln/>
        </p:spPr>
        <p:txBody>
          <a:bodyPr wrap="square" lIns="0" tIns="0" rIns="0" bIns="0" rtlCol="0" anchor="ctr"/>
          <a:lstStyle/>
          <a:p>
            <a:pPr indent="0" marL="0">
              <a:buNone/>
            </a:pPr>
            <a:r>
              <a:rPr lang="en-US" sz="900" b="1" dirty="0">
                <a:solidFill>
                  <a:srgbClr val="0B1F3A"/>
                </a:solidFill>
              </a:rPr>
              <a:t>Generating Code</a:t>
            </a:r>
            <a:endParaRPr lang="en-US" sz="900" dirty="0"/>
          </a:p>
        </p:txBody>
      </p:sp>
      <p:sp>
        <p:nvSpPr>
          <p:cNvPr id="69" name="Text 67"/>
          <p:cNvSpPr/>
          <p:nvPr/>
        </p:nvSpPr>
        <p:spPr>
          <a:xfrm>
            <a:off x="6565392" y="3218688"/>
            <a:ext cx="2267712" cy="274320"/>
          </a:xfrm>
          <a:prstGeom prst="rect">
            <a:avLst/>
          </a:prstGeom>
          <a:noFill/>
          <a:ln/>
        </p:spPr>
        <p:txBody>
          <a:bodyPr wrap="square" lIns="0" tIns="0" rIns="0" bIns="0" rtlCol="0" anchor="ctr"/>
          <a:lstStyle/>
          <a:p>
            <a:pPr indent="0" marL="0">
              <a:buNone/>
            </a:pPr>
            <a:r>
              <a:rPr lang="en-US" sz="850" dirty="0">
                <a:solidFill>
                  <a:srgbClr val="546E7A"/>
                </a:solidFill>
              </a:rPr>
              <a:t>Code Construction Engine builds C++</a:t>
            </a:r>
            <a:endParaRPr lang="en-US" sz="850" dirty="0"/>
          </a:p>
        </p:txBody>
      </p:sp>
      <p:sp>
        <p:nvSpPr>
          <p:cNvPr id="70" name="Shape 68"/>
          <p:cNvSpPr/>
          <p:nvPr/>
        </p:nvSpPr>
        <p:spPr>
          <a:xfrm>
            <a:off x="4754880" y="3566160"/>
            <a:ext cx="292608" cy="274320"/>
          </a:xfrm>
          <a:prstGeom prst="rect">
            <a:avLst/>
          </a:prstGeom>
          <a:solidFill>
            <a:srgbClr val="00ACC1"/>
          </a:solidFill>
          <a:ln w="12700">
            <a:solidFill>
              <a:srgbClr val="00ACC1"/>
            </a:solidFill>
            <a:prstDash val="solid"/>
          </a:ln>
        </p:spPr>
      </p:sp>
      <p:sp>
        <p:nvSpPr>
          <p:cNvPr id="71" name="Text 69"/>
          <p:cNvSpPr/>
          <p:nvPr/>
        </p:nvSpPr>
        <p:spPr>
          <a:xfrm>
            <a:off x="4754880" y="3566160"/>
            <a:ext cx="292608" cy="274320"/>
          </a:xfrm>
          <a:prstGeom prst="rect">
            <a:avLst/>
          </a:prstGeom>
          <a:noFill/>
          <a:ln/>
        </p:spPr>
        <p:txBody>
          <a:bodyPr wrap="square" lIns="0" tIns="0" rIns="0" bIns="0" rtlCol="0" anchor="ctr"/>
          <a:lstStyle/>
          <a:p>
            <a:pPr algn="ctr" indent="0" marL="0">
              <a:buNone/>
            </a:pPr>
            <a:r>
              <a:rPr lang="en-US" sz="800" b="1" dirty="0">
                <a:solidFill>
                  <a:srgbClr val="FFFFFF"/>
                </a:solidFill>
              </a:rPr>
              <a:t>6</a:t>
            </a:r>
            <a:endParaRPr lang="en-US" sz="800" dirty="0"/>
          </a:p>
        </p:txBody>
      </p:sp>
      <p:sp>
        <p:nvSpPr>
          <p:cNvPr id="72" name="Text 70"/>
          <p:cNvSpPr/>
          <p:nvPr/>
        </p:nvSpPr>
        <p:spPr>
          <a:xfrm>
            <a:off x="5102352" y="3566160"/>
            <a:ext cx="1417320" cy="274320"/>
          </a:xfrm>
          <a:prstGeom prst="rect">
            <a:avLst/>
          </a:prstGeom>
          <a:noFill/>
          <a:ln/>
        </p:spPr>
        <p:txBody>
          <a:bodyPr wrap="square" lIns="0" tIns="0" rIns="0" bIns="0" rtlCol="0" anchor="ctr"/>
          <a:lstStyle/>
          <a:p>
            <a:pPr indent="0" marL="0">
              <a:buNone/>
            </a:pPr>
            <a:r>
              <a:rPr lang="en-US" sz="900" b="1" dirty="0">
                <a:solidFill>
                  <a:srgbClr val="0B1F3A"/>
                </a:solidFill>
              </a:rPr>
              <a:t>Ready to Compile</a:t>
            </a:r>
            <a:endParaRPr lang="en-US" sz="900" dirty="0"/>
          </a:p>
        </p:txBody>
      </p:sp>
      <p:sp>
        <p:nvSpPr>
          <p:cNvPr id="73" name="Text 71"/>
          <p:cNvSpPr/>
          <p:nvPr/>
        </p:nvSpPr>
        <p:spPr>
          <a:xfrm>
            <a:off x="6565392" y="3566160"/>
            <a:ext cx="2267712" cy="274320"/>
          </a:xfrm>
          <a:prstGeom prst="rect">
            <a:avLst/>
          </a:prstGeom>
          <a:noFill/>
          <a:ln/>
        </p:spPr>
        <p:txBody>
          <a:bodyPr wrap="square" lIns="0" tIns="0" rIns="0" bIns="0" rtlCol="0" anchor="ctr"/>
          <a:lstStyle/>
          <a:p>
            <a:pPr indent="0" marL="0">
              <a:buNone/>
            </a:pPr>
            <a:r>
              <a:rPr lang="en-US" sz="850" dirty="0">
                <a:solidFill>
                  <a:srgbClr val="546E7A"/>
                </a:solidFill>
              </a:rPr>
              <a:t>Code in Monaco Editor [3]</a:t>
            </a:r>
            <a:endParaRPr lang="en-US" sz="850" dirty="0"/>
          </a:p>
        </p:txBody>
      </p:sp>
      <p:sp>
        <p:nvSpPr>
          <p:cNvPr id="74" name="Shape 72"/>
          <p:cNvSpPr/>
          <p:nvPr/>
        </p:nvSpPr>
        <p:spPr>
          <a:xfrm>
            <a:off x="4754880" y="3913632"/>
            <a:ext cx="292608" cy="274320"/>
          </a:xfrm>
          <a:prstGeom prst="rect">
            <a:avLst/>
          </a:prstGeom>
          <a:solidFill>
            <a:srgbClr val="1565C0"/>
          </a:solidFill>
          <a:ln w="12700">
            <a:solidFill>
              <a:srgbClr val="1565C0"/>
            </a:solidFill>
            <a:prstDash val="solid"/>
          </a:ln>
        </p:spPr>
      </p:sp>
      <p:sp>
        <p:nvSpPr>
          <p:cNvPr id="75" name="Text 73"/>
          <p:cNvSpPr/>
          <p:nvPr/>
        </p:nvSpPr>
        <p:spPr>
          <a:xfrm>
            <a:off x="4754880" y="3913632"/>
            <a:ext cx="292608" cy="274320"/>
          </a:xfrm>
          <a:prstGeom prst="rect">
            <a:avLst/>
          </a:prstGeom>
          <a:noFill/>
          <a:ln/>
        </p:spPr>
        <p:txBody>
          <a:bodyPr wrap="square" lIns="0" tIns="0" rIns="0" bIns="0" rtlCol="0" anchor="ctr"/>
          <a:lstStyle/>
          <a:p>
            <a:pPr algn="ctr" indent="0" marL="0">
              <a:buNone/>
            </a:pPr>
            <a:r>
              <a:rPr lang="en-US" sz="800" b="1" dirty="0">
                <a:solidFill>
                  <a:srgbClr val="FFFFFF"/>
                </a:solidFill>
              </a:rPr>
              <a:t>7</a:t>
            </a:r>
            <a:endParaRPr lang="en-US" sz="800" dirty="0"/>
          </a:p>
        </p:txBody>
      </p:sp>
      <p:sp>
        <p:nvSpPr>
          <p:cNvPr id="76" name="Text 74"/>
          <p:cNvSpPr/>
          <p:nvPr/>
        </p:nvSpPr>
        <p:spPr>
          <a:xfrm>
            <a:off x="5102352" y="3913632"/>
            <a:ext cx="1417320" cy="274320"/>
          </a:xfrm>
          <a:prstGeom prst="rect">
            <a:avLst/>
          </a:prstGeom>
          <a:noFill/>
          <a:ln/>
        </p:spPr>
        <p:txBody>
          <a:bodyPr wrap="square" lIns="0" tIns="0" rIns="0" bIns="0" rtlCol="0" anchor="ctr"/>
          <a:lstStyle/>
          <a:p>
            <a:pPr indent="0" marL="0">
              <a:buNone/>
            </a:pPr>
            <a:r>
              <a:rPr lang="en-US" sz="900" b="1" dirty="0">
                <a:solidFill>
                  <a:srgbClr val="0B1F3A"/>
                </a:solidFill>
              </a:rPr>
              <a:t>Compiling</a:t>
            </a:r>
            <a:endParaRPr lang="en-US" sz="900" dirty="0"/>
          </a:p>
        </p:txBody>
      </p:sp>
      <p:sp>
        <p:nvSpPr>
          <p:cNvPr id="77" name="Text 75"/>
          <p:cNvSpPr/>
          <p:nvPr/>
        </p:nvSpPr>
        <p:spPr>
          <a:xfrm>
            <a:off x="6565392" y="3913632"/>
            <a:ext cx="2267712" cy="274320"/>
          </a:xfrm>
          <a:prstGeom prst="rect">
            <a:avLst/>
          </a:prstGeom>
          <a:noFill/>
          <a:ln/>
        </p:spPr>
        <p:txBody>
          <a:bodyPr wrap="square" lIns="0" tIns="0" rIns="0" bIns="0" rtlCol="0" anchor="ctr"/>
          <a:lstStyle/>
          <a:p>
            <a:pPr indent="0" marL="0">
              <a:buNone/>
            </a:pPr>
            <a:r>
              <a:rPr lang="en-US" sz="850" dirty="0">
                <a:solidFill>
                  <a:srgbClr val="546E7A"/>
                </a:solidFill>
              </a:rPr>
              <a:t>Cloud compiler API executing [2],[8]</a:t>
            </a:r>
            <a:endParaRPr lang="en-US" sz="850" dirty="0"/>
          </a:p>
        </p:txBody>
      </p:sp>
      <p:sp>
        <p:nvSpPr>
          <p:cNvPr id="78" name="Shape 76"/>
          <p:cNvSpPr/>
          <p:nvPr/>
        </p:nvSpPr>
        <p:spPr>
          <a:xfrm>
            <a:off x="4754880" y="4261104"/>
            <a:ext cx="292608" cy="274320"/>
          </a:xfrm>
          <a:prstGeom prst="rect">
            <a:avLst/>
          </a:prstGeom>
          <a:solidFill>
            <a:srgbClr val="2E7D32"/>
          </a:solidFill>
          <a:ln w="12700">
            <a:solidFill>
              <a:srgbClr val="2E7D32"/>
            </a:solidFill>
            <a:prstDash val="solid"/>
          </a:ln>
        </p:spPr>
      </p:sp>
      <p:sp>
        <p:nvSpPr>
          <p:cNvPr id="79" name="Text 77"/>
          <p:cNvSpPr/>
          <p:nvPr/>
        </p:nvSpPr>
        <p:spPr>
          <a:xfrm>
            <a:off x="4754880" y="4261104"/>
            <a:ext cx="292608" cy="274320"/>
          </a:xfrm>
          <a:prstGeom prst="rect">
            <a:avLst/>
          </a:prstGeom>
          <a:noFill/>
          <a:ln/>
        </p:spPr>
        <p:txBody>
          <a:bodyPr wrap="square" lIns="0" tIns="0" rIns="0" bIns="0" rtlCol="0" anchor="ctr"/>
          <a:lstStyle/>
          <a:p>
            <a:pPr algn="ctr" indent="0" marL="0">
              <a:buNone/>
            </a:pPr>
            <a:r>
              <a:rPr lang="en-US" sz="800" b="1" dirty="0">
                <a:solidFill>
                  <a:srgbClr val="FFFFFF"/>
                </a:solidFill>
              </a:rPr>
              <a:t>8</a:t>
            </a:r>
            <a:endParaRPr lang="en-US" sz="800" dirty="0"/>
          </a:p>
        </p:txBody>
      </p:sp>
      <p:sp>
        <p:nvSpPr>
          <p:cNvPr id="80" name="Text 78"/>
          <p:cNvSpPr/>
          <p:nvPr/>
        </p:nvSpPr>
        <p:spPr>
          <a:xfrm>
            <a:off x="5102352" y="4261104"/>
            <a:ext cx="1417320" cy="274320"/>
          </a:xfrm>
          <a:prstGeom prst="rect">
            <a:avLst/>
          </a:prstGeom>
          <a:noFill/>
          <a:ln/>
        </p:spPr>
        <p:txBody>
          <a:bodyPr wrap="square" lIns="0" tIns="0" rIns="0" bIns="0" rtlCol="0" anchor="ctr"/>
          <a:lstStyle/>
          <a:p>
            <a:pPr indent="0" marL="0">
              <a:buNone/>
            </a:pPr>
            <a:r>
              <a:rPr lang="en-US" sz="900" b="1" dirty="0">
                <a:solidFill>
                  <a:srgbClr val="0B1F3A"/>
                </a:solidFill>
              </a:rPr>
              <a:t>Displaying Output</a:t>
            </a:r>
            <a:endParaRPr lang="en-US" sz="900" dirty="0"/>
          </a:p>
        </p:txBody>
      </p:sp>
      <p:sp>
        <p:nvSpPr>
          <p:cNvPr id="81" name="Text 79"/>
          <p:cNvSpPr/>
          <p:nvPr/>
        </p:nvSpPr>
        <p:spPr>
          <a:xfrm>
            <a:off x="6565392" y="4261104"/>
            <a:ext cx="2267712" cy="274320"/>
          </a:xfrm>
          <a:prstGeom prst="rect">
            <a:avLst/>
          </a:prstGeom>
          <a:noFill/>
          <a:ln/>
        </p:spPr>
        <p:txBody>
          <a:bodyPr wrap="square" lIns="0" tIns="0" rIns="0" bIns="0" rtlCol="0" anchor="ctr"/>
          <a:lstStyle/>
          <a:p>
            <a:pPr indent="0" marL="0">
              <a:buNone/>
            </a:pPr>
            <a:r>
              <a:rPr lang="en-US" sz="850" dirty="0">
                <a:solidFill>
                  <a:srgbClr val="546E7A"/>
                </a:solidFill>
              </a:rPr>
              <a:t>Results shown + Urdu TTS [1]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Data Model (ERD) &amp; GUI Design</a:t>
            </a:r>
            <a:endParaRPr lang="en-US" sz="2600" dirty="0"/>
          </a:p>
        </p:txBody>
      </p:sp>
      <p:sp>
        <p:nvSpPr>
          <p:cNvPr id="4" name="Shape 2"/>
          <p:cNvSpPr/>
          <p:nvPr/>
        </p:nvSpPr>
        <p:spPr>
          <a:xfrm>
            <a:off x="228600" y="1005840"/>
            <a:ext cx="4114800" cy="379476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28600" y="1005840"/>
            <a:ext cx="4114800" cy="384048"/>
          </a:xfrm>
          <a:prstGeom prst="rect">
            <a:avLst/>
          </a:prstGeom>
          <a:solidFill>
            <a:srgbClr val="1565C0"/>
          </a:solidFill>
          <a:ln w="12700">
            <a:solidFill>
              <a:srgbClr val="1565C0"/>
            </a:solidFill>
            <a:prstDash val="solid"/>
          </a:ln>
        </p:spPr>
      </p:sp>
      <p:pic>
        <p:nvPicPr>
          <p:cNvPr id="6" name="Image 0" descr="preencoded.png">    </p:cNvPr>
          <p:cNvPicPr>
            <a:picLocks noChangeAspect="1"/>
          </p:cNvPicPr>
          <p:nvPr/>
        </p:nvPicPr>
        <p:blipFill>
          <a:blip r:embed="rId1"/>
          <a:stretch>
            <a:fillRect/>
          </a:stretch>
        </p:blipFill>
        <p:spPr>
          <a:xfrm>
            <a:off x="301752" y="1051560"/>
            <a:ext cx="274320" cy="274320"/>
          </a:xfrm>
          <a:prstGeom prst="rect">
            <a:avLst/>
          </a:prstGeom>
        </p:spPr>
      </p:pic>
      <p:sp>
        <p:nvSpPr>
          <p:cNvPr id="7" name="Text 4"/>
          <p:cNvSpPr/>
          <p:nvPr/>
        </p:nvSpPr>
        <p:spPr>
          <a:xfrm>
            <a:off x="640080" y="1024128"/>
            <a:ext cx="3611880" cy="347472"/>
          </a:xfrm>
          <a:prstGeom prst="rect">
            <a:avLst/>
          </a:prstGeom>
          <a:noFill/>
          <a:ln/>
        </p:spPr>
        <p:txBody>
          <a:bodyPr wrap="square" lIns="0" tIns="0" rIns="0" bIns="0" rtlCol="0" anchor="ctr"/>
          <a:lstStyle/>
          <a:p>
            <a:pPr indent="0" marL="0">
              <a:buNone/>
            </a:pPr>
            <a:r>
              <a:rPr lang="en-US" sz="1300" b="1" dirty="0">
                <a:solidFill>
                  <a:srgbClr val="FFFFFF"/>
                </a:solidFill>
              </a:rPr>
              <a:t>Logical Data Model (ERD)</a:t>
            </a:r>
            <a:endParaRPr lang="en-US" sz="1300" dirty="0"/>
          </a:p>
        </p:txBody>
      </p:sp>
      <p:sp>
        <p:nvSpPr>
          <p:cNvPr id="8" name="Shape 5"/>
          <p:cNvSpPr/>
          <p:nvPr/>
        </p:nvSpPr>
        <p:spPr>
          <a:xfrm>
            <a:off x="320040" y="1481328"/>
            <a:ext cx="3913632" cy="475488"/>
          </a:xfrm>
          <a:prstGeom prst="rect">
            <a:avLst/>
          </a:prstGeom>
          <a:solidFill>
            <a:srgbClr val="F4F6F9"/>
          </a:solidFill>
          <a:ln w="6350">
            <a:solidFill>
              <a:srgbClr val="D0DAE4"/>
            </a:solidFill>
            <a:prstDash val="solid"/>
          </a:ln>
        </p:spPr>
      </p:sp>
      <p:sp>
        <p:nvSpPr>
          <p:cNvPr id="9" name="Text 6"/>
          <p:cNvSpPr/>
          <p:nvPr/>
        </p:nvSpPr>
        <p:spPr>
          <a:xfrm>
            <a:off x="384048" y="1499616"/>
            <a:ext cx="1371600" cy="237744"/>
          </a:xfrm>
          <a:prstGeom prst="rect">
            <a:avLst/>
          </a:prstGeom>
          <a:noFill/>
          <a:ln/>
        </p:spPr>
        <p:txBody>
          <a:bodyPr wrap="square" lIns="0" tIns="0" rIns="0" bIns="0" rtlCol="0" anchor="ctr"/>
          <a:lstStyle/>
          <a:p>
            <a:pPr indent="0" marL="0">
              <a:buNone/>
            </a:pPr>
            <a:r>
              <a:rPr lang="en-US" sz="900" b="1" dirty="0">
                <a:solidFill>
                  <a:srgbClr val="1565C0"/>
                </a:solidFill>
              </a:rPr>
              <a:t>User</a:t>
            </a:r>
            <a:endParaRPr lang="en-US" sz="900" dirty="0"/>
          </a:p>
        </p:txBody>
      </p:sp>
      <p:sp>
        <p:nvSpPr>
          <p:cNvPr id="10" name="Text 7"/>
          <p:cNvSpPr/>
          <p:nvPr/>
        </p:nvSpPr>
        <p:spPr>
          <a:xfrm>
            <a:off x="384048" y="1728216"/>
            <a:ext cx="3767328" cy="201168"/>
          </a:xfrm>
          <a:prstGeom prst="rect">
            <a:avLst/>
          </a:prstGeom>
          <a:noFill/>
          <a:ln/>
        </p:spPr>
        <p:txBody>
          <a:bodyPr wrap="square" lIns="0" tIns="0" rIns="0" bIns="0" rtlCol="0" anchor="ctr"/>
          <a:lstStyle/>
          <a:p>
            <a:pPr indent="0" marL="0">
              <a:buNone/>
            </a:pPr>
            <a:r>
              <a:rPr lang="en-US" sz="750" dirty="0">
                <a:solidFill>
                  <a:srgbClr val="546E7A"/>
                </a:solidFill>
              </a:rPr>
              <a:t>userId, username, email, passwordHash, jwtToken, preferences</a:t>
            </a:r>
            <a:endParaRPr lang="en-US" sz="750" dirty="0"/>
          </a:p>
        </p:txBody>
      </p:sp>
      <p:sp>
        <p:nvSpPr>
          <p:cNvPr id="11" name="Shape 8"/>
          <p:cNvSpPr/>
          <p:nvPr/>
        </p:nvSpPr>
        <p:spPr>
          <a:xfrm>
            <a:off x="320040" y="2011680"/>
            <a:ext cx="3913632" cy="475488"/>
          </a:xfrm>
          <a:prstGeom prst="rect">
            <a:avLst/>
          </a:prstGeom>
          <a:solidFill>
            <a:srgbClr val="FFFFFF"/>
          </a:solidFill>
          <a:ln w="6350">
            <a:solidFill>
              <a:srgbClr val="D0DAE4"/>
            </a:solidFill>
            <a:prstDash val="solid"/>
          </a:ln>
        </p:spPr>
      </p:sp>
      <p:sp>
        <p:nvSpPr>
          <p:cNvPr id="12" name="Text 9"/>
          <p:cNvSpPr/>
          <p:nvPr/>
        </p:nvSpPr>
        <p:spPr>
          <a:xfrm>
            <a:off x="384048" y="2029968"/>
            <a:ext cx="1371600" cy="237744"/>
          </a:xfrm>
          <a:prstGeom prst="rect">
            <a:avLst/>
          </a:prstGeom>
          <a:noFill/>
          <a:ln/>
        </p:spPr>
        <p:txBody>
          <a:bodyPr wrap="square" lIns="0" tIns="0" rIns="0" bIns="0" rtlCol="0" anchor="ctr"/>
          <a:lstStyle/>
          <a:p>
            <a:pPr indent="0" marL="0">
              <a:buNone/>
            </a:pPr>
            <a:r>
              <a:rPr lang="en-US" sz="900" b="1" dirty="0">
                <a:solidFill>
                  <a:srgbClr val="1565C0"/>
                </a:solidFill>
              </a:rPr>
              <a:t>UserSession</a:t>
            </a:r>
            <a:endParaRPr lang="en-US" sz="900" dirty="0"/>
          </a:p>
        </p:txBody>
      </p:sp>
      <p:sp>
        <p:nvSpPr>
          <p:cNvPr id="13" name="Text 10"/>
          <p:cNvSpPr/>
          <p:nvPr/>
        </p:nvSpPr>
        <p:spPr>
          <a:xfrm>
            <a:off x="384048" y="2258568"/>
            <a:ext cx="3767328" cy="201168"/>
          </a:xfrm>
          <a:prstGeom prst="rect">
            <a:avLst/>
          </a:prstGeom>
          <a:noFill/>
          <a:ln/>
        </p:spPr>
        <p:txBody>
          <a:bodyPr wrap="square" lIns="0" tIns="0" rIns="0" bIns="0" rtlCol="0" anchor="ctr"/>
          <a:lstStyle/>
          <a:p>
            <a:pPr indent="0" marL="0">
              <a:buNone/>
            </a:pPr>
            <a:r>
              <a:rPr lang="en-US" sz="750" dirty="0">
                <a:solidFill>
                  <a:srgbClr val="546E7A"/>
                </a:solidFill>
              </a:rPr>
              <a:t>sessionId, userId(FK), startTime, microphoneStatus</a:t>
            </a:r>
            <a:endParaRPr lang="en-US" sz="750" dirty="0"/>
          </a:p>
        </p:txBody>
      </p:sp>
      <p:sp>
        <p:nvSpPr>
          <p:cNvPr id="14" name="Shape 11"/>
          <p:cNvSpPr/>
          <p:nvPr/>
        </p:nvSpPr>
        <p:spPr>
          <a:xfrm>
            <a:off x="320040" y="2542032"/>
            <a:ext cx="3913632" cy="475488"/>
          </a:xfrm>
          <a:prstGeom prst="rect">
            <a:avLst/>
          </a:prstGeom>
          <a:solidFill>
            <a:srgbClr val="F4F6F9"/>
          </a:solidFill>
          <a:ln w="6350">
            <a:solidFill>
              <a:srgbClr val="D0DAE4"/>
            </a:solidFill>
            <a:prstDash val="solid"/>
          </a:ln>
        </p:spPr>
      </p:sp>
      <p:sp>
        <p:nvSpPr>
          <p:cNvPr id="15" name="Text 12"/>
          <p:cNvSpPr/>
          <p:nvPr/>
        </p:nvSpPr>
        <p:spPr>
          <a:xfrm>
            <a:off x="384048" y="2560320"/>
            <a:ext cx="1371600" cy="237744"/>
          </a:xfrm>
          <a:prstGeom prst="rect">
            <a:avLst/>
          </a:prstGeom>
          <a:noFill/>
          <a:ln/>
        </p:spPr>
        <p:txBody>
          <a:bodyPr wrap="square" lIns="0" tIns="0" rIns="0" bIns="0" rtlCol="0" anchor="ctr"/>
          <a:lstStyle/>
          <a:p>
            <a:pPr indent="0" marL="0">
              <a:buNone/>
            </a:pPr>
            <a:r>
              <a:rPr lang="en-US" sz="900" b="1" dirty="0">
                <a:solidFill>
                  <a:srgbClr val="1565C0"/>
                </a:solidFill>
              </a:rPr>
              <a:t>VoiceCommand</a:t>
            </a:r>
            <a:endParaRPr lang="en-US" sz="900" dirty="0"/>
          </a:p>
        </p:txBody>
      </p:sp>
      <p:sp>
        <p:nvSpPr>
          <p:cNvPr id="16" name="Text 13"/>
          <p:cNvSpPr/>
          <p:nvPr/>
        </p:nvSpPr>
        <p:spPr>
          <a:xfrm>
            <a:off x="384048" y="2788920"/>
            <a:ext cx="3767328" cy="201168"/>
          </a:xfrm>
          <a:prstGeom prst="rect">
            <a:avLst/>
          </a:prstGeom>
          <a:noFill/>
          <a:ln/>
        </p:spPr>
        <p:txBody>
          <a:bodyPr wrap="square" lIns="0" tIns="0" rIns="0" bIns="0" rtlCol="0" anchor="ctr"/>
          <a:lstStyle/>
          <a:p>
            <a:pPr indent="0" marL="0">
              <a:buNone/>
            </a:pPr>
            <a:r>
              <a:rPr lang="en-US" sz="750" dirty="0">
                <a:solidFill>
                  <a:srgbClr val="546E7A"/>
                </a:solidFill>
              </a:rPr>
              <a:t>commandId, sessionId(FK), commandText, commandLevel (1/2/3), aiPrompt</a:t>
            </a:r>
            <a:endParaRPr lang="en-US" sz="750" dirty="0"/>
          </a:p>
        </p:txBody>
      </p:sp>
      <p:sp>
        <p:nvSpPr>
          <p:cNvPr id="17" name="Shape 14"/>
          <p:cNvSpPr/>
          <p:nvPr/>
        </p:nvSpPr>
        <p:spPr>
          <a:xfrm>
            <a:off x="320040" y="3072384"/>
            <a:ext cx="3913632" cy="475488"/>
          </a:xfrm>
          <a:prstGeom prst="rect">
            <a:avLst/>
          </a:prstGeom>
          <a:solidFill>
            <a:srgbClr val="FFFFFF"/>
          </a:solidFill>
          <a:ln w="6350">
            <a:solidFill>
              <a:srgbClr val="D0DAE4"/>
            </a:solidFill>
            <a:prstDash val="solid"/>
          </a:ln>
        </p:spPr>
      </p:sp>
      <p:sp>
        <p:nvSpPr>
          <p:cNvPr id="18" name="Text 15"/>
          <p:cNvSpPr/>
          <p:nvPr/>
        </p:nvSpPr>
        <p:spPr>
          <a:xfrm>
            <a:off x="384048" y="3090672"/>
            <a:ext cx="1371600" cy="237744"/>
          </a:xfrm>
          <a:prstGeom prst="rect">
            <a:avLst/>
          </a:prstGeom>
          <a:noFill/>
          <a:ln/>
        </p:spPr>
        <p:txBody>
          <a:bodyPr wrap="square" lIns="0" tIns="0" rIns="0" bIns="0" rtlCol="0" anchor="ctr"/>
          <a:lstStyle/>
          <a:p>
            <a:pPr indent="0" marL="0">
              <a:buNone/>
            </a:pPr>
            <a:r>
              <a:rPr lang="en-US" sz="900" b="1" dirty="0">
                <a:solidFill>
                  <a:srgbClr val="1565C0"/>
                </a:solidFill>
              </a:rPr>
              <a:t>GeneratedCode</a:t>
            </a:r>
            <a:endParaRPr lang="en-US" sz="900" dirty="0"/>
          </a:p>
        </p:txBody>
      </p:sp>
      <p:sp>
        <p:nvSpPr>
          <p:cNvPr id="19" name="Text 16"/>
          <p:cNvSpPr/>
          <p:nvPr/>
        </p:nvSpPr>
        <p:spPr>
          <a:xfrm>
            <a:off x="384048" y="3319272"/>
            <a:ext cx="3767328" cy="201168"/>
          </a:xfrm>
          <a:prstGeom prst="rect">
            <a:avLst/>
          </a:prstGeom>
          <a:noFill/>
          <a:ln/>
        </p:spPr>
        <p:txBody>
          <a:bodyPr wrap="square" lIns="0" tIns="0" rIns="0" bIns="0" rtlCol="0" anchor="ctr"/>
          <a:lstStyle/>
          <a:p>
            <a:pPr indent="0" marL="0">
              <a:buNone/>
            </a:pPr>
            <a:r>
              <a:rPr lang="en-US" sz="750" dirty="0">
                <a:solidFill>
                  <a:srgbClr val="546E7A"/>
                </a:solidFill>
              </a:rPr>
              <a:t>codeId, commandId(FK), userId(FK), cppBlock, shareLink</a:t>
            </a:r>
            <a:endParaRPr lang="en-US" sz="750" dirty="0"/>
          </a:p>
        </p:txBody>
      </p:sp>
      <p:sp>
        <p:nvSpPr>
          <p:cNvPr id="20" name="Shape 17"/>
          <p:cNvSpPr/>
          <p:nvPr/>
        </p:nvSpPr>
        <p:spPr>
          <a:xfrm>
            <a:off x="320040" y="3602736"/>
            <a:ext cx="3913632" cy="475488"/>
          </a:xfrm>
          <a:prstGeom prst="rect">
            <a:avLst/>
          </a:prstGeom>
          <a:solidFill>
            <a:srgbClr val="F4F6F9"/>
          </a:solidFill>
          <a:ln w="6350">
            <a:solidFill>
              <a:srgbClr val="D0DAE4"/>
            </a:solidFill>
            <a:prstDash val="solid"/>
          </a:ln>
        </p:spPr>
      </p:sp>
      <p:sp>
        <p:nvSpPr>
          <p:cNvPr id="21" name="Text 18"/>
          <p:cNvSpPr/>
          <p:nvPr/>
        </p:nvSpPr>
        <p:spPr>
          <a:xfrm>
            <a:off x="384048" y="3621024"/>
            <a:ext cx="1371600" cy="237744"/>
          </a:xfrm>
          <a:prstGeom prst="rect">
            <a:avLst/>
          </a:prstGeom>
          <a:noFill/>
          <a:ln/>
        </p:spPr>
        <p:txBody>
          <a:bodyPr wrap="square" lIns="0" tIns="0" rIns="0" bIns="0" rtlCol="0" anchor="ctr"/>
          <a:lstStyle/>
          <a:p>
            <a:pPr indent="0" marL="0">
              <a:buNone/>
            </a:pPr>
            <a:r>
              <a:rPr lang="en-US" sz="900" b="1" dirty="0">
                <a:solidFill>
                  <a:srgbClr val="1565C0"/>
                </a:solidFill>
              </a:rPr>
              <a:t>CompilationResult</a:t>
            </a:r>
            <a:endParaRPr lang="en-US" sz="900" dirty="0"/>
          </a:p>
        </p:txBody>
      </p:sp>
      <p:sp>
        <p:nvSpPr>
          <p:cNvPr id="22" name="Text 19"/>
          <p:cNvSpPr/>
          <p:nvPr/>
        </p:nvSpPr>
        <p:spPr>
          <a:xfrm>
            <a:off x="384048" y="3849624"/>
            <a:ext cx="3767328" cy="201168"/>
          </a:xfrm>
          <a:prstGeom prst="rect">
            <a:avLst/>
          </a:prstGeom>
          <a:noFill/>
          <a:ln/>
        </p:spPr>
        <p:txBody>
          <a:bodyPr wrap="square" lIns="0" tIns="0" rIns="0" bIns="0" rtlCol="0" anchor="ctr"/>
          <a:lstStyle/>
          <a:p>
            <a:pPr indent="0" marL="0">
              <a:buNone/>
            </a:pPr>
            <a:r>
              <a:rPr lang="en-US" sz="750" dirty="0">
                <a:solidFill>
                  <a:srgbClr val="546E7A"/>
                </a:solidFill>
              </a:rPr>
              <a:t>resultId, codeId(FK), compilerUsed, output, errorList</a:t>
            </a:r>
            <a:endParaRPr lang="en-US" sz="750" dirty="0"/>
          </a:p>
        </p:txBody>
      </p:sp>
      <p:sp>
        <p:nvSpPr>
          <p:cNvPr id="23" name="Shape 20"/>
          <p:cNvSpPr/>
          <p:nvPr/>
        </p:nvSpPr>
        <p:spPr>
          <a:xfrm>
            <a:off x="320040" y="4133088"/>
            <a:ext cx="3913632" cy="475488"/>
          </a:xfrm>
          <a:prstGeom prst="rect">
            <a:avLst/>
          </a:prstGeom>
          <a:solidFill>
            <a:srgbClr val="FFFFFF"/>
          </a:solidFill>
          <a:ln w="6350">
            <a:solidFill>
              <a:srgbClr val="D0DAE4"/>
            </a:solidFill>
            <a:prstDash val="solid"/>
          </a:ln>
        </p:spPr>
      </p:sp>
      <p:sp>
        <p:nvSpPr>
          <p:cNvPr id="24" name="Text 21"/>
          <p:cNvSpPr/>
          <p:nvPr/>
        </p:nvSpPr>
        <p:spPr>
          <a:xfrm>
            <a:off x="384048" y="4151376"/>
            <a:ext cx="1371600" cy="237744"/>
          </a:xfrm>
          <a:prstGeom prst="rect">
            <a:avLst/>
          </a:prstGeom>
          <a:noFill/>
          <a:ln/>
        </p:spPr>
        <p:txBody>
          <a:bodyPr wrap="square" lIns="0" tIns="0" rIns="0" bIns="0" rtlCol="0" anchor="ctr"/>
          <a:lstStyle/>
          <a:p>
            <a:pPr indent="0" marL="0">
              <a:buNone/>
            </a:pPr>
            <a:r>
              <a:rPr lang="en-US" sz="900" b="1" dirty="0">
                <a:solidFill>
                  <a:srgbClr val="1565C0"/>
                </a:solidFill>
              </a:rPr>
              <a:t>ChatHistory (AI)</a:t>
            </a:r>
            <a:endParaRPr lang="en-US" sz="900" dirty="0"/>
          </a:p>
        </p:txBody>
      </p:sp>
      <p:sp>
        <p:nvSpPr>
          <p:cNvPr id="25" name="Text 22"/>
          <p:cNvSpPr/>
          <p:nvPr/>
        </p:nvSpPr>
        <p:spPr>
          <a:xfrm>
            <a:off x="384048" y="4379976"/>
            <a:ext cx="3767328" cy="201168"/>
          </a:xfrm>
          <a:prstGeom prst="rect">
            <a:avLst/>
          </a:prstGeom>
          <a:noFill/>
          <a:ln/>
        </p:spPr>
        <p:txBody>
          <a:bodyPr wrap="square" lIns="0" tIns="0" rIns="0" bIns="0" rtlCol="0" anchor="ctr"/>
          <a:lstStyle/>
          <a:p>
            <a:pPr indent="0" marL="0">
              <a:buNone/>
            </a:pPr>
            <a:r>
              <a:rPr lang="en-US" sz="750" dirty="0">
                <a:solidFill>
                  <a:srgbClr val="546E7A"/>
                </a:solidFill>
              </a:rPr>
              <a:t>chatId, userId(FK), userPrompt, aiResponse (GPT-4o) [12]</a:t>
            </a:r>
            <a:endParaRPr lang="en-US" sz="750" dirty="0"/>
          </a:p>
        </p:txBody>
      </p:sp>
      <p:sp>
        <p:nvSpPr>
          <p:cNvPr id="26" name="Text 23"/>
          <p:cNvSpPr/>
          <p:nvPr/>
        </p:nvSpPr>
        <p:spPr>
          <a:xfrm>
            <a:off x="320040" y="4553712"/>
            <a:ext cx="3913632" cy="182880"/>
          </a:xfrm>
          <a:prstGeom prst="rect">
            <a:avLst/>
          </a:prstGeom>
          <a:noFill/>
          <a:ln/>
        </p:spPr>
        <p:txBody>
          <a:bodyPr wrap="square" lIns="0" tIns="0" rIns="0" bIns="0" rtlCol="0" anchor="ctr"/>
          <a:lstStyle/>
          <a:p>
            <a:pPr indent="0" marL="0">
              <a:buNone/>
            </a:pPr>
            <a:r>
              <a:rPr lang="en-US" sz="700" i="1" dirty="0">
                <a:solidFill>
                  <a:srgbClr val="00ACC1"/>
                </a:solidFill>
              </a:rPr>
              <a:t>1 User → N Sessions → N Commands → 1 Code → N Results  |  1 User → N ChatHistory</a:t>
            </a:r>
            <a:endParaRPr lang="en-US" sz="700" dirty="0"/>
          </a:p>
        </p:txBody>
      </p:sp>
      <p:sp>
        <p:nvSpPr>
          <p:cNvPr id="27" name="Shape 24"/>
          <p:cNvSpPr/>
          <p:nvPr/>
        </p:nvSpPr>
        <p:spPr>
          <a:xfrm>
            <a:off x="4572000" y="1005840"/>
            <a:ext cx="4343400" cy="379476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8" name="Shape 25"/>
          <p:cNvSpPr/>
          <p:nvPr/>
        </p:nvSpPr>
        <p:spPr>
          <a:xfrm>
            <a:off x="4572000" y="1005840"/>
            <a:ext cx="4343400" cy="384048"/>
          </a:xfrm>
          <a:prstGeom prst="rect">
            <a:avLst/>
          </a:prstGeom>
          <a:solidFill>
            <a:srgbClr val="00ACC1"/>
          </a:solidFill>
          <a:ln w="12700">
            <a:solidFill>
              <a:srgbClr val="00ACC1"/>
            </a:solidFill>
            <a:prstDash val="solid"/>
          </a:ln>
        </p:spPr>
      </p:sp>
      <p:pic>
        <p:nvPicPr>
          <p:cNvPr id="29" name="Image 1" descr="preencoded.png">    </p:cNvPr>
          <p:cNvPicPr>
            <a:picLocks noChangeAspect="1"/>
          </p:cNvPicPr>
          <p:nvPr/>
        </p:nvPicPr>
        <p:blipFill>
          <a:blip r:embed="rId2"/>
          <a:stretch>
            <a:fillRect/>
          </a:stretch>
        </p:blipFill>
        <p:spPr>
          <a:xfrm>
            <a:off x="4645152" y="1051560"/>
            <a:ext cx="274320" cy="274320"/>
          </a:xfrm>
          <a:prstGeom prst="rect">
            <a:avLst/>
          </a:prstGeom>
        </p:spPr>
      </p:pic>
      <p:sp>
        <p:nvSpPr>
          <p:cNvPr id="30" name="Text 26"/>
          <p:cNvSpPr/>
          <p:nvPr/>
        </p:nvSpPr>
        <p:spPr>
          <a:xfrm>
            <a:off x="4983480" y="1024128"/>
            <a:ext cx="3840480" cy="347472"/>
          </a:xfrm>
          <a:prstGeom prst="rect">
            <a:avLst/>
          </a:prstGeom>
          <a:noFill/>
          <a:ln/>
        </p:spPr>
        <p:txBody>
          <a:bodyPr wrap="square" lIns="0" tIns="0" rIns="0" bIns="0" rtlCol="0" anchor="ctr"/>
          <a:lstStyle/>
          <a:p>
            <a:pPr indent="0" marL="0">
              <a:buNone/>
            </a:pPr>
            <a:r>
              <a:rPr lang="en-US" sz="1300" b="1" dirty="0">
                <a:solidFill>
                  <a:srgbClr val="FFFFFF"/>
                </a:solidFill>
              </a:rPr>
              <a:t>GUI Design Screens</a:t>
            </a:r>
            <a:endParaRPr lang="en-US" sz="1300" dirty="0"/>
          </a:p>
        </p:txBody>
      </p:sp>
      <p:sp>
        <p:nvSpPr>
          <p:cNvPr id="31" name="Shape 27"/>
          <p:cNvSpPr/>
          <p:nvPr/>
        </p:nvSpPr>
        <p:spPr>
          <a:xfrm>
            <a:off x="4663440" y="1508760"/>
            <a:ext cx="347472" cy="347472"/>
          </a:xfrm>
          <a:prstGeom prst="ellipse">
            <a:avLst/>
          </a:prstGeom>
          <a:solidFill>
            <a:srgbClr val="00ACC1"/>
          </a:solidFill>
          <a:ln w="12700">
            <a:solidFill>
              <a:srgbClr val="00ACC1"/>
            </a:solidFill>
            <a:prstDash val="solid"/>
          </a:ln>
        </p:spPr>
      </p:sp>
      <p:sp>
        <p:nvSpPr>
          <p:cNvPr id="32" name="Text 28"/>
          <p:cNvSpPr/>
          <p:nvPr/>
        </p:nvSpPr>
        <p:spPr>
          <a:xfrm>
            <a:off x="4663440" y="15179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33" name="Text 29"/>
          <p:cNvSpPr/>
          <p:nvPr/>
        </p:nvSpPr>
        <p:spPr>
          <a:xfrm>
            <a:off x="5120640" y="1490472"/>
            <a:ext cx="3657600" cy="237744"/>
          </a:xfrm>
          <a:prstGeom prst="rect">
            <a:avLst/>
          </a:prstGeom>
          <a:noFill/>
          <a:ln/>
        </p:spPr>
        <p:txBody>
          <a:bodyPr wrap="square" lIns="0" tIns="0" rIns="0" bIns="0" rtlCol="0" anchor="ctr"/>
          <a:lstStyle/>
          <a:p>
            <a:pPr indent="0" marL="0">
              <a:buNone/>
            </a:pPr>
            <a:r>
              <a:rPr lang="en-US" sz="1050" b="1" dirty="0">
                <a:solidFill>
                  <a:srgbClr val="0B1F3A"/>
                </a:solidFill>
              </a:rPr>
              <a:t>Login / Register</a:t>
            </a:r>
            <a:endParaRPr lang="en-US" sz="1050" dirty="0"/>
          </a:p>
        </p:txBody>
      </p:sp>
      <p:sp>
        <p:nvSpPr>
          <p:cNvPr id="34" name="Text 30"/>
          <p:cNvSpPr/>
          <p:nvPr/>
        </p:nvSpPr>
        <p:spPr>
          <a:xfrm>
            <a:off x="5120640" y="1737360"/>
            <a:ext cx="3657600" cy="237744"/>
          </a:xfrm>
          <a:prstGeom prst="rect">
            <a:avLst/>
          </a:prstGeom>
          <a:noFill/>
          <a:ln/>
        </p:spPr>
        <p:txBody>
          <a:bodyPr wrap="square" lIns="0" tIns="0" rIns="0" bIns="0" rtlCol="0" anchor="ctr"/>
          <a:lstStyle/>
          <a:p>
            <a:pPr indent="0" marL="0">
              <a:buNone/>
            </a:pPr>
            <a:r>
              <a:rPr lang="en-US" sz="900" dirty="0">
                <a:solidFill>
                  <a:srgbClr val="546E7A"/>
                </a:solidFill>
              </a:rPr>
              <a:t>JWT-secured auth forms; email + password [7]</a:t>
            </a:r>
            <a:endParaRPr lang="en-US" sz="900" dirty="0"/>
          </a:p>
        </p:txBody>
      </p:sp>
      <p:sp>
        <p:nvSpPr>
          <p:cNvPr id="35" name="Shape 31"/>
          <p:cNvSpPr/>
          <p:nvPr/>
        </p:nvSpPr>
        <p:spPr>
          <a:xfrm>
            <a:off x="4663440" y="2057400"/>
            <a:ext cx="347472" cy="347472"/>
          </a:xfrm>
          <a:prstGeom prst="ellipse">
            <a:avLst/>
          </a:prstGeom>
          <a:solidFill>
            <a:srgbClr val="00ACC1"/>
          </a:solidFill>
          <a:ln w="12700">
            <a:solidFill>
              <a:srgbClr val="00ACC1"/>
            </a:solidFill>
            <a:prstDash val="solid"/>
          </a:ln>
        </p:spPr>
      </p:sp>
      <p:sp>
        <p:nvSpPr>
          <p:cNvPr id="36" name="Text 32"/>
          <p:cNvSpPr/>
          <p:nvPr/>
        </p:nvSpPr>
        <p:spPr>
          <a:xfrm>
            <a:off x="4663440" y="20665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37" name="Text 33"/>
          <p:cNvSpPr/>
          <p:nvPr/>
        </p:nvSpPr>
        <p:spPr>
          <a:xfrm>
            <a:off x="5120640" y="2039112"/>
            <a:ext cx="3657600" cy="237744"/>
          </a:xfrm>
          <a:prstGeom prst="rect">
            <a:avLst/>
          </a:prstGeom>
          <a:noFill/>
          <a:ln/>
        </p:spPr>
        <p:txBody>
          <a:bodyPr wrap="square" lIns="0" tIns="0" rIns="0" bIns="0" rtlCol="0" anchor="ctr"/>
          <a:lstStyle/>
          <a:p>
            <a:pPr indent="0" marL="0">
              <a:buNone/>
            </a:pPr>
            <a:r>
              <a:rPr lang="en-US" sz="1050" b="1" dirty="0">
                <a:solidFill>
                  <a:srgbClr val="0B1F3A"/>
                </a:solidFill>
              </a:rPr>
              <a:t>Main Dashboard</a:t>
            </a:r>
            <a:endParaRPr lang="en-US" sz="1050" dirty="0"/>
          </a:p>
        </p:txBody>
      </p:sp>
      <p:sp>
        <p:nvSpPr>
          <p:cNvPr id="38" name="Text 34"/>
          <p:cNvSpPr/>
          <p:nvPr/>
        </p:nvSpPr>
        <p:spPr>
          <a:xfrm>
            <a:off x="5120640" y="2286000"/>
            <a:ext cx="3657600" cy="237744"/>
          </a:xfrm>
          <a:prstGeom prst="rect">
            <a:avLst/>
          </a:prstGeom>
          <a:noFill/>
          <a:ln/>
        </p:spPr>
        <p:txBody>
          <a:bodyPr wrap="square" lIns="0" tIns="0" rIns="0" bIns="0" rtlCol="0" anchor="ctr"/>
          <a:lstStyle/>
          <a:p>
            <a:pPr indent="0" marL="0">
              <a:buNone/>
            </a:pPr>
            <a:r>
              <a:rPr lang="en-US" sz="900" dirty="0">
                <a:solidFill>
                  <a:srgbClr val="546E7A"/>
                </a:solidFill>
              </a:rPr>
              <a:t>Mic button, waveform animation, status indicator</a:t>
            </a:r>
            <a:endParaRPr lang="en-US" sz="900" dirty="0"/>
          </a:p>
        </p:txBody>
      </p:sp>
      <p:sp>
        <p:nvSpPr>
          <p:cNvPr id="39" name="Shape 35"/>
          <p:cNvSpPr/>
          <p:nvPr/>
        </p:nvSpPr>
        <p:spPr>
          <a:xfrm>
            <a:off x="4663440" y="2606040"/>
            <a:ext cx="347472" cy="347472"/>
          </a:xfrm>
          <a:prstGeom prst="ellipse">
            <a:avLst/>
          </a:prstGeom>
          <a:solidFill>
            <a:srgbClr val="00ACC1"/>
          </a:solidFill>
          <a:ln w="12700">
            <a:solidFill>
              <a:srgbClr val="00ACC1"/>
            </a:solidFill>
            <a:prstDash val="solid"/>
          </a:ln>
        </p:spPr>
      </p:sp>
      <p:sp>
        <p:nvSpPr>
          <p:cNvPr id="40" name="Text 36"/>
          <p:cNvSpPr/>
          <p:nvPr/>
        </p:nvSpPr>
        <p:spPr>
          <a:xfrm>
            <a:off x="4663440" y="261518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41" name="Text 37"/>
          <p:cNvSpPr/>
          <p:nvPr/>
        </p:nvSpPr>
        <p:spPr>
          <a:xfrm>
            <a:off x="5120640" y="2587752"/>
            <a:ext cx="3657600" cy="237744"/>
          </a:xfrm>
          <a:prstGeom prst="rect">
            <a:avLst/>
          </a:prstGeom>
          <a:noFill/>
          <a:ln/>
        </p:spPr>
        <p:txBody>
          <a:bodyPr wrap="square" lIns="0" tIns="0" rIns="0" bIns="0" rtlCol="0" anchor="ctr"/>
          <a:lstStyle/>
          <a:p>
            <a:pPr indent="0" marL="0">
              <a:buNone/>
            </a:pPr>
            <a:r>
              <a:rPr lang="en-US" sz="1050" b="1" dirty="0">
                <a:solidFill>
                  <a:srgbClr val="0B1F3A"/>
                </a:solidFill>
              </a:rPr>
              <a:t>Code Editor Screen</a:t>
            </a:r>
            <a:endParaRPr lang="en-US" sz="1050" dirty="0"/>
          </a:p>
        </p:txBody>
      </p:sp>
      <p:sp>
        <p:nvSpPr>
          <p:cNvPr id="42" name="Text 38"/>
          <p:cNvSpPr/>
          <p:nvPr/>
        </p:nvSpPr>
        <p:spPr>
          <a:xfrm>
            <a:off x="5120640" y="2834640"/>
            <a:ext cx="3657600" cy="237744"/>
          </a:xfrm>
          <a:prstGeom prst="rect">
            <a:avLst/>
          </a:prstGeom>
          <a:noFill/>
          <a:ln/>
        </p:spPr>
        <p:txBody>
          <a:bodyPr wrap="square" lIns="0" tIns="0" rIns="0" bIns="0" rtlCol="0" anchor="ctr"/>
          <a:lstStyle/>
          <a:p>
            <a:pPr indent="0" marL="0">
              <a:buNone/>
            </a:pPr>
            <a:r>
              <a:rPr lang="en-US" sz="900" dirty="0">
                <a:solidFill>
                  <a:srgbClr val="546E7A"/>
                </a:solidFill>
              </a:rPr>
              <a:t>Monaco dark theme, multi-tab, Save/Share buttons [3]</a:t>
            </a:r>
            <a:endParaRPr lang="en-US" sz="900" dirty="0"/>
          </a:p>
        </p:txBody>
      </p:sp>
      <p:sp>
        <p:nvSpPr>
          <p:cNvPr id="43" name="Shape 39"/>
          <p:cNvSpPr/>
          <p:nvPr/>
        </p:nvSpPr>
        <p:spPr>
          <a:xfrm>
            <a:off x="4663440" y="3154680"/>
            <a:ext cx="347472" cy="347472"/>
          </a:xfrm>
          <a:prstGeom prst="ellipse">
            <a:avLst/>
          </a:prstGeom>
          <a:solidFill>
            <a:srgbClr val="00ACC1"/>
          </a:solidFill>
          <a:ln w="12700">
            <a:solidFill>
              <a:srgbClr val="00ACC1"/>
            </a:solidFill>
            <a:prstDash val="solid"/>
          </a:ln>
        </p:spPr>
      </p:sp>
      <p:sp>
        <p:nvSpPr>
          <p:cNvPr id="44" name="Text 40"/>
          <p:cNvSpPr/>
          <p:nvPr/>
        </p:nvSpPr>
        <p:spPr>
          <a:xfrm>
            <a:off x="4663440" y="31638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45" name="Text 41"/>
          <p:cNvSpPr/>
          <p:nvPr/>
        </p:nvSpPr>
        <p:spPr>
          <a:xfrm>
            <a:off x="5120640" y="3136392"/>
            <a:ext cx="3657600" cy="237744"/>
          </a:xfrm>
          <a:prstGeom prst="rect">
            <a:avLst/>
          </a:prstGeom>
          <a:noFill/>
          <a:ln/>
        </p:spPr>
        <p:txBody>
          <a:bodyPr wrap="square" lIns="0" tIns="0" rIns="0" bIns="0" rtlCol="0" anchor="ctr"/>
          <a:lstStyle/>
          <a:p>
            <a:pPr indent="0" marL="0">
              <a:buNone/>
            </a:pPr>
            <a:r>
              <a:rPr lang="en-US" sz="1050" b="1" dirty="0">
                <a:solidFill>
                  <a:srgbClr val="0B1F3A"/>
                </a:solidFill>
              </a:rPr>
              <a:t>AI Chat Panel</a:t>
            </a:r>
            <a:endParaRPr lang="en-US" sz="1050" dirty="0"/>
          </a:p>
        </p:txBody>
      </p:sp>
      <p:sp>
        <p:nvSpPr>
          <p:cNvPr id="46" name="Text 42"/>
          <p:cNvSpPr/>
          <p:nvPr/>
        </p:nvSpPr>
        <p:spPr>
          <a:xfrm>
            <a:off x="5120640" y="3383280"/>
            <a:ext cx="3657600" cy="237744"/>
          </a:xfrm>
          <a:prstGeom prst="rect">
            <a:avLst/>
          </a:prstGeom>
          <a:noFill/>
          <a:ln/>
        </p:spPr>
        <p:txBody>
          <a:bodyPr wrap="square" lIns="0" tIns="0" rIns="0" bIns="0" rtlCol="0" anchor="ctr"/>
          <a:lstStyle/>
          <a:p>
            <a:pPr indent="0" marL="0">
              <a:buNone/>
            </a:pPr>
            <a:r>
              <a:rPr lang="en-US" sz="900" dirty="0">
                <a:solidFill>
                  <a:srgbClr val="546E7A"/>
                </a:solidFill>
              </a:rPr>
              <a:t>GPT-4o interaction sidebar for L3 commands [12]</a:t>
            </a:r>
            <a:endParaRPr lang="en-US" sz="900" dirty="0"/>
          </a:p>
        </p:txBody>
      </p:sp>
      <p:sp>
        <p:nvSpPr>
          <p:cNvPr id="47" name="Shape 43"/>
          <p:cNvSpPr/>
          <p:nvPr/>
        </p:nvSpPr>
        <p:spPr>
          <a:xfrm>
            <a:off x="4663440" y="3703320"/>
            <a:ext cx="347472" cy="347472"/>
          </a:xfrm>
          <a:prstGeom prst="ellipse">
            <a:avLst/>
          </a:prstGeom>
          <a:solidFill>
            <a:srgbClr val="00ACC1"/>
          </a:solidFill>
          <a:ln w="12700">
            <a:solidFill>
              <a:srgbClr val="00ACC1"/>
            </a:solidFill>
            <a:prstDash val="solid"/>
          </a:ln>
        </p:spPr>
      </p:sp>
      <p:sp>
        <p:nvSpPr>
          <p:cNvPr id="48" name="Text 44"/>
          <p:cNvSpPr/>
          <p:nvPr/>
        </p:nvSpPr>
        <p:spPr>
          <a:xfrm>
            <a:off x="4663440" y="371246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49" name="Text 45"/>
          <p:cNvSpPr/>
          <p:nvPr/>
        </p:nvSpPr>
        <p:spPr>
          <a:xfrm>
            <a:off x="5120640" y="3685032"/>
            <a:ext cx="3657600" cy="237744"/>
          </a:xfrm>
          <a:prstGeom prst="rect">
            <a:avLst/>
          </a:prstGeom>
          <a:noFill/>
          <a:ln/>
        </p:spPr>
        <p:txBody>
          <a:bodyPr wrap="square" lIns="0" tIns="0" rIns="0" bIns="0" rtlCol="0" anchor="ctr"/>
          <a:lstStyle/>
          <a:p>
            <a:pPr indent="0" marL="0">
              <a:buNone/>
            </a:pPr>
            <a:r>
              <a:rPr lang="en-US" sz="1050" b="1" dirty="0">
                <a:solidFill>
                  <a:srgbClr val="0B1F3A"/>
                </a:solidFill>
              </a:rPr>
              <a:t>Output Console</a:t>
            </a:r>
            <a:endParaRPr lang="en-US" sz="1050" dirty="0"/>
          </a:p>
        </p:txBody>
      </p:sp>
      <p:sp>
        <p:nvSpPr>
          <p:cNvPr id="50" name="Text 46"/>
          <p:cNvSpPr/>
          <p:nvPr/>
        </p:nvSpPr>
        <p:spPr>
          <a:xfrm>
            <a:off x="5120640" y="3931920"/>
            <a:ext cx="3657600" cy="237744"/>
          </a:xfrm>
          <a:prstGeom prst="rect">
            <a:avLst/>
          </a:prstGeom>
          <a:noFill/>
          <a:ln/>
        </p:spPr>
        <p:txBody>
          <a:bodyPr wrap="square" lIns="0" tIns="0" rIns="0" bIns="0" rtlCol="0" anchor="ctr"/>
          <a:lstStyle/>
          <a:p>
            <a:pPr indent="0" marL="0">
              <a:buNone/>
            </a:pPr>
            <a:r>
              <a:rPr lang="en-US" sz="900" dirty="0">
                <a:solidFill>
                  <a:srgbClr val="546E7A"/>
                </a:solidFill>
              </a:rPr>
              <a:t>Results, errors, auto-scroll, Urdu TTS toggle [1]</a:t>
            </a:r>
            <a:endParaRPr lang="en-US" sz="900" dirty="0"/>
          </a:p>
        </p:txBody>
      </p:sp>
      <p:sp>
        <p:nvSpPr>
          <p:cNvPr id="51" name="Shape 47"/>
          <p:cNvSpPr/>
          <p:nvPr/>
        </p:nvSpPr>
        <p:spPr>
          <a:xfrm>
            <a:off x="4663440" y="4251960"/>
            <a:ext cx="347472" cy="347472"/>
          </a:xfrm>
          <a:prstGeom prst="ellipse">
            <a:avLst/>
          </a:prstGeom>
          <a:solidFill>
            <a:srgbClr val="00ACC1"/>
          </a:solidFill>
          <a:ln w="12700">
            <a:solidFill>
              <a:srgbClr val="00ACC1"/>
            </a:solidFill>
            <a:prstDash val="solid"/>
          </a:ln>
        </p:spPr>
      </p:sp>
      <p:sp>
        <p:nvSpPr>
          <p:cNvPr id="52" name="Text 48"/>
          <p:cNvSpPr/>
          <p:nvPr/>
        </p:nvSpPr>
        <p:spPr>
          <a:xfrm>
            <a:off x="4663440" y="42611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53" name="Text 49"/>
          <p:cNvSpPr/>
          <p:nvPr/>
        </p:nvSpPr>
        <p:spPr>
          <a:xfrm>
            <a:off x="5120640" y="4233672"/>
            <a:ext cx="3657600" cy="237744"/>
          </a:xfrm>
          <a:prstGeom prst="rect">
            <a:avLst/>
          </a:prstGeom>
          <a:noFill/>
          <a:ln/>
        </p:spPr>
        <p:txBody>
          <a:bodyPr wrap="square" lIns="0" tIns="0" rIns="0" bIns="0" rtlCol="0" anchor="ctr"/>
          <a:lstStyle/>
          <a:p>
            <a:pPr indent="0" marL="0">
              <a:buNone/>
            </a:pPr>
            <a:r>
              <a:rPr lang="en-US" sz="1050" b="1" dirty="0">
                <a:solidFill>
                  <a:srgbClr val="0B1F3A"/>
                </a:solidFill>
              </a:rPr>
              <a:t>Error Modals</a:t>
            </a:r>
            <a:endParaRPr lang="en-US" sz="1050" dirty="0"/>
          </a:p>
        </p:txBody>
      </p:sp>
      <p:sp>
        <p:nvSpPr>
          <p:cNvPr id="54" name="Text 50"/>
          <p:cNvSpPr/>
          <p:nvPr/>
        </p:nvSpPr>
        <p:spPr>
          <a:xfrm>
            <a:off x="5120640" y="4480560"/>
            <a:ext cx="3657600" cy="237744"/>
          </a:xfrm>
          <a:prstGeom prst="rect">
            <a:avLst/>
          </a:prstGeom>
          <a:noFill/>
          <a:ln/>
        </p:spPr>
        <p:txBody>
          <a:bodyPr wrap="square" lIns="0" tIns="0" rIns="0" bIns="0" rtlCol="0" anchor="ctr"/>
          <a:lstStyle/>
          <a:p>
            <a:pPr indent="0" marL="0">
              <a:buNone/>
            </a:pPr>
            <a:r>
              <a:rPr lang="en-US" sz="900" dirty="0">
                <a:solidFill>
                  <a:srgbClr val="546E7A"/>
                </a:solidFill>
              </a:rPr>
              <a:t>Invalid cmd alerts, API timeout, mic access dialogs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Milestones &amp; Project Plan</a:t>
            </a:r>
            <a:endParaRPr lang="en-US" sz="2600" dirty="0"/>
          </a:p>
        </p:txBody>
      </p:sp>
      <p:sp>
        <p:nvSpPr>
          <p:cNvPr id="4" name="Shape 2"/>
          <p:cNvSpPr/>
          <p:nvPr/>
        </p:nvSpPr>
        <p:spPr>
          <a:xfrm>
            <a:off x="228600" y="1572768"/>
            <a:ext cx="8686800" cy="54864"/>
          </a:xfrm>
          <a:prstGeom prst="rect">
            <a:avLst/>
          </a:prstGeom>
          <a:solidFill>
            <a:srgbClr val="B0BEC5"/>
          </a:solidFill>
          <a:ln w="12700">
            <a:solidFill>
              <a:srgbClr val="B0BEC5"/>
            </a:solidFill>
            <a:prstDash val="solid"/>
          </a:ln>
        </p:spPr>
      </p:sp>
      <p:sp>
        <p:nvSpPr>
          <p:cNvPr id="5" name="Shape 3"/>
          <p:cNvSpPr/>
          <p:nvPr/>
        </p:nvSpPr>
        <p:spPr>
          <a:xfrm>
            <a:off x="475488" y="1463040"/>
            <a:ext cx="274320" cy="274320"/>
          </a:xfrm>
          <a:prstGeom prst="ellipse">
            <a:avLst/>
          </a:prstGeom>
          <a:solidFill>
            <a:srgbClr val="1565C0"/>
          </a:solidFill>
          <a:ln w="12700">
            <a:solidFill>
              <a:srgbClr val="1565C0"/>
            </a:solidFill>
            <a:prstDash val="solid"/>
          </a:ln>
        </p:spPr>
      </p:sp>
      <p:sp>
        <p:nvSpPr>
          <p:cNvPr id="6" name="Text 4"/>
          <p:cNvSpPr/>
          <p:nvPr/>
        </p:nvSpPr>
        <p:spPr>
          <a:xfrm>
            <a:off x="475488" y="1463040"/>
            <a:ext cx="274320" cy="274320"/>
          </a:xfrm>
          <a:prstGeom prst="rect">
            <a:avLst/>
          </a:prstGeom>
          <a:noFill/>
          <a:ln/>
        </p:spPr>
        <p:txBody>
          <a:bodyPr wrap="square" lIns="0" tIns="0" rIns="0" bIns="0" rtlCol="0" anchor="ctr"/>
          <a:lstStyle/>
          <a:p>
            <a:pPr algn="ctr" indent="0" marL="0">
              <a:buNone/>
            </a:pPr>
            <a:r>
              <a:rPr lang="en-US" sz="700" b="1" dirty="0">
                <a:solidFill>
                  <a:srgbClr val="FFFFFF"/>
                </a:solidFill>
              </a:rPr>
              <a:t>M1</a:t>
            </a:r>
            <a:endParaRPr lang="en-US" sz="700" dirty="0"/>
          </a:p>
        </p:txBody>
      </p:sp>
      <p:sp>
        <p:nvSpPr>
          <p:cNvPr id="7" name="Shape 5"/>
          <p:cNvSpPr/>
          <p:nvPr/>
        </p:nvSpPr>
        <p:spPr>
          <a:xfrm>
            <a:off x="219456" y="1874520"/>
            <a:ext cx="1042416" cy="141732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8" name="Shape 6"/>
          <p:cNvSpPr/>
          <p:nvPr/>
        </p:nvSpPr>
        <p:spPr>
          <a:xfrm>
            <a:off x="219456" y="1874520"/>
            <a:ext cx="1042416" cy="256032"/>
          </a:xfrm>
          <a:prstGeom prst="rect">
            <a:avLst/>
          </a:prstGeom>
          <a:solidFill>
            <a:srgbClr val="1565C0"/>
          </a:solidFill>
          <a:ln w="12700">
            <a:solidFill>
              <a:srgbClr val="1565C0"/>
            </a:solidFill>
            <a:prstDash val="solid"/>
          </a:ln>
        </p:spPr>
      </p:sp>
      <p:sp>
        <p:nvSpPr>
          <p:cNvPr id="9" name="Text 7"/>
          <p:cNvSpPr/>
          <p:nvPr/>
        </p:nvSpPr>
        <p:spPr>
          <a:xfrm>
            <a:off x="219456" y="1883664"/>
            <a:ext cx="1042416" cy="237744"/>
          </a:xfrm>
          <a:prstGeom prst="rect">
            <a:avLst/>
          </a:prstGeom>
          <a:noFill/>
          <a:ln/>
        </p:spPr>
        <p:txBody>
          <a:bodyPr wrap="square" lIns="0" tIns="0" rIns="0" bIns="0" rtlCol="0" anchor="ctr"/>
          <a:lstStyle/>
          <a:p>
            <a:pPr algn="ctr" indent="0" marL="0">
              <a:buNone/>
            </a:pPr>
            <a:r>
              <a:rPr lang="en-US" sz="900" b="1" dirty="0">
                <a:solidFill>
                  <a:srgbClr val="FFFFFF"/>
                </a:solidFill>
              </a:rPr>
              <a:t>M1</a:t>
            </a:r>
            <a:endParaRPr lang="en-US" sz="900" dirty="0"/>
          </a:p>
        </p:txBody>
      </p:sp>
      <p:sp>
        <p:nvSpPr>
          <p:cNvPr id="10" name="Text 8"/>
          <p:cNvSpPr/>
          <p:nvPr/>
        </p:nvSpPr>
        <p:spPr>
          <a:xfrm>
            <a:off x="265176" y="2167128"/>
            <a:ext cx="950976" cy="457200"/>
          </a:xfrm>
          <a:prstGeom prst="rect">
            <a:avLst/>
          </a:prstGeom>
          <a:noFill/>
          <a:ln/>
        </p:spPr>
        <p:txBody>
          <a:bodyPr wrap="square" lIns="0" tIns="0" rIns="0" bIns="0" rtlCol="0" anchor="ctr"/>
          <a:lstStyle/>
          <a:p>
            <a:pPr indent="0" marL="0">
              <a:buNone/>
            </a:pPr>
            <a:r>
              <a:rPr lang="en-US" sz="800" b="1" dirty="0">
                <a:solidFill>
                  <a:srgbClr val="0B1F3A"/>
                </a:solidFill>
              </a:rPr>
              <a:t>Foundation &amp; Setup</a:t>
            </a:r>
            <a:endParaRPr lang="en-US" sz="800" dirty="0"/>
          </a:p>
        </p:txBody>
      </p:sp>
      <p:sp>
        <p:nvSpPr>
          <p:cNvPr id="11" name="Text 9"/>
          <p:cNvSpPr/>
          <p:nvPr/>
        </p:nvSpPr>
        <p:spPr>
          <a:xfrm>
            <a:off x="265176" y="2624328"/>
            <a:ext cx="950976" cy="603504"/>
          </a:xfrm>
          <a:prstGeom prst="rect">
            <a:avLst/>
          </a:prstGeom>
          <a:noFill/>
          <a:ln/>
        </p:spPr>
        <p:txBody>
          <a:bodyPr wrap="square" lIns="0" tIns="0" rIns="0" bIns="0" rtlCol="0" anchor="ctr"/>
          <a:lstStyle/>
          <a:p>
            <a:pPr indent="0" marL="0">
              <a:buNone/>
            </a:pPr>
            <a:r>
              <a:rPr lang="en-US" sz="700" dirty="0">
                <a:solidFill>
                  <a:srgbClr val="546E7A"/>
                </a:solidFill>
              </a:rPr>
              <a:t>Monaco Editor, Web Speech API prototype, project scaffold</a:t>
            </a:r>
            <a:endParaRPr lang="en-US" sz="700" dirty="0"/>
          </a:p>
        </p:txBody>
      </p:sp>
      <p:sp>
        <p:nvSpPr>
          <p:cNvPr id="12" name="Shape 10"/>
          <p:cNvSpPr/>
          <p:nvPr/>
        </p:nvSpPr>
        <p:spPr>
          <a:xfrm>
            <a:off x="603504" y="1737360"/>
            <a:ext cx="27432" cy="137160"/>
          </a:xfrm>
          <a:prstGeom prst="rect">
            <a:avLst/>
          </a:prstGeom>
          <a:solidFill>
            <a:srgbClr val="B0BEC5"/>
          </a:solidFill>
          <a:ln w="12700">
            <a:solidFill>
              <a:srgbClr val="B0BEC5"/>
            </a:solidFill>
            <a:prstDash val="solid"/>
          </a:ln>
        </p:spPr>
      </p:sp>
      <p:sp>
        <p:nvSpPr>
          <p:cNvPr id="13" name="Shape 11"/>
          <p:cNvSpPr/>
          <p:nvPr/>
        </p:nvSpPr>
        <p:spPr>
          <a:xfrm>
            <a:off x="1572768" y="1463040"/>
            <a:ext cx="274320" cy="274320"/>
          </a:xfrm>
          <a:prstGeom prst="ellipse">
            <a:avLst/>
          </a:prstGeom>
          <a:solidFill>
            <a:srgbClr val="00ACC1"/>
          </a:solidFill>
          <a:ln w="12700">
            <a:solidFill>
              <a:srgbClr val="00ACC1"/>
            </a:solidFill>
            <a:prstDash val="solid"/>
          </a:ln>
        </p:spPr>
      </p:sp>
      <p:sp>
        <p:nvSpPr>
          <p:cNvPr id="14" name="Text 12"/>
          <p:cNvSpPr/>
          <p:nvPr/>
        </p:nvSpPr>
        <p:spPr>
          <a:xfrm>
            <a:off x="1572768" y="1463040"/>
            <a:ext cx="274320" cy="274320"/>
          </a:xfrm>
          <a:prstGeom prst="rect">
            <a:avLst/>
          </a:prstGeom>
          <a:noFill/>
          <a:ln/>
        </p:spPr>
        <p:txBody>
          <a:bodyPr wrap="square" lIns="0" tIns="0" rIns="0" bIns="0" rtlCol="0" anchor="ctr"/>
          <a:lstStyle/>
          <a:p>
            <a:pPr algn="ctr" indent="0" marL="0">
              <a:buNone/>
            </a:pPr>
            <a:r>
              <a:rPr lang="en-US" sz="700" b="1" dirty="0">
                <a:solidFill>
                  <a:srgbClr val="FFFFFF"/>
                </a:solidFill>
              </a:rPr>
              <a:t>M2</a:t>
            </a:r>
            <a:endParaRPr lang="en-US" sz="700" dirty="0"/>
          </a:p>
        </p:txBody>
      </p:sp>
      <p:sp>
        <p:nvSpPr>
          <p:cNvPr id="15" name="Shape 13"/>
          <p:cNvSpPr/>
          <p:nvPr/>
        </p:nvSpPr>
        <p:spPr>
          <a:xfrm>
            <a:off x="1316736" y="2697480"/>
            <a:ext cx="1042416" cy="141732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6" name="Shape 14"/>
          <p:cNvSpPr/>
          <p:nvPr/>
        </p:nvSpPr>
        <p:spPr>
          <a:xfrm>
            <a:off x="1316736" y="2697480"/>
            <a:ext cx="1042416" cy="256032"/>
          </a:xfrm>
          <a:prstGeom prst="rect">
            <a:avLst/>
          </a:prstGeom>
          <a:solidFill>
            <a:srgbClr val="00ACC1"/>
          </a:solidFill>
          <a:ln w="12700">
            <a:solidFill>
              <a:srgbClr val="00ACC1"/>
            </a:solidFill>
            <a:prstDash val="solid"/>
          </a:ln>
        </p:spPr>
      </p:sp>
      <p:sp>
        <p:nvSpPr>
          <p:cNvPr id="17" name="Text 15"/>
          <p:cNvSpPr/>
          <p:nvPr/>
        </p:nvSpPr>
        <p:spPr>
          <a:xfrm>
            <a:off x="1316736" y="2706624"/>
            <a:ext cx="1042416" cy="237744"/>
          </a:xfrm>
          <a:prstGeom prst="rect">
            <a:avLst/>
          </a:prstGeom>
          <a:noFill/>
          <a:ln/>
        </p:spPr>
        <p:txBody>
          <a:bodyPr wrap="square" lIns="0" tIns="0" rIns="0" bIns="0" rtlCol="0" anchor="ctr"/>
          <a:lstStyle/>
          <a:p>
            <a:pPr algn="ctr" indent="0" marL="0">
              <a:buNone/>
            </a:pPr>
            <a:r>
              <a:rPr lang="en-US" sz="900" b="1" dirty="0">
                <a:solidFill>
                  <a:srgbClr val="FFFFFF"/>
                </a:solidFill>
              </a:rPr>
              <a:t>M2</a:t>
            </a:r>
            <a:endParaRPr lang="en-US" sz="900" dirty="0"/>
          </a:p>
        </p:txBody>
      </p:sp>
      <p:sp>
        <p:nvSpPr>
          <p:cNvPr id="18" name="Text 16"/>
          <p:cNvSpPr/>
          <p:nvPr/>
        </p:nvSpPr>
        <p:spPr>
          <a:xfrm>
            <a:off x="1362456" y="2990088"/>
            <a:ext cx="950976" cy="457200"/>
          </a:xfrm>
          <a:prstGeom prst="rect">
            <a:avLst/>
          </a:prstGeom>
          <a:noFill/>
          <a:ln/>
        </p:spPr>
        <p:txBody>
          <a:bodyPr wrap="square" lIns="0" tIns="0" rIns="0" bIns="0" rtlCol="0" anchor="ctr"/>
          <a:lstStyle/>
          <a:p>
            <a:pPr indent="0" marL="0">
              <a:buNone/>
            </a:pPr>
            <a:r>
              <a:rPr lang="en-US" sz="800" b="1" dirty="0">
                <a:solidFill>
                  <a:srgbClr val="0B1F3A"/>
                </a:solidFill>
              </a:rPr>
              <a:t>Voice &amp; Basic Commands</a:t>
            </a:r>
            <a:endParaRPr lang="en-US" sz="800" dirty="0"/>
          </a:p>
        </p:txBody>
      </p:sp>
      <p:sp>
        <p:nvSpPr>
          <p:cNvPr id="19" name="Text 17"/>
          <p:cNvSpPr/>
          <p:nvPr/>
        </p:nvSpPr>
        <p:spPr>
          <a:xfrm>
            <a:off x="1362456" y="3447288"/>
            <a:ext cx="950976" cy="603504"/>
          </a:xfrm>
          <a:prstGeom prst="rect">
            <a:avLst/>
          </a:prstGeom>
          <a:noFill/>
          <a:ln/>
        </p:spPr>
        <p:txBody>
          <a:bodyPr wrap="square" lIns="0" tIns="0" rIns="0" bIns="0" rtlCol="0" anchor="ctr"/>
          <a:lstStyle/>
          <a:p>
            <a:pPr indent="0" marL="0">
              <a:buNone/>
            </a:pPr>
            <a:r>
              <a:rPr lang="en-US" sz="700" dirty="0">
                <a:solidFill>
                  <a:srgbClr val="546E7A"/>
                </a:solidFill>
              </a:rPr>
              <a:t>Voice capture, transcription, L1/L2 command parsing [1],[5]</a:t>
            </a:r>
            <a:endParaRPr lang="en-US" sz="700" dirty="0"/>
          </a:p>
        </p:txBody>
      </p:sp>
      <p:sp>
        <p:nvSpPr>
          <p:cNvPr id="20" name="Shape 18"/>
          <p:cNvSpPr/>
          <p:nvPr/>
        </p:nvSpPr>
        <p:spPr>
          <a:xfrm>
            <a:off x="1700784" y="1737360"/>
            <a:ext cx="27432" cy="960120"/>
          </a:xfrm>
          <a:prstGeom prst="rect">
            <a:avLst/>
          </a:prstGeom>
          <a:solidFill>
            <a:srgbClr val="B0BEC5"/>
          </a:solidFill>
          <a:ln w="12700">
            <a:solidFill>
              <a:srgbClr val="B0BEC5"/>
            </a:solidFill>
            <a:prstDash val="solid"/>
          </a:ln>
        </p:spPr>
      </p:sp>
      <p:sp>
        <p:nvSpPr>
          <p:cNvPr id="21" name="Shape 19"/>
          <p:cNvSpPr/>
          <p:nvPr/>
        </p:nvSpPr>
        <p:spPr>
          <a:xfrm>
            <a:off x="2670048" y="1463040"/>
            <a:ext cx="274320" cy="274320"/>
          </a:xfrm>
          <a:prstGeom prst="ellipse">
            <a:avLst/>
          </a:prstGeom>
          <a:solidFill>
            <a:srgbClr val="F57C00"/>
          </a:solidFill>
          <a:ln w="12700">
            <a:solidFill>
              <a:srgbClr val="F57C00"/>
            </a:solidFill>
            <a:prstDash val="solid"/>
          </a:ln>
        </p:spPr>
      </p:sp>
      <p:sp>
        <p:nvSpPr>
          <p:cNvPr id="22" name="Text 20"/>
          <p:cNvSpPr/>
          <p:nvPr/>
        </p:nvSpPr>
        <p:spPr>
          <a:xfrm>
            <a:off x="2670048" y="1463040"/>
            <a:ext cx="274320" cy="274320"/>
          </a:xfrm>
          <a:prstGeom prst="rect">
            <a:avLst/>
          </a:prstGeom>
          <a:noFill/>
          <a:ln/>
        </p:spPr>
        <p:txBody>
          <a:bodyPr wrap="square" lIns="0" tIns="0" rIns="0" bIns="0" rtlCol="0" anchor="ctr"/>
          <a:lstStyle/>
          <a:p>
            <a:pPr algn="ctr" indent="0" marL="0">
              <a:buNone/>
            </a:pPr>
            <a:r>
              <a:rPr lang="en-US" sz="700" b="1" dirty="0">
                <a:solidFill>
                  <a:srgbClr val="FFFFFF"/>
                </a:solidFill>
              </a:rPr>
              <a:t>M3</a:t>
            </a:r>
            <a:endParaRPr lang="en-US" sz="700" dirty="0"/>
          </a:p>
        </p:txBody>
      </p:sp>
      <p:sp>
        <p:nvSpPr>
          <p:cNvPr id="23" name="Shape 21"/>
          <p:cNvSpPr/>
          <p:nvPr/>
        </p:nvSpPr>
        <p:spPr>
          <a:xfrm>
            <a:off x="2414016" y="1874520"/>
            <a:ext cx="1042416" cy="141732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4" name="Shape 22"/>
          <p:cNvSpPr/>
          <p:nvPr/>
        </p:nvSpPr>
        <p:spPr>
          <a:xfrm>
            <a:off x="2414016" y="1874520"/>
            <a:ext cx="1042416" cy="256032"/>
          </a:xfrm>
          <a:prstGeom prst="rect">
            <a:avLst/>
          </a:prstGeom>
          <a:solidFill>
            <a:srgbClr val="F57C00"/>
          </a:solidFill>
          <a:ln w="12700">
            <a:solidFill>
              <a:srgbClr val="F57C00"/>
            </a:solidFill>
            <a:prstDash val="solid"/>
          </a:ln>
        </p:spPr>
      </p:sp>
      <p:sp>
        <p:nvSpPr>
          <p:cNvPr id="25" name="Text 23"/>
          <p:cNvSpPr/>
          <p:nvPr/>
        </p:nvSpPr>
        <p:spPr>
          <a:xfrm>
            <a:off x="2414016" y="1883664"/>
            <a:ext cx="1042416" cy="237744"/>
          </a:xfrm>
          <a:prstGeom prst="rect">
            <a:avLst/>
          </a:prstGeom>
          <a:noFill/>
          <a:ln/>
        </p:spPr>
        <p:txBody>
          <a:bodyPr wrap="square" lIns="0" tIns="0" rIns="0" bIns="0" rtlCol="0" anchor="ctr"/>
          <a:lstStyle/>
          <a:p>
            <a:pPr algn="ctr" indent="0" marL="0">
              <a:buNone/>
            </a:pPr>
            <a:r>
              <a:rPr lang="en-US" sz="900" b="1" dirty="0">
                <a:solidFill>
                  <a:srgbClr val="FFFFFF"/>
                </a:solidFill>
              </a:rPr>
              <a:t>M3</a:t>
            </a:r>
            <a:endParaRPr lang="en-US" sz="900" dirty="0"/>
          </a:p>
        </p:txBody>
      </p:sp>
      <p:sp>
        <p:nvSpPr>
          <p:cNvPr id="26" name="Text 24"/>
          <p:cNvSpPr/>
          <p:nvPr/>
        </p:nvSpPr>
        <p:spPr>
          <a:xfrm>
            <a:off x="2459736" y="2167128"/>
            <a:ext cx="950976" cy="457200"/>
          </a:xfrm>
          <a:prstGeom prst="rect">
            <a:avLst/>
          </a:prstGeom>
          <a:noFill/>
          <a:ln/>
        </p:spPr>
        <p:txBody>
          <a:bodyPr wrap="square" lIns="0" tIns="0" rIns="0" bIns="0" rtlCol="0" anchor="ctr"/>
          <a:lstStyle/>
          <a:p>
            <a:pPr indent="0" marL="0">
              <a:buNone/>
            </a:pPr>
            <a:r>
              <a:rPr lang="en-US" sz="800" b="1" dirty="0">
                <a:solidFill>
                  <a:srgbClr val="0B1F3A"/>
                </a:solidFill>
              </a:rPr>
              <a:t>GPT-4o Integration</a:t>
            </a:r>
            <a:endParaRPr lang="en-US" sz="800" dirty="0"/>
          </a:p>
        </p:txBody>
      </p:sp>
      <p:sp>
        <p:nvSpPr>
          <p:cNvPr id="27" name="Text 25"/>
          <p:cNvSpPr/>
          <p:nvPr/>
        </p:nvSpPr>
        <p:spPr>
          <a:xfrm>
            <a:off x="2459736" y="2624328"/>
            <a:ext cx="950976" cy="603504"/>
          </a:xfrm>
          <a:prstGeom prst="rect">
            <a:avLst/>
          </a:prstGeom>
          <a:noFill/>
          <a:ln/>
        </p:spPr>
        <p:txBody>
          <a:bodyPr wrap="square" lIns="0" tIns="0" rIns="0" bIns="0" rtlCol="0" anchor="ctr"/>
          <a:lstStyle/>
          <a:p>
            <a:pPr indent="0" marL="0">
              <a:buNone/>
            </a:pPr>
            <a:r>
              <a:rPr lang="en-US" sz="700" dirty="0">
                <a:solidFill>
                  <a:srgbClr val="546E7A"/>
                </a:solidFill>
              </a:rPr>
              <a:t>Level 3 NL processing, AI code gen &amp; debugging [12]</a:t>
            </a:r>
            <a:endParaRPr lang="en-US" sz="700" dirty="0"/>
          </a:p>
        </p:txBody>
      </p:sp>
      <p:sp>
        <p:nvSpPr>
          <p:cNvPr id="28" name="Shape 26"/>
          <p:cNvSpPr/>
          <p:nvPr/>
        </p:nvSpPr>
        <p:spPr>
          <a:xfrm>
            <a:off x="2798064" y="1737360"/>
            <a:ext cx="27432" cy="137160"/>
          </a:xfrm>
          <a:prstGeom prst="rect">
            <a:avLst/>
          </a:prstGeom>
          <a:solidFill>
            <a:srgbClr val="B0BEC5"/>
          </a:solidFill>
          <a:ln w="12700">
            <a:solidFill>
              <a:srgbClr val="B0BEC5"/>
            </a:solidFill>
            <a:prstDash val="solid"/>
          </a:ln>
        </p:spPr>
      </p:sp>
      <p:sp>
        <p:nvSpPr>
          <p:cNvPr id="29" name="Shape 27"/>
          <p:cNvSpPr/>
          <p:nvPr/>
        </p:nvSpPr>
        <p:spPr>
          <a:xfrm>
            <a:off x="3767328" y="1463040"/>
            <a:ext cx="274320" cy="274320"/>
          </a:xfrm>
          <a:prstGeom prst="ellipse">
            <a:avLst/>
          </a:prstGeom>
          <a:solidFill>
            <a:srgbClr val="1565C0"/>
          </a:solidFill>
          <a:ln w="12700">
            <a:solidFill>
              <a:srgbClr val="1565C0"/>
            </a:solidFill>
            <a:prstDash val="solid"/>
          </a:ln>
        </p:spPr>
      </p:sp>
      <p:sp>
        <p:nvSpPr>
          <p:cNvPr id="30" name="Text 28"/>
          <p:cNvSpPr/>
          <p:nvPr/>
        </p:nvSpPr>
        <p:spPr>
          <a:xfrm>
            <a:off x="3767328" y="1463040"/>
            <a:ext cx="274320" cy="274320"/>
          </a:xfrm>
          <a:prstGeom prst="rect">
            <a:avLst/>
          </a:prstGeom>
          <a:noFill/>
          <a:ln/>
        </p:spPr>
        <p:txBody>
          <a:bodyPr wrap="square" lIns="0" tIns="0" rIns="0" bIns="0" rtlCol="0" anchor="ctr"/>
          <a:lstStyle/>
          <a:p>
            <a:pPr algn="ctr" indent="0" marL="0">
              <a:buNone/>
            </a:pPr>
            <a:r>
              <a:rPr lang="en-US" sz="700" b="1" dirty="0">
                <a:solidFill>
                  <a:srgbClr val="FFFFFF"/>
                </a:solidFill>
              </a:rPr>
              <a:t>M4</a:t>
            </a:r>
            <a:endParaRPr lang="en-US" sz="700" dirty="0"/>
          </a:p>
        </p:txBody>
      </p:sp>
      <p:sp>
        <p:nvSpPr>
          <p:cNvPr id="31" name="Shape 29"/>
          <p:cNvSpPr/>
          <p:nvPr/>
        </p:nvSpPr>
        <p:spPr>
          <a:xfrm>
            <a:off x="3511296" y="2697480"/>
            <a:ext cx="1042416" cy="141732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32" name="Shape 30"/>
          <p:cNvSpPr/>
          <p:nvPr/>
        </p:nvSpPr>
        <p:spPr>
          <a:xfrm>
            <a:off x="3511296" y="2697480"/>
            <a:ext cx="1042416" cy="256032"/>
          </a:xfrm>
          <a:prstGeom prst="rect">
            <a:avLst/>
          </a:prstGeom>
          <a:solidFill>
            <a:srgbClr val="1565C0"/>
          </a:solidFill>
          <a:ln w="12700">
            <a:solidFill>
              <a:srgbClr val="1565C0"/>
            </a:solidFill>
            <a:prstDash val="solid"/>
          </a:ln>
        </p:spPr>
      </p:sp>
      <p:sp>
        <p:nvSpPr>
          <p:cNvPr id="33" name="Text 31"/>
          <p:cNvSpPr/>
          <p:nvPr/>
        </p:nvSpPr>
        <p:spPr>
          <a:xfrm>
            <a:off x="3511296" y="2706624"/>
            <a:ext cx="1042416" cy="237744"/>
          </a:xfrm>
          <a:prstGeom prst="rect">
            <a:avLst/>
          </a:prstGeom>
          <a:noFill/>
          <a:ln/>
        </p:spPr>
        <p:txBody>
          <a:bodyPr wrap="square" lIns="0" tIns="0" rIns="0" bIns="0" rtlCol="0" anchor="ctr"/>
          <a:lstStyle/>
          <a:p>
            <a:pPr algn="ctr" indent="0" marL="0">
              <a:buNone/>
            </a:pPr>
            <a:r>
              <a:rPr lang="en-US" sz="900" b="1" dirty="0">
                <a:solidFill>
                  <a:srgbClr val="FFFFFF"/>
                </a:solidFill>
              </a:rPr>
              <a:t>M4</a:t>
            </a:r>
            <a:endParaRPr lang="en-US" sz="900" dirty="0"/>
          </a:p>
        </p:txBody>
      </p:sp>
      <p:sp>
        <p:nvSpPr>
          <p:cNvPr id="34" name="Text 32"/>
          <p:cNvSpPr/>
          <p:nvPr/>
        </p:nvSpPr>
        <p:spPr>
          <a:xfrm>
            <a:off x="3557016" y="2990088"/>
            <a:ext cx="950976" cy="457200"/>
          </a:xfrm>
          <a:prstGeom prst="rect">
            <a:avLst/>
          </a:prstGeom>
          <a:noFill/>
          <a:ln/>
        </p:spPr>
        <p:txBody>
          <a:bodyPr wrap="square" lIns="0" tIns="0" rIns="0" bIns="0" rtlCol="0" anchor="ctr"/>
          <a:lstStyle/>
          <a:p>
            <a:pPr indent="0" marL="0">
              <a:buNone/>
            </a:pPr>
            <a:r>
              <a:rPr lang="en-US" sz="800" b="1" dirty="0">
                <a:solidFill>
                  <a:srgbClr val="0B1F3A"/>
                </a:solidFill>
              </a:rPr>
              <a:t>Compiler Backend</a:t>
            </a:r>
            <a:endParaRPr lang="en-US" sz="800" dirty="0"/>
          </a:p>
        </p:txBody>
      </p:sp>
      <p:sp>
        <p:nvSpPr>
          <p:cNvPr id="35" name="Text 33"/>
          <p:cNvSpPr/>
          <p:nvPr/>
        </p:nvSpPr>
        <p:spPr>
          <a:xfrm>
            <a:off x="3557016" y="3447288"/>
            <a:ext cx="950976" cy="603504"/>
          </a:xfrm>
          <a:prstGeom prst="rect">
            <a:avLst/>
          </a:prstGeom>
          <a:noFill/>
          <a:ln/>
        </p:spPr>
        <p:txBody>
          <a:bodyPr wrap="square" lIns="0" tIns="0" rIns="0" bIns="0" rtlCol="0" anchor="ctr"/>
          <a:lstStyle/>
          <a:p>
            <a:pPr indent="0" marL="0">
              <a:buNone/>
            </a:pPr>
            <a:r>
              <a:rPr lang="en-US" sz="700" dirty="0">
                <a:solidFill>
                  <a:srgbClr val="546E7A"/>
                </a:solidFill>
              </a:rPr>
              <a:t>Judge0/Paiza/JDoodle integration, error handling [2],[8]</a:t>
            </a:r>
            <a:endParaRPr lang="en-US" sz="700" dirty="0"/>
          </a:p>
        </p:txBody>
      </p:sp>
      <p:sp>
        <p:nvSpPr>
          <p:cNvPr id="36" name="Shape 34"/>
          <p:cNvSpPr/>
          <p:nvPr/>
        </p:nvSpPr>
        <p:spPr>
          <a:xfrm>
            <a:off x="3895344" y="1737360"/>
            <a:ext cx="27432" cy="960120"/>
          </a:xfrm>
          <a:prstGeom prst="rect">
            <a:avLst/>
          </a:prstGeom>
          <a:solidFill>
            <a:srgbClr val="B0BEC5"/>
          </a:solidFill>
          <a:ln w="12700">
            <a:solidFill>
              <a:srgbClr val="B0BEC5"/>
            </a:solidFill>
            <a:prstDash val="solid"/>
          </a:ln>
        </p:spPr>
      </p:sp>
      <p:sp>
        <p:nvSpPr>
          <p:cNvPr id="37" name="Shape 35"/>
          <p:cNvSpPr/>
          <p:nvPr/>
        </p:nvSpPr>
        <p:spPr>
          <a:xfrm>
            <a:off x="4864608" y="1463040"/>
            <a:ext cx="274320" cy="274320"/>
          </a:xfrm>
          <a:prstGeom prst="ellipse">
            <a:avLst/>
          </a:prstGeom>
          <a:solidFill>
            <a:srgbClr val="00ACC1"/>
          </a:solidFill>
          <a:ln w="12700">
            <a:solidFill>
              <a:srgbClr val="00ACC1"/>
            </a:solidFill>
            <a:prstDash val="solid"/>
          </a:ln>
        </p:spPr>
      </p:sp>
      <p:sp>
        <p:nvSpPr>
          <p:cNvPr id="38" name="Text 36"/>
          <p:cNvSpPr/>
          <p:nvPr/>
        </p:nvSpPr>
        <p:spPr>
          <a:xfrm>
            <a:off x="4864608" y="1463040"/>
            <a:ext cx="274320" cy="274320"/>
          </a:xfrm>
          <a:prstGeom prst="rect">
            <a:avLst/>
          </a:prstGeom>
          <a:noFill/>
          <a:ln/>
        </p:spPr>
        <p:txBody>
          <a:bodyPr wrap="square" lIns="0" tIns="0" rIns="0" bIns="0" rtlCol="0" anchor="ctr"/>
          <a:lstStyle/>
          <a:p>
            <a:pPr algn="ctr" indent="0" marL="0">
              <a:buNone/>
            </a:pPr>
            <a:r>
              <a:rPr lang="en-US" sz="700" b="1" dirty="0">
                <a:solidFill>
                  <a:srgbClr val="FFFFFF"/>
                </a:solidFill>
              </a:rPr>
              <a:t>M5</a:t>
            </a:r>
            <a:endParaRPr lang="en-US" sz="700" dirty="0"/>
          </a:p>
        </p:txBody>
      </p:sp>
      <p:sp>
        <p:nvSpPr>
          <p:cNvPr id="39" name="Shape 37"/>
          <p:cNvSpPr/>
          <p:nvPr/>
        </p:nvSpPr>
        <p:spPr>
          <a:xfrm>
            <a:off x="4608576" y="1874520"/>
            <a:ext cx="1042416" cy="141732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40" name="Shape 38"/>
          <p:cNvSpPr/>
          <p:nvPr/>
        </p:nvSpPr>
        <p:spPr>
          <a:xfrm>
            <a:off x="4608576" y="1874520"/>
            <a:ext cx="1042416" cy="256032"/>
          </a:xfrm>
          <a:prstGeom prst="rect">
            <a:avLst/>
          </a:prstGeom>
          <a:solidFill>
            <a:srgbClr val="00ACC1"/>
          </a:solidFill>
          <a:ln w="12700">
            <a:solidFill>
              <a:srgbClr val="00ACC1"/>
            </a:solidFill>
            <a:prstDash val="solid"/>
          </a:ln>
        </p:spPr>
      </p:sp>
      <p:sp>
        <p:nvSpPr>
          <p:cNvPr id="41" name="Text 39"/>
          <p:cNvSpPr/>
          <p:nvPr/>
        </p:nvSpPr>
        <p:spPr>
          <a:xfrm>
            <a:off x="4608576" y="1883664"/>
            <a:ext cx="1042416" cy="237744"/>
          </a:xfrm>
          <a:prstGeom prst="rect">
            <a:avLst/>
          </a:prstGeom>
          <a:noFill/>
          <a:ln/>
        </p:spPr>
        <p:txBody>
          <a:bodyPr wrap="square" lIns="0" tIns="0" rIns="0" bIns="0" rtlCol="0" anchor="ctr"/>
          <a:lstStyle/>
          <a:p>
            <a:pPr algn="ctr" indent="0" marL="0">
              <a:buNone/>
            </a:pPr>
            <a:r>
              <a:rPr lang="en-US" sz="900" b="1" dirty="0">
                <a:solidFill>
                  <a:srgbClr val="FFFFFF"/>
                </a:solidFill>
              </a:rPr>
              <a:t>M5</a:t>
            </a:r>
            <a:endParaRPr lang="en-US" sz="900" dirty="0"/>
          </a:p>
        </p:txBody>
      </p:sp>
      <p:sp>
        <p:nvSpPr>
          <p:cNvPr id="42" name="Text 40"/>
          <p:cNvSpPr/>
          <p:nvPr/>
        </p:nvSpPr>
        <p:spPr>
          <a:xfrm>
            <a:off x="4654296" y="2167128"/>
            <a:ext cx="950976" cy="457200"/>
          </a:xfrm>
          <a:prstGeom prst="rect">
            <a:avLst/>
          </a:prstGeom>
          <a:noFill/>
          <a:ln/>
        </p:spPr>
        <p:txBody>
          <a:bodyPr wrap="square" lIns="0" tIns="0" rIns="0" bIns="0" rtlCol="0" anchor="ctr"/>
          <a:lstStyle/>
          <a:p>
            <a:pPr indent="0" marL="0">
              <a:buNone/>
            </a:pPr>
            <a:r>
              <a:rPr lang="en-US" sz="800" b="1" dirty="0">
                <a:solidFill>
                  <a:srgbClr val="0B1F3A"/>
                </a:solidFill>
              </a:rPr>
              <a:t>Auth &amp; Cloud Storage</a:t>
            </a:r>
            <a:endParaRPr lang="en-US" sz="800" dirty="0"/>
          </a:p>
        </p:txBody>
      </p:sp>
      <p:sp>
        <p:nvSpPr>
          <p:cNvPr id="43" name="Text 41"/>
          <p:cNvSpPr/>
          <p:nvPr/>
        </p:nvSpPr>
        <p:spPr>
          <a:xfrm>
            <a:off x="4654296" y="2624328"/>
            <a:ext cx="950976" cy="603504"/>
          </a:xfrm>
          <a:prstGeom prst="rect">
            <a:avLst/>
          </a:prstGeom>
          <a:noFill/>
          <a:ln/>
        </p:spPr>
        <p:txBody>
          <a:bodyPr wrap="square" lIns="0" tIns="0" rIns="0" bIns="0" rtlCol="0" anchor="ctr"/>
          <a:lstStyle/>
          <a:p>
            <a:pPr indent="0" marL="0">
              <a:buNone/>
            </a:pPr>
            <a:r>
              <a:rPr lang="en-US" sz="700" dirty="0">
                <a:solidFill>
                  <a:srgbClr val="546E7A"/>
                </a:solidFill>
              </a:rPr>
              <a:t>JWT, bcrypt, Supabase DB, share links [7],[13]</a:t>
            </a:r>
            <a:endParaRPr lang="en-US" sz="700" dirty="0"/>
          </a:p>
        </p:txBody>
      </p:sp>
      <p:sp>
        <p:nvSpPr>
          <p:cNvPr id="44" name="Shape 42"/>
          <p:cNvSpPr/>
          <p:nvPr/>
        </p:nvSpPr>
        <p:spPr>
          <a:xfrm>
            <a:off x="4992624" y="1737360"/>
            <a:ext cx="27432" cy="137160"/>
          </a:xfrm>
          <a:prstGeom prst="rect">
            <a:avLst/>
          </a:prstGeom>
          <a:solidFill>
            <a:srgbClr val="B0BEC5"/>
          </a:solidFill>
          <a:ln w="12700">
            <a:solidFill>
              <a:srgbClr val="B0BEC5"/>
            </a:solidFill>
            <a:prstDash val="solid"/>
          </a:ln>
        </p:spPr>
      </p:sp>
      <p:sp>
        <p:nvSpPr>
          <p:cNvPr id="45" name="Shape 43"/>
          <p:cNvSpPr/>
          <p:nvPr/>
        </p:nvSpPr>
        <p:spPr>
          <a:xfrm>
            <a:off x="5961888" y="1463040"/>
            <a:ext cx="274320" cy="274320"/>
          </a:xfrm>
          <a:prstGeom prst="ellipse">
            <a:avLst/>
          </a:prstGeom>
          <a:solidFill>
            <a:srgbClr val="F57C00"/>
          </a:solidFill>
          <a:ln w="12700">
            <a:solidFill>
              <a:srgbClr val="F57C00"/>
            </a:solidFill>
            <a:prstDash val="solid"/>
          </a:ln>
        </p:spPr>
      </p:sp>
      <p:sp>
        <p:nvSpPr>
          <p:cNvPr id="46" name="Text 44"/>
          <p:cNvSpPr/>
          <p:nvPr/>
        </p:nvSpPr>
        <p:spPr>
          <a:xfrm>
            <a:off x="5961888" y="1463040"/>
            <a:ext cx="274320" cy="274320"/>
          </a:xfrm>
          <a:prstGeom prst="rect">
            <a:avLst/>
          </a:prstGeom>
          <a:noFill/>
          <a:ln/>
        </p:spPr>
        <p:txBody>
          <a:bodyPr wrap="square" lIns="0" tIns="0" rIns="0" bIns="0" rtlCol="0" anchor="ctr"/>
          <a:lstStyle/>
          <a:p>
            <a:pPr algn="ctr" indent="0" marL="0">
              <a:buNone/>
            </a:pPr>
            <a:r>
              <a:rPr lang="en-US" sz="700" b="1" dirty="0">
                <a:solidFill>
                  <a:srgbClr val="FFFFFF"/>
                </a:solidFill>
              </a:rPr>
              <a:t>M6</a:t>
            </a:r>
            <a:endParaRPr lang="en-US" sz="700" dirty="0"/>
          </a:p>
        </p:txBody>
      </p:sp>
      <p:sp>
        <p:nvSpPr>
          <p:cNvPr id="47" name="Shape 45"/>
          <p:cNvSpPr/>
          <p:nvPr/>
        </p:nvSpPr>
        <p:spPr>
          <a:xfrm>
            <a:off x="5705856" y="2697480"/>
            <a:ext cx="1042416" cy="141732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48" name="Shape 46"/>
          <p:cNvSpPr/>
          <p:nvPr/>
        </p:nvSpPr>
        <p:spPr>
          <a:xfrm>
            <a:off x="5705856" y="2697480"/>
            <a:ext cx="1042416" cy="256032"/>
          </a:xfrm>
          <a:prstGeom prst="rect">
            <a:avLst/>
          </a:prstGeom>
          <a:solidFill>
            <a:srgbClr val="F57C00"/>
          </a:solidFill>
          <a:ln w="12700">
            <a:solidFill>
              <a:srgbClr val="F57C00"/>
            </a:solidFill>
            <a:prstDash val="solid"/>
          </a:ln>
        </p:spPr>
      </p:sp>
      <p:sp>
        <p:nvSpPr>
          <p:cNvPr id="49" name="Text 47"/>
          <p:cNvSpPr/>
          <p:nvPr/>
        </p:nvSpPr>
        <p:spPr>
          <a:xfrm>
            <a:off x="5705856" y="2706624"/>
            <a:ext cx="1042416" cy="237744"/>
          </a:xfrm>
          <a:prstGeom prst="rect">
            <a:avLst/>
          </a:prstGeom>
          <a:noFill/>
          <a:ln/>
        </p:spPr>
        <p:txBody>
          <a:bodyPr wrap="square" lIns="0" tIns="0" rIns="0" bIns="0" rtlCol="0" anchor="ctr"/>
          <a:lstStyle/>
          <a:p>
            <a:pPr algn="ctr" indent="0" marL="0">
              <a:buNone/>
            </a:pPr>
            <a:r>
              <a:rPr lang="en-US" sz="900" b="1" dirty="0">
                <a:solidFill>
                  <a:srgbClr val="FFFFFF"/>
                </a:solidFill>
              </a:rPr>
              <a:t>M6</a:t>
            </a:r>
            <a:endParaRPr lang="en-US" sz="900" dirty="0"/>
          </a:p>
        </p:txBody>
      </p:sp>
      <p:sp>
        <p:nvSpPr>
          <p:cNvPr id="50" name="Text 48"/>
          <p:cNvSpPr/>
          <p:nvPr/>
        </p:nvSpPr>
        <p:spPr>
          <a:xfrm>
            <a:off x="5751576" y="2990088"/>
            <a:ext cx="950976" cy="457200"/>
          </a:xfrm>
          <a:prstGeom prst="rect">
            <a:avLst/>
          </a:prstGeom>
          <a:noFill/>
          <a:ln/>
        </p:spPr>
        <p:txBody>
          <a:bodyPr wrap="square" lIns="0" tIns="0" rIns="0" bIns="0" rtlCol="0" anchor="ctr"/>
          <a:lstStyle/>
          <a:p>
            <a:pPr indent="0" marL="0">
              <a:buNone/>
            </a:pPr>
            <a:r>
              <a:rPr lang="en-US" sz="800" b="1" dirty="0">
                <a:solidFill>
                  <a:srgbClr val="0B1F3A"/>
                </a:solidFill>
              </a:rPr>
              <a:t>Urdu TTS &amp; Accessibility</a:t>
            </a:r>
            <a:endParaRPr lang="en-US" sz="800" dirty="0"/>
          </a:p>
        </p:txBody>
      </p:sp>
      <p:sp>
        <p:nvSpPr>
          <p:cNvPr id="51" name="Text 49"/>
          <p:cNvSpPr/>
          <p:nvPr/>
        </p:nvSpPr>
        <p:spPr>
          <a:xfrm>
            <a:off x="5751576" y="3447288"/>
            <a:ext cx="950976" cy="603504"/>
          </a:xfrm>
          <a:prstGeom prst="rect">
            <a:avLst/>
          </a:prstGeom>
          <a:noFill/>
          <a:ln/>
        </p:spPr>
        <p:txBody>
          <a:bodyPr wrap="square" lIns="0" tIns="0" rIns="0" bIns="0" rtlCol="0" anchor="ctr"/>
          <a:lstStyle/>
          <a:p>
            <a:pPr indent="0" marL="0">
              <a:buNone/>
            </a:pPr>
            <a:r>
              <a:rPr lang="en-US" sz="700" dirty="0">
                <a:solidFill>
                  <a:srgbClr val="546E7A"/>
                </a:solidFill>
              </a:rPr>
              <a:t>Speech Synthesis, push-to-talk, WCAG 2.1 [1],[16]</a:t>
            </a:r>
            <a:endParaRPr lang="en-US" sz="700" dirty="0"/>
          </a:p>
        </p:txBody>
      </p:sp>
      <p:sp>
        <p:nvSpPr>
          <p:cNvPr id="52" name="Shape 50"/>
          <p:cNvSpPr/>
          <p:nvPr/>
        </p:nvSpPr>
        <p:spPr>
          <a:xfrm>
            <a:off x="6089904" y="1737360"/>
            <a:ext cx="27432" cy="960120"/>
          </a:xfrm>
          <a:prstGeom prst="rect">
            <a:avLst/>
          </a:prstGeom>
          <a:solidFill>
            <a:srgbClr val="B0BEC5"/>
          </a:solidFill>
          <a:ln w="12700">
            <a:solidFill>
              <a:srgbClr val="B0BEC5"/>
            </a:solidFill>
            <a:prstDash val="solid"/>
          </a:ln>
        </p:spPr>
      </p:sp>
      <p:sp>
        <p:nvSpPr>
          <p:cNvPr id="53" name="Shape 51"/>
          <p:cNvSpPr/>
          <p:nvPr/>
        </p:nvSpPr>
        <p:spPr>
          <a:xfrm>
            <a:off x="7059168" y="1463040"/>
            <a:ext cx="274320" cy="274320"/>
          </a:xfrm>
          <a:prstGeom prst="ellipse">
            <a:avLst/>
          </a:prstGeom>
          <a:solidFill>
            <a:srgbClr val="1565C0"/>
          </a:solidFill>
          <a:ln w="12700">
            <a:solidFill>
              <a:srgbClr val="1565C0"/>
            </a:solidFill>
            <a:prstDash val="solid"/>
          </a:ln>
        </p:spPr>
      </p:sp>
      <p:sp>
        <p:nvSpPr>
          <p:cNvPr id="54" name="Text 52"/>
          <p:cNvSpPr/>
          <p:nvPr/>
        </p:nvSpPr>
        <p:spPr>
          <a:xfrm>
            <a:off x="7059168" y="1463040"/>
            <a:ext cx="274320" cy="274320"/>
          </a:xfrm>
          <a:prstGeom prst="rect">
            <a:avLst/>
          </a:prstGeom>
          <a:noFill/>
          <a:ln/>
        </p:spPr>
        <p:txBody>
          <a:bodyPr wrap="square" lIns="0" tIns="0" rIns="0" bIns="0" rtlCol="0" anchor="ctr"/>
          <a:lstStyle/>
          <a:p>
            <a:pPr algn="ctr" indent="0" marL="0">
              <a:buNone/>
            </a:pPr>
            <a:r>
              <a:rPr lang="en-US" sz="700" b="1" dirty="0">
                <a:solidFill>
                  <a:srgbClr val="FFFFFF"/>
                </a:solidFill>
              </a:rPr>
              <a:t>M7</a:t>
            </a:r>
            <a:endParaRPr lang="en-US" sz="700" dirty="0"/>
          </a:p>
        </p:txBody>
      </p:sp>
      <p:sp>
        <p:nvSpPr>
          <p:cNvPr id="55" name="Shape 53"/>
          <p:cNvSpPr/>
          <p:nvPr/>
        </p:nvSpPr>
        <p:spPr>
          <a:xfrm>
            <a:off x="6803136" y="1874520"/>
            <a:ext cx="1042416" cy="141732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6" name="Shape 54"/>
          <p:cNvSpPr/>
          <p:nvPr/>
        </p:nvSpPr>
        <p:spPr>
          <a:xfrm>
            <a:off x="6803136" y="1874520"/>
            <a:ext cx="1042416" cy="256032"/>
          </a:xfrm>
          <a:prstGeom prst="rect">
            <a:avLst/>
          </a:prstGeom>
          <a:solidFill>
            <a:srgbClr val="1565C0"/>
          </a:solidFill>
          <a:ln w="12700">
            <a:solidFill>
              <a:srgbClr val="1565C0"/>
            </a:solidFill>
            <a:prstDash val="solid"/>
          </a:ln>
        </p:spPr>
      </p:sp>
      <p:sp>
        <p:nvSpPr>
          <p:cNvPr id="57" name="Text 55"/>
          <p:cNvSpPr/>
          <p:nvPr/>
        </p:nvSpPr>
        <p:spPr>
          <a:xfrm>
            <a:off x="6803136" y="1883664"/>
            <a:ext cx="1042416" cy="237744"/>
          </a:xfrm>
          <a:prstGeom prst="rect">
            <a:avLst/>
          </a:prstGeom>
          <a:noFill/>
          <a:ln/>
        </p:spPr>
        <p:txBody>
          <a:bodyPr wrap="square" lIns="0" tIns="0" rIns="0" bIns="0" rtlCol="0" anchor="ctr"/>
          <a:lstStyle/>
          <a:p>
            <a:pPr algn="ctr" indent="0" marL="0">
              <a:buNone/>
            </a:pPr>
            <a:r>
              <a:rPr lang="en-US" sz="900" b="1" dirty="0">
                <a:solidFill>
                  <a:srgbClr val="FFFFFF"/>
                </a:solidFill>
              </a:rPr>
              <a:t>M7</a:t>
            </a:r>
            <a:endParaRPr lang="en-US" sz="900" dirty="0"/>
          </a:p>
        </p:txBody>
      </p:sp>
      <p:sp>
        <p:nvSpPr>
          <p:cNvPr id="58" name="Text 56"/>
          <p:cNvSpPr/>
          <p:nvPr/>
        </p:nvSpPr>
        <p:spPr>
          <a:xfrm>
            <a:off x="6848856" y="2167128"/>
            <a:ext cx="950976" cy="457200"/>
          </a:xfrm>
          <a:prstGeom prst="rect">
            <a:avLst/>
          </a:prstGeom>
          <a:noFill/>
          <a:ln/>
        </p:spPr>
        <p:txBody>
          <a:bodyPr wrap="square" lIns="0" tIns="0" rIns="0" bIns="0" rtlCol="0" anchor="ctr"/>
          <a:lstStyle/>
          <a:p>
            <a:pPr indent="0" marL="0">
              <a:buNone/>
            </a:pPr>
            <a:r>
              <a:rPr lang="en-US" sz="800" b="1" dirty="0">
                <a:solidFill>
                  <a:srgbClr val="0B1F3A"/>
                </a:solidFill>
              </a:rPr>
              <a:t>Testing &amp; Optimization</a:t>
            </a:r>
            <a:endParaRPr lang="en-US" sz="800" dirty="0"/>
          </a:p>
        </p:txBody>
      </p:sp>
      <p:sp>
        <p:nvSpPr>
          <p:cNvPr id="59" name="Text 57"/>
          <p:cNvSpPr/>
          <p:nvPr/>
        </p:nvSpPr>
        <p:spPr>
          <a:xfrm>
            <a:off x="6848856" y="2624328"/>
            <a:ext cx="950976" cy="603504"/>
          </a:xfrm>
          <a:prstGeom prst="rect">
            <a:avLst/>
          </a:prstGeom>
          <a:noFill/>
          <a:ln/>
        </p:spPr>
        <p:txBody>
          <a:bodyPr wrap="square" lIns="0" tIns="0" rIns="0" bIns="0" rtlCol="0" anchor="ctr"/>
          <a:lstStyle/>
          <a:p>
            <a:pPr indent="0" marL="0">
              <a:buNone/>
            </a:pPr>
            <a:r>
              <a:rPr lang="en-US" sz="700" dirty="0">
                <a:solidFill>
                  <a:srgbClr val="546E7A"/>
                </a:solidFill>
              </a:rPr>
              <a:t>Cross-browser, voice accuracy, Railway deployment [14]</a:t>
            </a:r>
            <a:endParaRPr lang="en-US" sz="700" dirty="0"/>
          </a:p>
        </p:txBody>
      </p:sp>
      <p:sp>
        <p:nvSpPr>
          <p:cNvPr id="60" name="Shape 58"/>
          <p:cNvSpPr/>
          <p:nvPr/>
        </p:nvSpPr>
        <p:spPr>
          <a:xfrm>
            <a:off x="7187184" y="1737360"/>
            <a:ext cx="27432" cy="137160"/>
          </a:xfrm>
          <a:prstGeom prst="rect">
            <a:avLst/>
          </a:prstGeom>
          <a:solidFill>
            <a:srgbClr val="B0BEC5"/>
          </a:solidFill>
          <a:ln w="12700">
            <a:solidFill>
              <a:srgbClr val="B0BEC5"/>
            </a:solidFill>
            <a:prstDash val="solid"/>
          </a:ln>
        </p:spPr>
      </p:sp>
      <p:sp>
        <p:nvSpPr>
          <p:cNvPr id="61" name="Shape 59"/>
          <p:cNvSpPr/>
          <p:nvPr/>
        </p:nvSpPr>
        <p:spPr>
          <a:xfrm>
            <a:off x="8156448" y="1463040"/>
            <a:ext cx="274320" cy="274320"/>
          </a:xfrm>
          <a:prstGeom prst="ellipse">
            <a:avLst/>
          </a:prstGeom>
          <a:solidFill>
            <a:srgbClr val="00ACC1"/>
          </a:solidFill>
          <a:ln w="12700">
            <a:solidFill>
              <a:srgbClr val="00ACC1"/>
            </a:solidFill>
            <a:prstDash val="solid"/>
          </a:ln>
        </p:spPr>
      </p:sp>
      <p:sp>
        <p:nvSpPr>
          <p:cNvPr id="62" name="Text 60"/>
          <p:cNvSpPr/>
          <p:nvPr/>
        </p:nvSpPr>
        <p:spPr>
          <a:xfrm>
            <a:off x="8156448" y="1463040"/>
            <a:ext cx="274320" cy="274320"/>
          </a:xfrm>
          <a:prstGeom prst="rect">
            <a:avLst/>
          </a:prstGeom>
          <a:noFill/>
          <a:ln/>
        </p:spPr>
        <p:txBody>
          <a:bodyPr wrap="square" lIns="0" tIns="0" rIns="0" bIns="0" rtlCol="0" anchor="ctr"/>
          <a:lstStyle/>
          <a:p>
            <a:pPr algn="ctr" indent="0" marL="0">
              <a:buNone/>
            </a:pPr>
            <a:r>
              <a:rPr lang="en-US" sz="700" b="1" dirty="0">
                <a:solidFill>
                  <a:srgbClr val="FFFFFF"/>
                </a:solidFill>
              </a:rPr>
              <a:t>M8</a:t>
            </a:r>
            <a:endParaRPr lang="en-US" sz="700" dirty="0"/>
          </a:p>
        </p:txBody>
      </p:sp>
      <p:sp>
        <p:nvSpPr>
          <p:cNvPr id="63" name="Shape 61"/>
          <p:cNvSpPr/>
          <p:nvPr/>
        </p:nvSpPr>
        <p:spPr>
          <a:xfrm>
            <a:off x="7900416" y="2697480"/>
            <a:ext cx="1042416" cy="141732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64" name="Shape 62"/>
          <p:cNvSpPr/>
          <p:nvPr/>
        </p:nvSpPr>
        <p:spPr>
          <a:xfrm>
            <a:off x="7900416" y="2697480"/>
            <a:ext cx="1042416" cy="256032"/>
          </a:xfrm>
          <a:prstGeom prst="rect">
            <a:avLst/>
          </a:prstGeom>
          <a:solidFill>
            <a:srgbClr val="00ACC1"/>
          </a:solidFill>
          <a:ln w="12700">
            <a:solidFill>
              <a:srgbClr val="00ACC1"/>
            </a:solidFill>
            <a:prstDash val="solid"/>
          </a:ln>
        </p:spPr>
      </p:sp>
      <p:sp>
        <p:nvSpPr>
          <p:cNvPr id="65" name="Text 63"/>
          <p:cNvSpPr/>
          <p:nvPr/>
        </p:nvSpPr>
        <p:spPr>
          <a:xfrm>
            <a:off x="7900416" y="2706624"/>
            <a:ext cx="1042416" cy="237744"/>
          </a:xfrm>
          <a:prstGeom prst="rect">
            <a:avLst/>
          </a:prstGeom>
          <a:noFill/>
          <a:ln/>
        </p:spPr>
        <p:txBody>
          <a:bodyPr wrap="square" lIns="0" tIns="0" rIns="0" bIns="0" rtlCol="0" anchor="ctr"/>
          <a:lstStyle/>
          <a:p>
            <a:pPr algn="ctr" indent="0" marL="0">
              <a:buNone/>
            </a:pPr>
            <a:r>
              <a:rPr lang="en-US" sz="900" b="1" dirty="0">
                <a:solidFill>
                  <a:srgbClr val="FFFFFF"/>
                </a:solidFill>
              </a:rPr>
              <a:t>M8</a:t>
            </a:r>
            <a:endParaRPr lang="en-US" sz="900" dirty="0"/>
          </a:p>
        </p:txBody>
      </p:sp>
      <p:sp>
        <p:nvSpPr>
          <p:cNvPr id="66" name="Text 64"/>
          <p:cNvSpPr/>
          <p:nvPr/>
        </p:nvSpPr>
        <p:spPr>
          <a:xfrm>
            <a:off x="7946136" y="2990088"/>
            <a:ext cx="950976" cy="457200"/>
          </a:xfrm>
          <a:prstGeom prst="rect">
            <a:avLst/>
          </a:prstGeom>
          <a:noFill/>
          <a:ln/>
        </p:spPr>
        <p:txBody>
          <a:bodyPr wrap="square" lIns="0" tIns="0" rIns="0" bIns="0" rtlCol="0" anchor="ctr"/>
          <a:lstStyle/>
          <a:p>
            <a:pPr indent="0" marL="0">
              <a:buNone/>
            </a:pPr>
            <a:r>
              <a:rPr lang="en-US" sz="800" b="1" dirty="0">
                <a:solidFill>
                  <a:srgbClr val="0B1F3A"/>
                </a:solidFill>
              </a:rPr>
              <a:t>Documentation &amp; Demo</a:t>
            </a:r>
            <a:endParaRPr lang="en-US" sz="800" dirty="0"/>
          </a:p>
        </p:txBody>
      </p:sp>
      <p:sp>
        <p:nvSpPr>
          <p:cNvPr id="67" name="Text 65"/>
          <p:cNvSpPr/>
          <p:nvPr/>
        </p:nvSpPr>
        <p:spPr>
          <a:xfrm>
            <a:off x="7946136" y="3447288"/>
            <a:ext cx="950976" cy="603504"/>
          </a:xfrm>
          <a:prstGeom prst="rect">
            <a:avLst/>
          </a:prstGeom>
          <a:noFill/>
          <a:ln/>
        </p:spPr>
        <p:txBody>
          <a:bodyPr wrap="square" lIns="0" tIns="0" rIns="0" bIns="0" rtlCol="0" anchor="ctr"/>
          <a:lstStyle/>
          <a:p>
            <a:pPr indent="0" marL="0">
              <a:buNone/>
            </a:pPr>
            <a:r>
              <a:rPr lang="en-US" sz="700" dirty="0">
                <a:solidFill>
                  <a:srgbClr val="546E7A"/>
                </a:solidFill>
              </a:rPr>
              <a:t>User manual, demo video, final report</a:t>
            </a:r>
            <a:endParaRPr lang="en-US" sz="700" dirty="0"/>
          </a:p>
        </p:txBody>
      </p:sp>
      <p:sp>
        <p:nvSpPr>
          <p:cNvPr id="68" name="Shape 66"/>
          <p:cNvSpPr/>
          <p:nvPr/>
        </p:nvSpPr>
        <p:spPr>
          <a:xfrm>
            <a:off x="8284464" y="1737360"/>
            <a:ext cx="27432" cy="960120"/>
          </a:xfrm>
          <a:prstGeom prst="rect">
            <a:avLst/>
          </a:prstGeom>
          <a:solidFill>
            <a:srgbClr val="B0BEC5"/>
          </a:solidFill>
          <a:ln w="12700">
            <a:solidFill>
              <a:srgbClr val="B0BEC5"/>
            </a:solidFill>
            <a:prstDash val="solid"/>
          </a:ln>
        </p:spPr>
      </p:sp>
      <p:sp>
        <p:nvSpPr>
          <p:cNvPr id="69" name="Shape 67"/>
          <p:cNvSpPr/>
          <p:nvPr/>
        </p:nvSpPr>
        <p:spPr>
          <a:xfrm>
            <a:off x="0" y="4754880"/>
            <a:ext cx="9144000" cy="388620"/>
          </a:xfrm>
          <a:prstGeom prst="rect">
            <a:avLst/>
          </a:prstGeom>
          <a:solidFill>
            <a:srgbClr val="1A3358"/>
          </a:solidFill>
          <a:ln w="12700">
            <a:solidFill>
              <a:srgbClr val="1A3358"/>
            </a:solidFill>
            <a:prstDash val="solid"/>
          </a:ln>
        </p:spPr>
      </p:sp>
      <p:sp>
        <p:nvSpPr>
          <p:cNvPr id="70" name="Shape 68"/>
          <p:cNvSpPr/>
          <p:nvPr/>
        </p:nvSpPr>
        <p:spPr>
          <a:xfrm>
            <a:off x="164592" y="4791456"/>
            <a:ext cx="128016" cy="128016"/>
          </a:xfrm>
          <a:prstGeom prst="rect">
            <a:avLst/>
          </a:prstGeom>
          <a:solidFill>
            <a:srgbClr val="1565C0"/>
          </a:solidFill>
          <a:ln w="12700">
            <a:solidFill>
              <a:srgbClr val="1565C0"/>
            </a:solidFill>
            <a:prstDash val="solid"/>
          </a:ln>
        </p:spPr>
      </p:sp>
      <p:sp>
        <p:nvSpPr>
          <p:cNvPr id="71" name="Text 69"/>
          <p:cNvSpPr/>
          <p:nvPr/>
        </p:nvSpPr>
        <p:spPr>
          <a:xfrm>
            <a:off x="329184" y="4773168"/>
            <a:ext cx="1078992" cy="347472"/>
          </a:xfrm>
          <a:prstGeom prst="rect">
            <a:avLst/>
          </a:prstGeom>
          <a:noFill/>
          <a:ln/>
        </p:spPr>
        <p:txBody>
          <a:bodyPr wrap="square" lIns="0" tIns="0" rIns="0" bIns="0" rtlCol="0" anchor="ctr"/>
          <a:lstStyle/>
          <a:p>
            <a:pPr indent="0" marL="0">
              <a:buNone/>
            </a:pPr>
            <a:r>
              <a:rPr lang="en-US" sz="850" dirty="0">
                <a:solidFill>
                  <a:srgbClr val="FFFFFF"/>
                </a:solidFill>
              </a:rPr>
              <a:t>Frontend 25%</a:t>
            </a:r>
            <a:endParaRPr lang="en-US" sz="850" dirty="0"/>
          </a:p>
        </p:txBody>
      </p:sp>
      <p:sp>
        <p:nvSpPr>
          <p:cNvPr id="72" name="Shape 70"/>
          <p:cNvSpPr/>
          <p:nvPr/>
        </p:nvSpPr>
        <p:spPr>
          <a:xfrm>
            <a:off x="1426464" y="4791456"/>
            <a:ext cx="128016" cy="128016"/>
          </a:xfrm>
          <a:prstGeom prst="rect">
            <a:avLst/>
          </a:prstGeom>
          <a:solidFill>
            <a:srgbClr val="00ACC1"/>
          </a:solidFill>
          <a:ln w="12700">
            <a:solidFill>
              <a:srgbClr val="00ACC1"/>
            </a:solidFill>
            <a:prstDash val="solid"/>
          </a:ln>
        </p:spPr>
      </p:sp>
      <p:sp>
        <p:nvSpPr>
          <p:cNvPr id="73" name="Text 71"/>
          <p:cNvSpPr/>
          <p:nvPr/>
        </p:nvSpPr>
        <p:spPr>
          <a:xfrm>
            <a:off x="1591056" y="4773168"/>
            <a:ext cx="1078992" cy="347472"/>
          </a:xfrm>
          <a:prstGeom prst="rect">
            <a:avLst/>
          </a:prstGeom>
          <a:noFill/>
          <a:ln/>
        </p:spPr>
        <p:txBody>
          <a:bodyPr wrap="square" lIns="0" tIns="0" rIns="0" bIns="0" rtlCol="0" anchor="ctr"/>
          <a:lstStyle/>
          <a:p>
            <a:pPr indent="0" marL="0">
              <a:buNone/>
            </a:pPr>
            <a:r>
              <a:rPr lang="en-US" sz="850" dirty="0">
                <a:solidFill>
                  <a:srgbClr val="FFFFFF"/>
                </a:solidFill>
              </a:rPr>
              <a:t>Voice Proc. 18%</a:t>
            </a:r>
            <a:endParaRPr lang="en-US" sz="850" dirty="0"/>
          </a:p>
        </p:txBody>
      </p:sp>
      <p:sp>
        <p:nvSpPr>
          <p:cNvPr id="74" name="Shape 72"/>
          <p:cNvSpPr/>
          <p:nvPr/>
        </p:nvSpPr>
        <p:spPr>
          <a:xfrm>
            <a:off x="2688336" y="4791456"/>
            <a:ext cx="128016" cy="128016"/>
          </a:xfrm>
          <a:prstGeom prst="rect">
            <a:avLst/>
          </a:prstGeom>
          <a:solidFill>
            <a:srgbClr val="F57C00"/>
          </a:solidFill>
          <a:ln w="12700">
            <a:solidFill>
              <a:srgbClr val="F57C00"/>
            </a:solidFill>
            <a:prstDash val="solid"/>
          </a:ln>
        </p:spPr>
      </p:sp>
      <p:sp>
        <p:nvSpPr>
          <p:cNvPr id="75" name="Text 73"/>
          <p:cNvSpPr/>
          <p:nvPr/>
        </p:nvSpPr>
        <p:spPr>
          <a:xfrm>
            <a:off x="2852928" y="4773168"/>
            <a:ext cx="1078992" cy="347472"/>
          </a:xfrm>
          <a:prstGeom prst="rect">
            <a:avLst/>
          </a:prstGeom>
          <a:noFill/>
          <a:ln/>
        </p:spPr>
        <p:txBody>
          <a:bodyPr wrap="square" lIns="0" tIns="0" rIns="0" bIns="0" rtlCol="0" anchor="ctr"/>
          <a:lstStyle/>
          <a:p>
            <a:pPr indent="0" marL="0">
              <a:buNone/>
            </a:pPr>
            <a:r>
              <a:rPr lang="en-US" sz="850" dirty="0">
                <a:solidFill>
                  <a:srgbClr val="FFFFFF"/>
                </a:solidFill>
              </a:rPr>
              <a:t>AI Integration 18%</a:t>
            </a:r>
            <a:endParaRPr lang="en-US" sz="850" dirty="0"/>
          </a:p>
        </p:txBody>
      </p:sp>
      <p:sp>
        <p:nvSpPr>
          <p:cNvPr id="76" name="Shape 74"/>
          <p:cNvSpPr/>
          <p:nvPr/>
        </p:nvSpPr>
        <p:spPr>
          <a:xfrm>
            <a:off x="3950208" y="4791456"/>
            <a:ext cx="128016" cy="128016"/>
          </a:xfrm>
          <a:prstGeom prst="rect">
            <a:avLst/>
          </a:prstGeom>
          <a:solidFill>
            <a:srgbClr val="1565C0"/>
          </a:solidFill>
          <a:ln w="12700">
            <a:solidFill>
              <a:srgbClr val="1565C0"/>
            </a:solidFill>
            <a:prstDash val="solid"/>
          </a:ln>
        </p:spPr>
      </p:sp>
      <p:sp>
        <p:nvSpPr>
          <p:cNvPr id="77" name="Text 75"/>
          <p:cNvSpPr/>
          <p:nvPr/>
        </p:nvSpPr>
        <p:spPr>
          <a:xfrm>
            <a:off x="4114800" y="4773168"/>
            <a:ext cx="1078992" cy="347472"/>
          </a:xfrm>
          <a:prstGeom prst="rect">
            <a:avLst/>
          </a:prstGeom>
          <a:noFill/>
          <a:ln/>
        </p:spPr>
        <p:txBody>
          <a:bodyPr wrap="square" lIns="0" tIns="0" rIns="0" bIns="0" rtlCol="0" anchor="ctr"/>
          <a:lstStyle/>
          <a:p>
            <a:pPr indent="0" marL="0">
              <a:buNone/>
            </a:pPr>
            <a:r>
              <a:rPr lang="en-US" sz="850" dirty="0">
                <a:solidFill>
                  <a:srgbClr val="FFFFFF"/>
                </a:solidFill>
              </a:rPr>
              <a:t>Backend/DB 18%</a:t>
            </a:r>
            <a:endParaRPr lang="en-US" sz="850" dirty="0"/>
          </a:p>
        </p:txBody>
      </p:sp>
      <p:sp>
        <p:nvSpPr>
          <p:cNvPr id="78" name="Shape 76"/>
          <p:cNvSpPr/>
          <p:nvPr/>
        </p:nvSpPr>
        <p:spPr>
          <a:xfrm>
            <a:off x="5212080" y="4791456"/>
            <a:ext cx="128016" cy="128016"/>
          </a:xfrm>
          <a:prstGeom prst="rect">
            <a:avLst/>
          </a:prstGeom>
          <a:solidFill>
            <a:srgbClr val="00ACC1"/>
          </a:solidFill>
          <a:ln w="12700">
            <a:solidFill>
              <a:srgbClr val="00ACC1"/>
            </a:solidFill>
            <a:prstDash val="solid"/>
          </a:ln>
        </p:spPr>
      </p:sp>
      <p:sp>
        <p:nvSpPr>
          <p:cNvPr id="79" name="Text 77"/>
          <p:cNvSpPr/>
          <p:nvPr/>
        </p:nvSpPr>
        <p:spPr>
          <a:xfrm>
            <a:off x="5376672" y="4773168"/>
            <a:ext cx="1078992" cy="347472"/>
          </a:xfrm>
          <a:prstGeom prst="rect">
            <a:avLst/>
          </a:prstGeom>
          <a:noFill/>
          <a:ln/>
        </p:spPr>
        <p:txBody>
          <a:bodyPr wrap="square" lIns="0" tIns="0" rIns="0" bIns="0" rtlCol="0" anchor="ctr"/>
          <a:lstStyle/>
          <a:p>
            <a:pPr indent="0" marL="0">
              <a:buNone/>
            </a:pPr>
            <a:r>
              <a:rPr lang="en-US" sz="850" dirty="0">
                <a:solidFill>
                  <a:srgbClr val="FFFFFF"/>
                </a:solidFill>
              </a:rPr>
              <a:t>Compilation 10%</a:t>
            </a:r>
            <a:endParaRPr lang="en-US" sz="850" dirty="0"/>
          </a:p>
        </p:txBody>
      </p:sp>
      <p:sp>
        <p:nvSpPr>
          <p:cNvPr id="80" name="Shape 78"/>
          <p:cNvSpPr/>
          <p:nvPr/>
        </p:nvSpPr>
        <p:spPr>
          <a:xfrm>
            <a:off x="6473952" y="4791456"/>
            <a:ext cx="128016" cy="128016"/>
          </a:xfrm>
          <a:prstGeom prst="rect">
            <a:avLst/>
          </a:prstGeom>
          <a:solidFill>
            <a:srgbClr val="F57C00"/>
          </a:solidFill>
          <a:ln w="12700">
            <a:solidFill>
              <a:srgbClr val="F57C00"/>
            </a:solidFill>
            <a:prstDash val="solid"/>
          </a:ln>
        </p:spPr>
      </p:sp>
      <p:sp>
        <p:nvSpPr>
          <p:cNvPr id="81" name="Text 79"/>
          <p:cNvSpPr/>
          <p:nvPr/>
        </p:nvSpPr>
        <p:spPr>
          <a:xfrm>
            <a:off x="6638544" y="4773168"/>
            <a:ext cx="1078992" cy="347472"/>
          </a:xfrm>
          <a:prstGeom prst="rect">
            <a:avLst/>
          </a:prstGeom>
          <a:noFill/>
          <a:ln/>
        </p:spPr>
        <p:txBody>
          <a:bodyPr wrap="square" lIns="0" tIns="0" rIns="0" bIns="0" rtlCol="0" anchor="ctr"/>
          <a:lstStyle/>
          <a:p>
            <a:pPr indent="0" marL="0">
              <a:buNone/>
            </a:pPr>
            <a:r>
              <a:rPr lang="en-US" sz="850" dirty="0">
                <a:solidFill>
                  <a:srgbClr val="FFFFFF"/>
                </a:solidFill>
              </a:rPr>
              <a:t>Testing 7%</a:t>
            </a:r>
            <a:endParaRPr lang="en-US" sz="850" dirty="0"/>
          </a:p>
        </p:txBody>
      </p:sp>
      <p:sp>
        <p:nvSpPr>
          <p:cNvPr id="82" name="Shape 80"/>
          <p:cNvSpPr/>
          <p:nvPr/>
        </p:nvSpPr>
        <p:spPr>
          <a:xfrm>
            <a:off x="7735824" y="4791456"/>
            <a:ext cx="128016" cy="128016"/>
          </a:xfrm>
          <a:prstGeom prst="rect">
            <a:avLst/>
          </a:prstGeom>
          <a:solidFill>
            <a:srgbClr val="546E7A"/>
          </a:solidFill>
          <a:ln w="12700">
            <a:solidFill>
              <a:srgbClr val="546E7A"/>
            </a:solidFill>
            <a:prstDash val="solid"/>
          </a:ln>
        </p:spPr>
      </p:sp>
      <p:sp>
        <p:nvSpPr>
          <p:cNvPr id="83" name="Text 81"/>
          <p:cNvSpPr/>
          <p:nvPr/>
        </p:nvSpPr>
        <p:spPr>
          <a:xfrm>
            <a:off x="7900416" y="4773168"/>
            <a:ext cx="1078992" cy="347472"/>
          </a:xfrm>
          <a:prstGeom prst="rect">
            <a:avLst/>
          </a:prstGeom>
          <a:noFill/>
          <a:ln/>
        </p:spPr>
        <p:txBody>
          <a:bodyPr wrap="square" lIns="0" tIns="0" rIns="0" bIns="0" rtlCol="0" anchor="ctr"/>
          <a:lstStyle/>
          <a:p>
            <a:pPr indent="0" marL="0">
              <a:buNone/>
            </a:pPr>
            <a:r>
              <a:rPr lang="en-US" sz="850" dirty="0">
                <a:solidFill>
                  <a:srgbClr val="FFFFFF"/>
                </a:solidFill>
              </a:rPr>
              <a:t>Docs 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65760" y="73152"/>
            <a:ext cx="8412480" cy="7680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Success Metrics &amp; Expected Benefits</a:t>
            </a:r>
            <a:endParaRPr lang="en-US" sz="2600" dirty="0"/>
          </a:p>
        </p:txBody>
      </p:sp>
      <p:sp>
        <p:nvSpPr>
          <p:cNvPr id="4" name="Shape 2"/>
          <p:cNvSpPr/>
          <p:nvPr/>
        </p:nvSpPr>
        <p:spPr>
          <a:xfrm>
            <a:off x="201168" y="1024128"/>
            <a:ext cx="2103120" cy="128016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201168" y="1024128"/>
            <a:ext cx="2103120" cy="54864"/>
          </a:xfrm>
          <a:prstGeom prst="rect">
            <a:avLst/>
          </a:prstGeom>
          <a:solidFill>
            <a:srgbClr val="1565C0"/>
          </a:solidFill>
          <a:ln w="12700">
            <a:solidFill>
              <a:srgbClr val="1565C0"/>
            </a:solidFill>
            <a:prstDash val="solid"/>
          </a:ln>
        </p:spPr>
      </p:sp>
      <p:sp>
        <p:nvSpPr>
          <p:cNvPr id="6" name="Text 4"/>
          <p:cNvSpPr/>
          <p:nvPr/>
        </p:nvSpPr>
        <p:spPr>
          <a:xfrm>
            <a:off x="201168" y="1115568"/>
            <a:ext cx="2103120" cy="640080"/>
          </a:xfrm>
          <a:prstGeom prst="rect">
            <a:avLst/>
          </a:prstGeom>
          <a:noFill/>
          <a:ln/>
        </p:spPr>
        <p:txBody>
          <a:bodyPr wrap="square" lIns="0" tIns="0" rIns="0" bIns="0" rtlCol="0" anchor="ctr"/>
          <a:lstStyle/>
          <a:p>
            <a:pPr algn="ctr" indent="0" marL="0">
              <a:buNone/>
            </a:pPr>
            <a:r>
              <a:rPr lang="en-US" sz="3800" b="1" dirty="0">
                <a:solidFill>
                  <a:srgbClr val="1565C0"/>
                </a:solidFill>
              </a:rPr>
              <a:t>2–4s</a:t>
            </a:r>
            <a:endParaRPr lang="en-US" sz="3800" dirty="0"/>
          </a:p>
        </p:txBody>
      </p:sp>
      <p:sp>
        <p:nvSpPr>
          <p:cNvPr id="7" name="Text 5"/>
          <p:cNvSpPr/>
          <p:nvPr/>
        </p:nvSpPr>
        <p:spPr>
          <a:xfrm>
            <a:off x="201168" y="1755648"/>
            <a:ext cx="2103120" cy="256032"/>
          </a:xfrm>
          <a:prstGeom prst="rect">
            <a:avLst/>
          </a:prstGeom>
          <a:noFill/>
          <a:ln/>
        </p:spPr>
        <p:txBody>
          <a:bodyPr wrap="square" lIns="0" tIns="0" rIns="0" bIns="0" rtlCol="0" anchor="ctr"/>
          <a:lstStyle/>
          <a:p>
            <a:pPr algn="ctr" indent="0" marL="0">
              <a:buNone/>
            </a:pPr>
            <a:r>
              <a:rPr lang="en-US" sz="1200" b="1" dirty="0">
                <a:solidFill>
                  <a:srgbClr val="0B1F3A"/>
                </a:solidFill>
              </a:rPr>
              <a:t>Voice to Code</a:t>
            </a:r>
            <a:endParaRPr lang="en-US" sz="1200" dirty="0"/>
          </a:p>
        </p:txBody>
      </p:sp>
      <p:sp>
        <p:nvSpPr>
          <p:cNvPr id="8" name="Text 6"/>
          <p:cNvSpPr/>
          <p:nvPr/>
        </p:nvSpPr>
        <p:spPr>
          <a:xfrm>
            <a:off x="201168" y="1993392"/>
            <a:ext cx="2103120" cy="219456"/>
          </a:xfrm>
          <a:prstGeom prst="rect">
            <a:avLst/>
          </a:prstGeom>
          <a:noFill/>
          <a:ln/>
        </p:spPr>
        <p:txBody>
          <a:bodyPr wrap="square" lIns="0" tIns="0" rIns="0" bIns="0" rtlCol="0" anchor="ctr"/>
          <a:lstStyle/>
          <a:p>
            <a:pPr algn="ctr" indent="0" marL="0">
              <a:buNone/>
            </a:pPr>
            <a:r>
              <a:rPr lang="en-US" sz="900" dirty="0">
                <a:solidFill>
                  <a:srgbClr val="546E7A"/>
                </a:solidFill>
              </a:rPr>
              <a:t>Processing time [1]</a:t>
            </a:r>
            <a:endParaRPr lang="en-US" sz="900" dirty="0"/>
          </a:p>
        </p:txBody>
      </p:sp>
      <p:sp>
        <p:nvSpPr>
          <p:cNvPr id="9" name="Shape 7"/>
          <p:cNvSpPr/>
          <p:nvPr/>
        </p:nvSpPr>
        <p:spPr>
          <a:xfrm>
            <a:off x="2414016" y="1024128"/>
            <a:ext cx="2103120" cy="128016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414016" y="1024128"/>
            <a:ext cx="2103120" cy="54864"/>
          </a:xfrm>
          <a:prstGeom prst="rect">
            <a:avLst/>
          </a:prstGeom>
          <a:solidFill>
            <a:srgbClr val="00ACC1"/>
          </a:solidFill>
          <a:ln w="12700">
            <a:solidFill>
              <a:srgbClr val="00ACC1"/>
            </a:solidFill>
            <a:prstDash val="solid"/>
          </a:ln>
        </p:spPr>
      </p:sp>
      <p:sp>
        <p:nvSpPr>
          <p:cNvPr id="11" name="Text 9"/>
          <p:cNvSpPr/>
          <p:nvPr/>
        </p:nvSpPr>
        <p:spPr>
          <a:xfrm>
            <a:off x="2414016" y="1115568"/>
            <a:ext cx="2103120" cy="640080"/>
          </a:xfrm>
          <a:prstGeom prst="rect">
            <a:avLst/>
          </a:prstGeom>
          <a:noFill/>
          <a:ln/>
        </p:spPr>
        <p:txBody>
          <a:bodyPr wrap="square" lIns="0" tIns="0" rIns="0" bIns="0" rtlCol="0" anchor="ctr"/>
          <a:lstStyle/>
          <a:p>
            <a:pPr algn="ctr" indent="0" marL="0">
              <a:buNone/>
            </a:pPr>
            <a:r>
              <a:rPr lang="en-US" sz="3800" b="1" dirty="0">
                <a:solidFill>
                  <a:srgbClr val="00ACC1"/>
                </a:solidFill>
              </a:rPr>
              <a:t>3–6s</a:t>
            </a:r>
            <a:endParaRPr lang="en-US" sz="3800" dirty="0"/>
          </a:p>
        </p:txBody>
      </p:sp>
      <p:sp>
        <p:nvSpPr>
          <p:cNvPr id="12" name="Text 10"/>
          <p:cNvSpPr/>
          <p:nvPr/>
        </p:nvSpPr>
        <p:spPr>
          <a:xfrm>
            <a:off x="2414016" y="1755648"/>
            <a:ext cx="2103120" cy="256032"/>
          </a:xfrm>
          <a:prstGeom prst="rect">
            <a:avLst/>
          </a:prstGeom>
          <a:noFill/>
          <a:ln/>
        </p:spPr>
        <p:txBody>
          <a:bodyPr wrap="square" lIns="0" tIns="0" rIns="0" bIns="0" rtlCol="0" anchor="ctr"/>
          <a:lstStyle/>
          <a:p>
            <a:pPr algn="ctr" indent="0" marL="0">
              <a:buNone/>
            </a:pPr>
            <a:r>
              <a:rPr lang="en-US" sz="1200" b="1" dirty="0">
                <a:solidFill>
                  <a:srgbClr val="0B1F3A"/>
                </a:solidFill>
              </a:rPr>
              <a:t>AI Response</a:t>
            </a:r>
            <a:endParaRPr lang="en-US" sz="1200" dirty="0"/>
          </a:p>
        </p:txBody>
      </p:sp>
      <p:sp>
        <p:nvSpPr>
          <p:cNvPr id="13" name="Text 11"/>
          <p:cNvSpPr/>
          <p:nvPr/>
        </p:nvSpPr>
        <p:spPr>
          <a:xfrm>
            <a:off x="2414016" y="1993392"/>
            <a:ext cx="2103120" cy="219456"/>
          </a:xfrm>
          <a:prstGeom prst="rect">
            <a:avLst/>
          </a:prstGeom>
          <a:noFill/>
          <a:ln/>
        </p:spPr>
        <p:txBody>
          <a:bodyPr wrap="square" lIns="0" tIns="0" rIns="0" bIns="0" rtlCol="0" anchor="ctr"/>
          <a:lstStyle/>
          <a:p>
            <a:pPr algn="ctr" indent="0" marL="0">
              <a:buNone/>
            </a:pPr>
            <a:r>
              <a:rPr lang="en-US" sz="900" dirty="0">
                <a:solidFill>
                  <a:srgbClr val="546E7A"/>
                </a:solidFill>
              </a:rPr>
              <a:t>GPT-4o code gen [12]</a:t>
            </a:r>
            <a:endParaRPr lang="en-US" sz="900" dirty="0"/>
          </a:p>
        </p:txBody>
      </p:sp>
      <p:sp>
        <p:nvSpPr>
          <p:cNvPr id="14" name="Shape 12"/>
          <p:cNvSpPr/>
          <p:nvPr/>
        </p:nvSpPr>
        <p:spPr>
          <a:xfrm>
            <a:off x="4626864" y="1024128"/>
            <a:ext cx="2103120" cy="128016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15" name="Shape 13"/>
          <p:cNvSpPr/>
          <p:nvPr/>
        </p:nvSpPr>
        <p:spPr>
          <a:xfrm>
            <a:off x="4626864" y="1024128"/>
            <a:ext cx="2103120" cy="54864"/>
          </a:xfrm>
          <a:prstGeom prst="rect">
            <a:avLst/>
          </a:prstGeom>
          <a:solidFill>
            <a:srgbClr val="F57C00"/>
          </a:solidFill>
          <a:ln w="12700">
            <a:solidFill>
              <a:srgbClr val="F57C00"/>
            </a:solidFill>
            <a:prstDash val="solid"/>
          </a:ln>
        </p:spPr>
      </p:sp>
      <p:sp>
        <p:nvSpPr>
          <p:cNvPr id="16" name="Text 14"/>
          <p:cNvSpPr/>
          <p:nvPr/>
        </p:nvSpPr>
        <p:spPr>
          <a:xfrm>
            <a:off x="4626864" y="1115568"/>
            <a:ext cx="2103120" cy="640080"/>
          </a:xfrm>
          <a:prstGeom prst="rect">
            <a:avLst/>
          </a:prstGeom>
          <a:noFill/>
          <a:ln/>
        </p:spPr>
        <p:txBody>
          <a:bodyPr wrap="square" lIns="0" tIns="0" rIns="0" bIns="0" rtlCol="0" anchor="ctr"/>
          <a:lstStyle/>
          <a:p>
            <a:pPr algn="ctr" indent="0" marL="0">
              <a:buNone/>
            </a:pPr>
            <a:r>
              <a:rPr lang="en-US" sz="3800" b="1" dirty="0">
                <a:solidFill>
                  <a:srgbClr val="F57C00"/>
                </a:solidFill>
              </a:rPr>
              <a:t>5s</a:t>
            </a:r>
            <a:endParaRPr lang="en-US" sz="3800" dirty="0"/>
          </a:p>
        </p:txBody>
      </p:sp>
      <p:sp>
        <p:nvSpPr>
          <p:cNvPr id="17" name="Text 15"/>
          <p:cNvSpPr/>
          <p:nvPr/>
        </p:nvSpPr>
        <p:spPr>
          <a:xfrm>
            <a:off x="4626864" y="1755648"/>
            <a:ext cx="2103120" cy="256032"/>
          </a:xfrm>
          <a:prstGeom prst="rect">
            <a:avLst/>
          </a:prstGeom>
          <a:noFill/>
          <a:ln/>
        </p:spPr>
        <p:txBody>
          <a:bodyPr wrap="square" lIns="0" tIns="0" rIns="0" bIns="0" rtlCol="0" anchor="ctr"/>
          <a:lstStyle/>
          <a:p>
            <a:pPr algn="ctr" indent="0" marL="0">
              <a:buNone/>
            </a:pPr>
            <a:r>
              <a:rPr lang="en-US" sz="1200" b="1" dirty="0">
                <a:solidFill>
                  <a:srgbClr val="0B1F3A"/>
                </a:solidFill>
              </a:rPr>
              <a:t>Compilation</a:t>
            </a:r>
            <a:endParaRPr lang="en-US" sz="1200" dirty="0"/>
          </a:p>
        </p:txBody>
      </p:sp>
      <p:sp>
        <p:nvSpPr>
          <p:cNvPr id="18" name="Text 16"/>
          <p:cNvSpPr/>
          <p:nvPr/>
        </p:nvSpPr>
        <p:spPr>
          <a:xfrm>
            <a:off x="4626864" y="1993392"/>
            <a:ext cx="2103120" cy="219456"/>
          </a:xfrm>
          <a:prstGeom prst="rect">
            <a:avLst/>
          </a:prstGeom>
          <a:noFill/>
          <a:ln/>
        </p:spPr>
        <p:txBody>
          <a:bodyPr wrap="square" lIns="0" tIns="0" rIns="0" bIns="0" rtlCol="0" anchor="ctr"/>
          <a:lstStyle/>
          <a:p>
            <a:pPr algn="ctr" indent="0" marL="0">
              <a:buNone/>
            </a:pPr>
            <a:r>
              <a:rPr lang="en-US" sz="900" dirty="0">
                <a:solidFill>
                  <a:srgbClr val="546E7A"/>
                </a:solidFill>
              </a:rPr>
              <a:t>Cloud execution [2],[8]</a:t>
            </a:r>
            <a:endParaRPr lang="en-US" sz="900" dirty="0"/>
          </a:p>
        </p:txBody>
      </p:sp>
      <p:sp>
        <p:nvSpPr>
          <p:cNvPr id="19" name="Shape 17"/>
          <p:cNvSpPr/>
          <p:nvPr/>
        </p:nvSpPr>
        <p:spPr>
          <a:xfrm>
            <a:off x="6839712" y="1024128"/>
            <a:ext cx="2103120" cy="1280160"/>
          </a:xfrm>
          <a:prstGeom prst="rect">
            <a:avLst/>
          </a:prstGeom>
          <a:solidFill>
            <a:srgbClr val="FFFFFF"/>
          </a:solidFill>
          <a:ln w="6350">
            <a:solidFill>
              <a:srgbClr val="D8E0EA"/>
            </a:solidFill>
            <a:prstDash val="solid"/>
          </a:ln>
          <a:effectLst>
            <a:outerShdw sx="100000" sy="100000" kx="0" ky="0" algn="bl" rotWithShape="0" blurRad="101600" dist="38100" dir="8100000">
              <a:srgbClr val="000000">
                <a:alpha val="15000"/>
              </a:srgbClr>
            </a:outerShdw>
          </a:effectLst>
        </p:spPr>
      </p:sp>
      <p:sp>
        <p:nvSpPr>
          <p:cNvPr id="20" name="Shape 18"/>
          <p:cNvSpPr/>
          <p:nvPr/>
        </p:nvSpPr>
        <p:spPr>
          <a:xfrm>
            <a:off x="6839712" y="1024128"/>
            <a:ext cx="2103120" cy="54864"/>
          </a:xfrm>
          <a:prstGeom prst="rect">
            <a:avLst/>
          </a:prstGeom>
          <a:solidFill>
            <a:srgbClr val="1565C0"/>
          </a:solidFill>
          <a:ln w="12700">
            <a:solidFill>
              <a:srgbClr val="1565C0"/>
            </a:solidFill>
            <a:prstDash val="solid"/>
          </a:ln>
        </p:spPr>
      </p:sp>
      <p:sp>
        <p:nvSpPr>
          <p:cNvPr id="21" name="Text 19"/>
          <p:cNvSpPr/>
          <p:nvPr/>
        </p:nvSpPr>
        <p:spPr>
          <a:xfrm>
            <a:off x="6839712" y="1115568"/>
            <a:ext cx="2103120" cy="640080"/>
          </a:xfrm>
          <a:prstGeom prst="rect">
            <a:avLst/>
          </a:prstGeom>
          <a:noFill/>
          <a:ln/>
        </p:spPr>
        <p:txBody>
          <a:bodyPr wrap="square" lIns="0" tIns="0" rIns="0" bIns="0" rtlCol="0" anchor="ctr"/>
          <a:lstStyle/>
          <a:p>
            <a:pPr algn="ctr" indent="0" marL="0">
              <a:buNone/>
            </a:pPr>
            <a:r>
              <a:rPr lang="en-US" sz="3800" b="1" dirty="0">
                <a:solidFill>
                  <a:srgbClr val="1565C0"/>
                </a:solidFill>
              </a:rPr>
              <a:t>100%</a:t>
            </a:r>
            <a:endParaRPr lang="en-US" sz="3800" dirty="0"/>
          </a:p>
        </p:txBody>
      </p:sp>
      <p:sp>
        <p:nvSpPr>
          <p:cNvPr id="22" name="Text 20"/>
          <p:cNvSpPr/>
          <p:nvPr/>
        </p:nvSpPr>
        <p:spPr>
          <a:xfrm>
            <a:off x="6839712" y="1755648"/>
            <a:ext cx="2103120" cy="256032"/>
          </a:xfrm>
          <a:prstGeom prst="rect">
            <a:avLst/>
          </a:prstGeom>
          <a:noFill/>
          <a:ln/>
        </p:spPr>
        <p:txBody>
          <a:bodyPr wrap="square" lIns="0" tIns="0" rIns="0" bIns="0" rtlCol="0" anchor="ctr"/>
          <a:lstStyle/>
          <a:p>
            <a:pPr algn="ctr" indent="0" marL="0">
              <a:buNone/>
            </a:pPr>
            <a:r>
              <a:rPr lang="en-US" sz="1200" b="1" dirty="0">
                <a:solidFill>
                  <a:srgbClr val="0B1F3A"/>
                </a:solidFill>
              </a:rPr>
              <a:t>Web-Based</a:t>
            </a:r>
            <a:endParaRPr lang="en-US" sz="1200" dirty="0"/>
          </a:p>
        </p:txBody>
      </p:sp>
      <p:sp>
        <p:nvSpPr>
          <p:cNvPr id="23" name="Text 21"/>
          <p:cNvSpPr/>
          <p:nvPr/>
        </p:nvSpPr>
        <p:spPr>
          <a:xfrm>
            <a:off x="6839712" y="1993392"/>
            <a:ext cx="2103120" cy="219456"/>
          </a:xfrm>
          <a:prstGeom prst="rect">
            <a:avLst/>
          </a:prstGeom>
          <a:noFill/>
          <a:ln/>
        </p:spPr>
        <p:txBody>
          <a:bodyPr wrap="square" lIns="0" tIns="0" rIns="0" bIns="0" rtlCol="0" anchor="ctr"/>
          <a:lstStyle/>
          <a:p>
            <a:pPr algn="ctr" indent="0" marL="0">
              <a:buNone/>
            </a:pPr>
            <a:r>
              <a:rPr lang="en-US" sz="900" dirty="0">
                <a:solidFill>
                  <a:srgbClr val="546E7A"/>
                </a:solidFill>
              </a:rPr>
              <a:t>No installation needed</a:t>
            </a:r>
            <a:endParaRPr lang="en-US" sz="900" dirty="0"/>
          </a:p>
        </p:txBody>
      </p:sp>
      <p:pic>
        <p:nvPicPr>
          <p:cNvPr id="24" name="Image 0" descr="preencoded.png">    </p:cNvPr>
          <p:cNvPicPr>
            <a:picLocks noChangeAspect="1"/>
          </p:cNvPicPr>
          <p:nvPr/>
        </p:nvPicPr>
        <p:blipFill>
          <a:blip r:embed="rId1"/>
          <a:stretch>
            <a:fillRect/>
          </a:stretch>
        </p:blipFill>
        <p:spPr>
          <a:xfrm>
            <a:off x="201168" y="2596896"/>
            <a:ext cx="237744" cy="237744"/>
          </a:xfrm>
          <a:prstGeom prst="rect">
            <a:avLst/>
          </a:prstGeom>
        </p:spPr>
      </p:pic>
      <p:sp>
        <p:nvSpPr>
          <p:cNvPr id="25" name="Text 22"/>
          <p:cNvSpPr/>
          <p:nvPr/>
        </p:nvSpPr>
        <p:spPr>
          <a:xfrm>
            <a:off x="512064" y="2542032"/>
            <a:ext cx="4160520" cy="256032"/>
          </a:xfrm>
          <a:prstGeom prst="rect">
            <a:avLst/>
          </a:prstGeom>
          <a:noFill/>
          <a:ln/>
        </p:spPr>
        <p:txBody>
          <a:bodyPr wrap="square" lIns="0" tIns="0" rIns="0" bIns="0" rtlCol="0" anchor="ctr"/>
          <a:lstStyle/>
          <a:p>
            <a:pPr indent="0" marL="0">
              <a:buNone/>
            </a:pPr>
            <a:r>
              <a:rPr lang="en-US" sz="1100" b="1" dirty="0">
                <a:solidFill>
                  <a:srgbClr val="0B1F3A"/>
                </a:solidFill>
              </a:rPr>
              <a:t>Voice-to-code working</a:t>
            </a:r>
            <a:endParaRPr lang="en-US" sz="1100" dirty="0"/>
          </a:p>
        </p:txBody>
      </p:sp>
      <p:sp>
        <p:nvSpPr>
          <p:cNvPr id="26" name="Text 23"/>
          <p:cNvSpPr/>
          <p:nvPr/>
        </p:nvSpPr>
        <p:spPr>
          <a:xfrm>
            <a:off x="512064" y="2798064"/>
            <a:ext cx="4160520" cy="256032"/>
          </a:xfrm>
          <a:prstGeom prst="rect">
            <a:avLst/>
          </a:prstGeom>
          <a:noFill/>
          <a:ln/>
        </p:spPr>
        <p:txBody>
          <a:bodyPr wrap="square" lIns="0" tIns="0" rIns="0" bIns="0" rtlCol="0" anchor="ctr"/>
          <a:lstStyle/>
          <a:p>
            <a:pPr indent="0" marL="0">
              <a:buNone/>
            </a:pPr>
            <a:r>
              <a:rPr lang="en-US" sz="900" dirty="0">
                <a:solidFill>
                  <a:srgbClr val="546E7A"/>
                </a:solidFill>
              </a:rPr>
              <a:t>C++ constructs generated from voice commands [1],[5]</a:t>
            </a:r>
            <a:endParaRPr lang="en-US" sz="900" dirty="0"/>
          </a:p>
        </p:txBody>
      </p:sp>
      <p:pic>
        <p:nvPicPr>
          <p:cNvPr id="27" name="Image 1" descr="preencoded.png">    </p:cNvPr>
          <p:cNvPicPr>
            <a:picLocks noChangeAspect="1"/>
          </p:cNvPicPr>
          <p:nvPr/>
        </p:nvPicPr>
        <p:blipFill>
          <a:blip r:embed="rId2"/>
          <a:stretch>
            <a:fillRect/>
          </a:stretch>
        </p:blipFill>
        <p:spPr>
          <a:xfrm>
            <a:off x="201168" y="3218688"/>
            <a:ext cx="237744" cy="237744"/>
          </a:xfrm>
          <a:prstGeom prst="rect">
            <a:avLst/>
          </a:prstGeom>
        </p:spPr>
      </p:pic>
      <p:sp>
        <p:nvSpPr>
          <p:cNvPr id="28" name="Text 24"/>
          <p:cNvSpPr/>
          <p:nvPr/>
        </p:nvSpPr>
        <p:spPr>
          <a:xfrm>
            <a:off x="512064" y="3163824"/>
            <a:ext cx="4160520" cy="256032"/>
          </a:xfrm>
          <a:prstGeom prst="rect">
            <a:avLst/>
          </a:prstGeom>
          <a:noFill/>
          <a:ln/>
        </p:spPr>
        <p:txBody>
          <a:bodyPr wrap="square" lIns="0" tIns="0" rIns="0" bIns="0" rtlCol="0" anchor="ctr"/>
          <a:lstStyle/>
          <a:p>
            <a:pPr indent="0" marL="0">
              <a:buNone/>
            </a:pPr>
            <a:r>
              <a:rPr lang="en-US" sz="1100" b="1" dirty="0">
                <a:solidFill>
                  <a:srgbClr val="0B1F3A"/>
                </a:solidFill>
              </a:rPr>
              <a:t>AI code generation</a:t>
            </a:r>
            <a:endParaRPr lang="en-US" sz="1100" dirty="0"/>
          </a:p>
        </p:txBody>
      </p:sp>
      <p:sp>
        <p:nvSpPr>
          <p:cNvPr id="29" name="Text 25"/>
          <p:cNvSpPr/>
          <p:nvPr/>
        </p:nvSpPr>
        <p:spPr>
          <a:xfrm>
            <a:off x="512064" y="3419856"/>
            <a:ext cx="4160520" cy="256032"/>
          </a:xfrm>
          <a:prstGeom prst="rect">
            <a:avLst/>
          </a:prstGeom>
          <a:noFill/>
          <a:ln/>
        </p:spPr>
        <p:txBody>
          <a:bodyPr wrap="square" lIns="0" tIns="0" rIns="0" bIns="0" rtlCol="0" anchor="ctr"/>
          <a:lstStyle/>
          <a:p>
            <a:pPr indent="0" marL="0">
              <a:buNone/>
            </a:pPr>
            <a:r>
              <a:rPr lang="en-US" sz="900" dirty="0">
                <a:solidFill>
                  <a:srgbClr val="546E7A"/>
                </a:solidFill>
              </a:rPr>
              <a:t>GPT-4o generates correct code from natural language [12]</a:t>
            </a:r>
            <a:endParaRPr lang="en-US" sz="900" dirty="0"/>
          </a:p>
        </p:txBody>
      </p:sp>
      <p:pic>
        <p:nvPicPr>
          <p:cNvPr id="30" name="Image 2" descr="preencoded.png">    </p:cNvPr>
          <p:cNvPicPr>
            <a:picLocks noChangeAspect="1"/>
          </p:cNvPicPr>
          <p:nvPr/>
        </p:nvPicPr>
        <p:blipFill>
          <a:blip r:embed="rId3"/>
          <a:stretch>
            <a:fillRect/>
          </a:stretch>
        </p:blipFill>
        <p:spPr>
          <a:xfrm>
            <a:off x="201168" y="3840480"/>
            <a:ext cx="237744" cy="237744"/>
          </a:xfrm>
          <a:prstGeom prst="rect">
            <a:avLst/>
          </a:prstGeom>
        </p:spPr>
      </p:pic>
      <p:sp>
        <p:nvSpPr>
          <p:cNvPr id="31" name="Text 26"/>
          <p:cNvSpPr/>
          <p:nvPr/>
        </p:nvSpPr>
        <p:spPr>
          <a:xfrm>
            <a:off x="512064" y="3785616"/>
            <a:ext cx="4160520" cy="256032"/>
          </a:xfrm>
          <a:prstGeom prst="rect">
            <a:avLst/>
          </a:prstGeom>
          <a:noFill/>
          <a:ln/>
        </p:spPr>
        <p:txBody>
          <a:bodyPr wrap="square" lIns="0" tIns="0" rIns="0" bIns="0" rtlCol="0" anchor="ctr"/>
          <a:lstStyle/>
          <a:p>
            <a:pPr indent="0" marL="0">
              <a:buNone/>
            </a:pPr>
            <a:r>
              <a:rPr lang="en-US" sz="1100" b="1" dirty="0">
                <a:solidFill>
                  <a:srgbClr val="0B1F3A"/>
                </a:solidFill>
              </a:rPr>
              <a:t>Compile/run working</a:t>
            </a:r>
            <a:endParaRPr lang="en-US" sz="1100" dirty="0"/>
          </a:p>
        </p:txBody>
      </p:sp>
      <p:sp>
        <p:nvSpPr>
          <p:cNvPr id="32" name="Text 27"/>
          <p:cNvSpPr/>
          <p:nvPr/>
        </p:nvSpPr>
        <p:spPr>
          <a:xfrm>
            <a:off x="512064" y="4041648"/>
            <a:ext cx="4160520" cy="256032"/>
          </a:xfrm>
          <a:prstGeom prst="rect">
            <a:avLst/>
          </a:prstGeom>
          <a:noFill/>
          <a:ln/>
        </p:spPr>
        <p:txBody>
          <a:bodyPr wrap="square" lIns="0" tIns="0" rIns="0" bIns="0" rtlCol="0" anchor="ctr"/>
          <a:lstStyle/>
          <a:p>
            <a:pPr indent="0" marL="0">
              <a:buNone/>
            </a:pPr>
            <a:r>
              <a:rPr lang="en-US" sz="900" dirty="0">
                <a:solidFill>
                  <a:srgbClr val="546E7A"/>
                </a:solidFill>
              </a:rPr>
              <a:t>End-to-end execution via cloud APIs [2],[8]</a:t>
            </a:r>
            <a:endParaRPr lang="en-US" sz="900" dirty="0"/>
          </a:p>
        </p:txBody>
      </p:sp>
      <p:pic>
        <p:nvPicPr>
          <p:cNvPr id="33" name="Image 3" descr="preencoded.png">    </p:cNvPr>
          <p:cNvPicPr>
            <a:picLocks noChangeAspect="1"/>
          </p:cNvPicPr>
          <p:nvPr/>
        </p:nvPicPr>
        <p:blipFill>
          <a:blip r:embed="rId4"/>
          <a:stretch>
            <a:fillRect/>
          </a:stretch>
        </p:blipFill>
        <p:spPr>
          <a:xfrm>
            <a:off x="201168" y="4462272"/>
            <a:ext cx="237744" cy="237744"/>
          </a:xfrm>
          <a:prstGeom prst="rect">
            <a:avLst/>
          </a:prstGeom>
        </p:spPr>
      </p:pic>
      <p:sp>
        <p:nvSpPr>
          <p:cNvPr id="34" name="Text 28"/>
          <p:cNvSpPr/>
          <p:nvPr/>
        </p:nvSpPr>
        <p:spPr>
          <a:xfrm>
            <a:off x="512064" y="4407408"/>
            <a:ext cx="4160520" cy="256032"/>
          </a:xfrm>
          <a:prstGeom prst="rect">
            <a:avLst/>
          </a:prstGeom>
          <a:noFill/>
          <a:ln/>
        </p:spPr>
        <p:txBody>
          <a:bodyPr wrap="square" lIns="0" tIns="0" rIns="0" bIns="0" rtlCol="0" anchor="ctr"/>
          <a:lstStyle/>
          <a:p>
            <a:pPr indent="0" marL="0">
              <a:buNone/>
            </a:pPr>
            <a:r>
              <a:rPr lang="en-US" sz="1100" b="1" dirty="0">
                <a:solidFill>
                  <a:srgbClr val="0B1F3A"/>
                </a:solidFill>
              </a:rPr>
              <a:t>Auth &amp; file saving</a:t>
            </a:r>
            <a:endParaRPr lang="en-US" sz="1100" dirty="0"/>
          </a:p>
        </p:txBody>
      </p:sp>
      <p:sp>
        <p:nvSpPr>
          <p:cNvPr id="35" name="Text 29"/>
          <p:cNvSpPr/>
          <p:nvPr/>
        </p:nvSpPr>
        <p:spPr>
          <a:xfrm>
            <a:off x="512064" y="4663440"/>
            <a:ext cx="4160520" cy="256032"/>
          </a:xfrm>
          <a:prstGeom prst="rect">
            <a:avLst/>
          </a:prstGeom>
          <a:noFill/>
          <a:ln/>
        </p:spPr>
        <p:txBody>
          <a:bodyPr wrap="square" lIns="0" tIns="0" rIns="0" bIns="0" rtlCol="0" anchor="ctr"/>
          <a:lstStyle/>
          <a:p>
            <a:pPr indent="0" marL="0">
              <a:buNone/>
            </a:pPr>
            <a:r>
              <a:rPr lang="en-US" sz="900" dirty="0">
                <a:solidFill>
                  <a:srgbClr val="546E7A"/>
                </a:solidFill>
              </a:rPr>
              <a:t>JWT login, Supabase save/load/share functional [7],[13]</a:t>
            </a:r>
            <a:endParaRPr lang="en-US" sz="900" dirty="0"/>
          </a:p>
        </p:txBody>
      </p:sp>
      <p:pic>
        <p:nvPicPr>
          <p:cNvPr id="36" name="Image 4" descr="preencoded.png">    </p:cNvPr>
          <p:cNvPicPr>
            <a:picLocks noChangeAspect="1"/>
          </p:cNvPicPr>
          <p:nvPr/>
        </p:nvPicPr>
        <p:blipFill>
          <a:blip r:embed="rId5"/>
          <a:stretch>
            <a:fillRect/>
          </a:stretch>
        </p:blipFill>
        <p:spPr>
          <a:xfrm>
            <a:off x="4818888" y="2596896"/>
            <a:ext cx="237744" cy="237744"/>
          </a:xfrm>
          <a:prstGeom prst="rect">
            <a:avLst/>
          </a:prstGeom>
        </p:spPr>
      </p:pic>
      <p:sp>
        <p:nvSpPr>
          <p:cNvPr id="37" name="Text 30"/>
          <p:cNvSpPr/>
          <p:nvPr/>
        </p:nvSpPr>
        <p:spPr>
          <a:xfrm>
            <a:off x="5129784" y="2542032"/>
            <a:ext cx="4160520" cy="256032"/>
          </a:xfrm>
          <a:prstGeom prst="rect">
            <a:avLst/>
          </a:prstGeom>
          <a:noFill/>
          <a:ln/>
        </p:spPr>
        <p:txBody>
          <a:bodyPr wrap="square" lIns="0" tIns="0" rIns="0" bIns="0" rtlCol="0" anchor="ctr"/>
          <a:lstStyle/>
          <a:p>
            <a:pPr indent="0" marL="0">
              <a:buNone/>
            </a:pPr>
            <a:r>
              <a:rPr lang="en-US" sz="1100" b="1" dirty="0">
                <a:solidFill>
                  <a:srgbClr val="0B1F3A"/>
                </a:solidFill>
              </a:rPr>
              <a:t>Urdu TTS working</a:t>
            </a:r>
            <a:endParaRPr lang="en-US" sz="1100" dirty="0"/>
          </a:p>
        </p:txBody>
      </p:sp>
      <p:sp>
        <p:nvSpPr>
          <p:cNvPr id="38" name="Text 31"/>
          <p:cNvSpPr/>
          <p:nvPr/>
        </p:nvSpPr>
        <p:spPr>
          <a:xfrm>
            <a:off x="5129784" y="2798064"/>
            <a:ext cx="4160520" cy="256032"/>
          </a:xfrm>
          <a:prstGeom prst="rect">
            <a:avLst/>
          </a:prstGeom>
          <a:noFill/>
          <a:ln/>
        </p:spPr>
        <p:txBody>
          <a:bodyPr wrap="square" lIns="0" tIns="0" rIns="0" bIns="0" rtlCol="0" anchor="ctr"/>
          <a:lstStyle/>
          <a:p>
            <a:pPr indent="0" marL="0">
              <a:buNone/>
            </a:pPr>
            <a:r>
              <a:rPr lang="en-US" sz="900" dirty="0">
                <a:solidFill>
                  <a:srgbClr val="546E7A"/>
                </a:solidFill>
              </a:rPr>
              <a:t>Output read aloud correctly in Urdu language [1]</a:t>
            </a:r>
            <a:endParaRPr lang="en-US" sz="900" dirty="0"/>
          </a:p>
        </p:txBody>
      </p:sp>
      <p:pic>
        <p:nvPicPr>
          <p:cNvPr id="39" name="Image 5" descr="preencoded.png">    </p:cNvPr>
          <p:cNvPicPr>
            <a:picLocks noChangeAspect="1"/>
          </p:cNvPicPr>
          <p:nvPr/>
        </p:nvPicPr>
        <p:blipFill>
          <a:blip r:embed="rId6"/>
          <a:stretch>
            <a:fillRect/>
          </a:stretch>
        </p:blipFill>
        <p:spPr>
          <a:xfrm>
            <a:off x="4818888" y="3218688"/>
            <a:ext cx="237744" cy="237744"/>
          </a:xfrm>
          <a:prstGeom prst="rect">
            <a:avLst/>
          </a:prstGeom>
        </p:spPr>
      </p:pic>
      <p:sp>
        <p:nvSpPr>
          <p:cNvPr id="40" name="Text 32"/>
          <p:cNvSpPr/>
          <p:nvPr/>
        </p:nvSpPr>
        <p:spPr>
          <a:xfrm>
            <a:off x="5129784" y="3163824"/>
            <a:ext cx="4160520" cy="256032"/>
          </a:xfrm>
          <a:prstGeom prst="rect">
            <a:avLst/>
          </a:prstGeom>
          <a:noFill/>
          <a:ln/>
        </p:spPr>
        <p:txBody>
          <a:bodyPr wrap="square" lIns="0" tIns="0" rIns="0" bIns="0" rtlCol="0" anchor="ctr"/>
          <a:lstStyle/>
          <a:p>
            <a:pPr indent="0" marL="0">
              <a:buNone/>
            </a:pPr>
            <a:r>
              <a:rPr lang="en-US" sz="1100" b="1" dirty="0">
                <a:solidFill>
                  <a:srgbClr val="0B1F3A"/>
                </a:solidFill>
              </a:rPr>
              <a:t>High voice accuracy</a:t>
            </a:r>
            <a:endParaRPr lang="en-US" sz="1100" dirty="0"/>
          </a:p>
        </p:txBody>
      </p:sp>
      <p:sp>
        <p:nvSpPr>
          <p:cNvPr id="41" name="Text 33"/>
          <p:cNvSpPr/>
          <p:nvPr/>
        </p:nvSpPr>
        <p:spPr>
          <a:xfrm>
            <a:off x="5129784" y="3419856"/>
            <a:ext cx="4160520" cy="256032"/>
          </a:xfrm>
          <a:prstGeom prst="rect">
            <a:avLst/>
          </a:prstGeom>
          <a:noFill/>
          <a:ln/>
        </p:spPr>
        <p:txBody>
          <a:bodyPr wrap="square" lIns="0" tIns="0" rIns="0" bIns="0" rtlCol="0" anchor="ctr"/>
          <a:lstStyle/>
          <a:p>
            <a:pPr indent="0" marL="0">
              <a:buNone/>
            </a:pPr>
            <a:r>
              <a:rPr lang="en-US" sz="900" dirty="0">
                <a:solidFill>
                  <a:srgbClr val="546E7A"/>
                </a:solidFill>
              </a:rPr>
              <a:t>Robust recognition across accents and environments</a:t>
            </a:r>
            <a:endParaRPr lang="en-US" sz="900" dirty="0"/>
          </a:p>
        </p:txBody>
      </p:sp>
      <p:pic>
        <p:nvPicPr>
          <p:cNvPr id="42" name="Image 6" descr="preencoded.png">    </p:cNvPr>
          <p:cNvPicPr>
            <a:picLocks noChangeAspect="1"/>
          </p:cNvPicPr>
          <p:nvPr/>
        </p:nvPicPr>
        <p:blipFill>
          <a:blip r:embed="rId7"/>
          <a:stretch>
            <a:fillRect/>
          </a:stretch>
        </p:blipFill>
        <p:spPr>
          <a:xfrm>
            <a:off x="4818888" y="3840480"/>
            <a:ext cx="237744" cy="237744"/>
          </a:xfrm>
          <a:prstGeom prst="rect">
            <a:avLst/>
          </a:prstGeom>
        </p:spPr>
      </p:pic>
      <p:sp>
        <p:nvSpPr>
          <p:cNvPr id="43" name="Text 34"/>
          <p:cNvSpPr/>
          <p:nvPr/>
        </p:nvSpPr>
        <p:spPr>
          <a:xfrm>
            <a:off x="5129784" y="3785616"/>
            <a:ext cx="4160520" cy="256032"/>
          </a:xfrm>
          <a:prstGeom prst="rect">
            <a:avLst/>
          </a:prstGeom>
          <a:noFill/>
          <a:ln/>
        </p:spPr>
        <p:txBody>
          <a:bodyPr wrap="square" lIns="0" tIns="0" rIns="0" bIns="0" rtlCol="0" anchor="ctr"/>
          <a:lstStyle/>
          <a:p>
            <a:pPr indent="0" marL="0">
              <a:buNone/>
            </a:pPr>
            <a:r>
              <a:rPr lang="en-US" sz="1100" b="1" dirty="0">
                <a:solidFill>
                  <a:srgbClr val="0B1F3A"/>
                </a:solidFill>
              </a:rPr>
              <a:t>WCAG 2.1 compliant</a:t>
            </a:r>
            <a:endParaRPr lang="en-US" sz="1100" dirty="0"/>
          </a:p>
        </p:txBody>
      </p:sp>
      <p:sp>
        <p:nvSpPr>
          <p:cNvPr id="44" name="Text 35"/>
          <p:cNvSpPr/>
          <p:nvPr/>
        </p:nvSpPr>
        <p:spPr>
          <a:xfrm>
            <a:off x="5129784" y="4041648"/>
            <a:ext cx="4160520" cy="256032"/>
          </a:xfrm>
          <a:prstGeom prst="rect">
            <a:avLst/>
          </a:prstGeom>
          <a:noFill/>
          <a:ln/>
        </p:spPr>
        <p:txBody>
          <a:bodyPr wrap="square" lIns="0" tIns="0" rIns="0" bIns="0" rtlCol="0" anchor="ctr"/>
          <a:lstStyle/>
          <a:p>
            <a:pPr indent="0" marL="0">
              <a:buNone/>
            </a:pPr>
            <a:r>
              <a:rPr lang="en-US" sz="900" dirty="0">
                <a:solidFill>
                  <a:srgbClr val="546E7A"/>
                </a:solidFill>
              </a:rPr>
              <a:t>Accessible to users with physical disabilities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358"/>
          </a:solidFill>
          <a:ln w="12700">
            <a:solidFill>
              <a:srgbClr val="1A3358"/>
            </a:solidFill>
            <a:prstDash val="solid"/>
          </a:ln>
        </p:spPr>
      </p:sp>
      <p:sp>
        <p:nvSpPr>
          <p:cNvPr id="3" name="Text 1"/>
          <p:cNvSpPr/>
          <p:nvPr/>
        </p:nvSpPr>
        <p:spPr>
          <a:xfrm>
            <a:off x="365760" y="91440"/>
            <a:ext cx="8412480" cy="74980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References</a:t>
            </a:r>
            <a:endParaRPr lang="en-US" sz="2800" dirty="0"/>
          </a:p>
        </p:txBody>
      </p:sp>
      <p:sp>
        <p:nvSpPr>
          <p:cNvPr id="4" name="Text 2"/>
          <p:cNvSpPr/>
          <p:nvPr/>
        </p:nvSpPr>
        <p:spPr>
          <a:xfrm>
            <a:off x="256032" y="1024128"/>
            <a:ext cx="4297680" cy="329184"/>
          </a:xfrm>
          <a:prstGeom prst="rect">
            <a:avLst/>
          </a:prstGeom>
          <a:noFill/>
          <a:ln/>
        </p:spPr>
        <p:txBody>
          <a:bodyPr wrap="square" lIns="0" tIns="0" rIns="0" bIns="0" rtlCol="0" anchor="ctr"/>
          <a:lstStyle/>
          <a:p>
            <a:pPr indent="0" marL="0">
              <a:buNone/>
            </a:pPr>
            <a:r>
              <a:rPr lang="en-US" sz="850" dirty="0">
                <a:solidFill>
                  <a:srgbClr val="B0BEC5"/>
                </a:solidFill>
              </a:rPr>
              <a:t>[1] MDN, "Web Speech API," Mozilla, 2024. https://developer.mozilla.org/en-US/docs/Web/API/Web_Speech_API</a:t>
            </a:r>
            <a:endParaRPr lang="en-US" sz="850" dirty="0"/>
          </a:p>
        </p:txBody>
      </p:sp>
      <p:sp>
        <p:nvSpPr>
          <p:cNvPr id="5" name="Text 3"/>
          <p:cNvSpPr/>
          <p:nvPr/>
        </p:nvSpPr>
        <p:spPr>
          <a:xfrm>
            <a:off x="256032" y="1389888"/>
            <a:ext cx="4297680" cy="329184"/>
          </a:xfrm>
          <a:prstGeom prst="rect">
            <a:avLst/>
          </a:prstGeom>
          <a:noFill/>
          <a:ln/>
        </p:spPr>
        <p:txBody>
          <a:bodyPr wrap="square" lIns="0" tIns="0" rIns="0" bIns="0" rtlCol="0" anchor="ctr"/>
          <a:lstStyle/>
          <a:p>
            <a:pPr indent="0" marL="0">
              <a:buNone/>
            </a:pPr>
            <a:r>
              <a:rPr lang="en-US" sz="850" dirty="0">
                <a:solidFill>
                  <a:srgbClr val="B0BEC5"/>
                </a:solidFill>
              </a:rPr>
              <a:t>[2] Paiza, Inc., "Paiza.IO Online Compiler API," 2024. https://paiza.io/en/api</a:t>
            </a:r>
            <a:endParaRPr lang="en-US" sz="850" dirty="0"/>
          </a:p>
        </p:txBody>
      </p:sp>
      <p:sp>
        <p:nvSpPr>
          <p:cNvPr id="6" name="Text 4"/>
          <p:cNvSpPr/>
          <p:nvPr/>
        </p:nvSpPr>
        <p:spPr>
          <a:xfrm>
            <a:off x="256032" y="1755648"/>
            <a:ext cx="4297680" cy="329184"/>
          </a:xfrm>
          <a:prstGeom prst="rect">
            <a:avLst/>
          </a:prstGeom>
          <a:noFill/>
          <a:ln/>
        </p:spPr>
        <p:txBody>
          <a:bodyPr wrap="square" lIns="0" tIns="0" rIns="0" bIns="0" rtlCol="0" anchor="ctr"/>
          <a:lstStyle/>
          <a:p>
            <a:pPr indent="0" marL="0">
              <a:buNone/>
            </a:pPr>
            <a:r>
              <a:rPr lang="en-US" sz="850" dirty="0">
                <a:solidFill>
                  <a:srgbClr val="B0BEC5"/>
                </a:solidFill>
              </a:rPr>
              <a:t>[3] Microsoft, "Monaco Editor Documentation," 2024. https://microsoft.github.io/monaco-editor/</a:t>
            </a:r>
            <a:endParaRPr lang="en-US" sz="850" dirty="0"/>
          </a:p>
        </p:txBody>
      </p:sp>
      <p:sp>
        <p:nvSpPr>
          <p:cNvPr id="7" name="Text 5"/>
          <p:cNvSpPr/>
          <p:nvPr/>
        </p:nvSpPr>
        <p:spPr>
          <a:xfrm>
            <a:off x="256032" y="2121408"/>
            <a:ext cx="4297680" cy="329184"/>
          </a:xfrm>
          <a:prstGeom prst="rect">
            <a:avLst/>
          </a:prstGeom>
          <a:noFill/>
          <a:ln/>
        </p:spPr>
        <p:txBody>
          <a:bodyPr wrap="square" lIns="0" tIns="0" rIns="0" bIns="0" rtlCol="0" anchor="ctr"/>
          <a:lstStyle/>
          <a:p>
            <a:pPr indent="0" marL="0">
              <a:buNone/>
            </a:pPr>
            <a:r>
              <a:rPr lang="en-US" sz="850" dirty="0">
                <a:solidFill>
                  <a:srgbClr val="B0BEC5"/>
                </a:solidFill>
              </a:rPr>
              <a:t>[4] W3C, "Web Accessibility Initiative (WAI)," 2024. https://www.w3.org/WAI/</a:t>
            </a:r>
            <a:endParaRPr lang="en-US" sz="850" dirty="0"/>
          </a:p>
        </p:txBody>
      </p:sp>
      <p:sp>
        <p:nvSpPr>
          <p:cNvPr id="8" name="Text 6"/>
          <p:cNvSpPr/>
          <p:nvPr/>
        </p:nvSpPr>
        <p:spPr>
          <a:xfrm>
            <a:off x="256032" y="2487168"/>
            <a:ext cx="4297680" cy="329184"/>
          </a:xfrm>
          <a:prstGeom prst="rect">
            <a:avLst/>
          </a:prstGeom>
          <a:noFill/>
          <a:ln/>
        </p:spPr>
        <p:txBody>
          <a:bodyPr wrap="square" lIns="0" tIns="0" rIns="0" bIns="0" rtlCol="0" anchor="ctr"/>
          <a:lstStyle/>
          <a:p>
            <a:pPr indent="0" marL="0">
              <a:buNone/>
            </a:pPr>
            <a:r>
              <a:rPr lang="en-US" sz="850" dirty="0">
                <a:solidFill>
                  <a:srgbClr val="B0BEC5"/>
                </a:solidFill>
              </a:rPr>
              <a:t>[5] cppreference.com, "C++ Language Reference," 2024. https://cppreference.com</a:t>
            </a:r>
            <a:endParaRPr lang="en-US" sz="850" dirty="0"/>
          </a:p>
        </p:txBody>
      </p:sp>
      <p:sp>
        <p:nvSpPr>
          <p:cNvPr id="9" name="Text 7"/>
          <p:cNvSpPr/>
          <p:nvPr/>
        </p:nvSpPr>
        <p:spPr>
          <a:xfrm>
            <a:off x="256032" y="2852928"/>
            <a:ext cx="4297680" cy="329184"/>
          </a:xfrm>
          <a:prstGeom prst="rect">
            <a:avLst/>
          </a:prstGeom>
          <a:noFill/>
          <a:ln/>
        </p:spPr>
        <p:txBody>
          <a:bodyPr wrap="square" lIns="0" tIns="0" rIns="0" bIns="0" rtlCol="0" anchor="ctr"/>
          <a:lstStyle/>
          <a:p>
            <a:pPr indent="0" marL="0">
              <a:buNone/>
            </a:pPr>
            <a:r>
              <a:rPr lang="en-US" sz="850" dirty="0">
                <a:solidFill>
                  <a:srgbClr val="B0BEC5"/>
                </a:solidFill>
              </a:rPr>
              <a:t>[7] OWASP, "OWASP Top Ten," 2021. https://owasp.org/www-project-top-ten/</a:t>
            </a:r>
            <a:endParaRPr lang="en-US" sz="850" dirty="0"/>
          </a:p>
        </p:txBody>
      </p:sp>
      <p:sp>
        <p:nvSpPr>
          <p:cNvPr id="10" name="Text 8"/>
          <p:cNvSpPr/>
          <p:nvPr/>
        </p:nvSpPr>
        <p:spPr>
          <a:xfrm>
            <a:off x="4828032" y="1024128"/>
            <a:ext cx="4297680" cy="329184"/>
          </a:xfrm>
          <a:prstGeom prst="rect">
            <a:avLst/>
          </a:prstGeom>
          <a:noFill/>
          <a:ln/>
        </p:spPr>
        <p:txBody>
          <a:bodyPr wrap="square" lIns="0" tIns="0" rIns="0" bIns="0" rtlCol="0" anchor="ctr"/>
          <a:lstStyle/>
          <a:p>
            <a:pPr indent="0" marL="0">
              <a:buNone/>
            </a:pPr>
            <a:r>
              <a:rPr lang="en-US" sz="850" dirty="0">
                <a:solidFill>
                  <a:srgbClr val="B0BEC5"/>
                </a:solidFill>
              </a:rPr>
              <a:t>[8] JDoodle, "JDoodle Compiler API," 2024. https://www.jdoodle.com/compiler-api</a:t>
            </a:r>
            <a:endParaRPr lang="en-US" sz="850" dirty="0"/>
          </a:p>
        </p:txBody>
      </p:sp>
      <p:sp>
        <p:nvSpPr>
          <p:cNvPr id="11" name="Text 9"/>
          <p:cNvSpPr/>
          <p:nvPr/>
        </p:nvSpPr>
        <p:spPr>
          <a:xfrm>
            <a:off x="4828032" y="1389888"/>
            <a:ext cx="4297680" cy="329184"/>
          </a:xfrm>
          <a:prstGeom prst="rect">
            <a:avLst/>
          </a:prstGeom>
          <a:noFill/>
          <a:ln/>
        </p:spPr>
        <p:txBody>
          <a:bodyPr wrap="square" lIns="0" tIns="0" rIns="0" bIns="0" rtlCol="0" anchor="ctr"/>
          <a:lstStyle/>
          <a:p>
            <a:pPr indent="0" marL="0">
              <a:buNone/>
            </a:pPr>
            <a:r>
              <a:rPr lang="en-US" sz="850" dirty="0">
                <a:solidFill>
                  <a:srgbClr val="B0BEC5"/>
                </a:solidFill>
              </a:rPr>
              <a:t>[12] OpenAI, "GPT-4o API Documentation," 2024. https://platform.openai.com/docs/models/gpt-4o</a:t>
            </a:r>
            <a:endParaRPr lang="en-US" sz="850" dirty="0"/>
          </a:p>
        </p:txBody>
      </p:sp>
      <p:sp>
        <p:nvSpPr>
          <p:cNvPr id="12" name="Text 10"/>
          <p:cNvSpPr/>
          <p:nvPr/>
        </p:nvSpPr>
        <p:spPr>
          <a:xfrm>
            <a:off x="4828032" y="1755648"/>
            <a:ext cx="4297680" cy="329184"/>
          </a:xfrm>
          <a:prstGeom prst="rect">
            <a:avLst/>
          </a:prstGeom>
          <a:noFill/>
          <a:ln/>
        </p:spPr>
        <p:txBody>
          <a:bodyPr wrap="square" lIns="0" tIns="0" rIns="0" bIns="0" rtlCol="0" anchor="ctr"/>
          <a:lstStyle/>
          <a:p>
            <a:pPr indent="0" marL="0">
              <a:buNone/>
            </a:pPr>
            <a:r>
              <a:rPr lang="en-US" sz="850" dirty="0">
                <a:solidFill>
                  <a:srgbClr val="B0BEC5"/>
                </a:solidFill>
              </a:rPr>
              <a:t>[13] Supabase, "Open Source Firebase Alternative with PostgreSQL," 2024. https://supabase.com/docs</a:t>
            </a:r>
            <a:endParaRPr lang="en-US" sz="850" dirty="0"/>
          </a:p>
        </p:txBody>
      </p:sp>
      <p:sp>
        <p:nvSpPr>
          <p:cNvPr id="13" name="Text 11"/>
          <p:cNvSpPr/>
          <p:nvPr/>
        </p:nvSpPr>
        <p:spPr>
          <a:xfrm>
            <a:off x="4828032" y="2121408"/>
            <a:ext cx="4297680" cy="329184"/>
          </a:xfrm>
          <a:prstGeom prst="rect">
            <a:avLst/>
          </a:prstGeom>
          <a:noFill/>
          <a:ln/>
        </p:spPr>
        <p:txBody>
          <a:bodyPr wrap="square" lIns="0" tIns="0" rIns="0" bIns="0" rtlCol="0" anchor="ctr"/>
          <a:lstStyle/>
          <a:p>
            <a:pPr indent="0" marL="0">
              <a:buNone/>
            </a:pPr>
            <a:r>
              <a:rPr lang="en-US" sz="850" dirty="0">
                <a:solidFill>
                  <a:srgbClr val="B0BEC5"/>
                </a:solidFill>
              </a:rPr>
              <a:t>[14] Railway, "Cloud Application Hosting Platform," 2024. https://docs.railway.app</a:t>
            </a:r>
            <a:endParaRPr lang="en-US" sz="850" dirty="0"/>
          </a:p>
        </p:txBody>
      </p:sp>
      <p:sp>
        <p:nvSpPr>
          <p:cNvPr id="14" name="Text 12"/>
          <p:cNvSpPr/>
          <p:nvPr/>
        </p:nvSpPr>
        <p:spPr>
          <a:xfrm>
            <a:off x="4828032" y="2487168"/>
            <a:ext cx="4297680" cy="329184"/>
          </a:xfrm>
          <a:prstGeom prst="rect">
            <a:avLst/>
          </a:prstGeom>
          <a:noFill/>
          <a:ln/>
        </p:spPr>
        <p:txBody>
          <a:bodyPr wrap="square" lIns="0" tIns="0" rIns="0" bIns="0" rtlCol="0" anchor="ctr"/>
          <a:lstStyle/>
          <a:p>
            <a:pPr indent="0" marL="0">
              <a:buNone/>
            </a:pPr>
            <a:r>
              <a:rPr lang="en-US" sz="850" dirty="0">
                <a:solidFill>
                  <a:srgbClr val="B0BEC5"/>
                </a:solidFill>
              </a:rPr>
              <a:t>[16] W3C, "WCAG 2.1," 2018. https://www.w3.org/TR/WCAG21/</a:t>
            </a:r>
            <a:endParaRPr lang="en-US" sz="850" dirty="0"/>
          </a:p>
        </p:txBody>
      </p:sp>
      <p:sp>
        <p:nvSpPr>
          <p:cNvPr id="15" name="Text 13"/>
          <p:cNvSpPr/>
          <p:nvPr/>
        </p:nvSpPr>
        <p:spPr>
          <a:xfrm>
            <a:off x="4828032" y="2852928"/>
            <a:ext cx="4297680" cy="329184"/>
          </a:xfrm>
          <a:prstGeom prst="rect">
            <a:avLst/>
          </a:prstGeom>
          <a:noFill/>
          <a:ln/>
        </p:spPr>
        <p:txBody>
          <a:bodyPr wrap="square" lIns="0" tIns="0" rIns="0" bIns="0" rtlCol="0" anchor="ctr"/>
          <a:lstStyle/>
          <a:p>
            <a:pPr indent="0" marL="0">
              <a:buNone/>
            </a:pPr>
            <a:r>
              <a:rPr lang="en-US" sz="850" dirty="0">
                <a:solidFill>
                  <a:srgbClr val="B0BEC5"/>
                </a:solidFill>
              </a:rPr>
              <a:t>[20] IEEE, IEEE Std 1016-2009, Software Design Descriptions, 2009.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00ACC1">
              <a:alpha val="12000"/>
            </a:srgbClr>
          </a:solidFill>
          <a:ln w="12700">
            <a:solidFill>
              <a:srgbClr val="00ACC1">
                <a:alpha val="12000"/>
              </a:srgbClr>
            </a:solidFill>
            <a:prstDash val="solid"/>
          </a:ln>
        </p:spPr>
      </p:sp>
      <p:sp>
        <p:nvSpPr>
          <p:cNvPr id="3" name="Shape 1"/>
          <p:cNvSpPr/>
          <p:nvPr/>
        </p:nvSpPr>
        <p:spPr>
          <a:xfrm>
            <a:off x="6400800" y="1828800"/>
            <a:ext cx="3657600" cy="3657600"/>
          </a:xfrm>
          <a:prstGeom prst="ellipse">
            <a:avLst/>
          </a:prstGeom>
          <a:solidFill>
            <a:srgbClr val="1565C0">
              <a:alpha val="15000"/>
            </a:srgbClr>
          </a:solidFill>
          <a:ln w="12700">
            <a:solidFill>
              <a:srgbClr val="1565C0">
                <a:alpha val="15000"/>
              </a:srgbClr>
            </a:solidFill>
            <a:prstDash val="solid"/>
          </a:ln>
        </p:spPr>
      </p:sp>
      <p:sp>
        <p:nvSpPr>
          <p:cNvPr id="4" name="Text 2"/>
          <p:cNvSpPr/>
          <p:nvPr/>
        </p:nvSpPr>
        <p:spPr>
          <a:xfrm>
            <a:off x="914400" y="914400"/>
            <a:ext cx="7315200" cy="1280160"/>
          </a:xfrm>
          <a:prstGeom prst="rect">
            <a:avLst/>
          </a:prstGeom>
          <a:noFill/>
          <a:ln/>
        </p:spPr>
        <p:txBody>
          <a:bodyPr wrap="square" lIns="0" tIns="0" rIns="0" bIns="0"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5" name="Shape 3"/>
          <p:cNvSpPr/>
          <p:nvPr/>
        </p:nvSpPr>
        <p:spPr>
          <a:xfrm>
            <a:off x="3200400" y="2176272"/>
            <a:ext cx="2743200" cy="54864"/>
          </a:xfrm>
          <a:prstGeom prst="rect">
            <a:avLst/>
          </a:prstGeom>
          <a:solidFill>
            <a:srgbClr val="00ACC1"/>
          </a:solidFill>
          <a:ln w="12700">
            <a:solidFill>
              <a:srgbClr val="00ACC1"/>
            </a:solidFill>
            <a:prstDash val="solid"/>
          </a:ln>
        </p:spPr>
      </p:sp>
      <p:sp>
        <p:nvSpPr>
          <p:cNvPr id="6" name="Text 4"/>
          <p:cNvSpPr/>
          <p:nvPr/>
        </p:nvSpPr>
        <p:spPr>
          <a:xfrm>
            <a:off x="914400" y="2331720"/>
            <a:ext cx="7315200" cy="457200"/>
          </a:xfrm>
          <a:prstGeom prst="rect">
            <a:avLst/>
          </a:prstGeom>
          <a:noFill/>
          <a:ln/>
        </p:spPr>
        <p:txBody>
          <a:bodyPr wrap="square" lIns="0" tIns="0" rIns="0" bIns="0" rtlCol="0" anchor="ctr"/>
          <a:lstStyle/>
          <a:p>
            <a:pPr algn="ctr" indent="0" marL="0">
              <a:buNone/>
            </a:pPr>
            <a:r>
              <a:rPr lang="en-US" sz="1800" dirty="0">
                <a:solidFill>
                  <a:srgbClr val="00ACC1"/>
                </a:solidFill>
                <a:latin typeface="Calibri" pitchFamily="34" charset="0"/>
                <a:ea typeface="Calibri" pitchFamily="34" charset="-122"/>
                <a:cs typeface="Calibri" pitchFamily="34" charset="-120"/>
              </a:rPr>
              <a:t>VoiceCoder AI  —  VC-WA01</a:t>
            </a:r>
            <a:endParaRPr lang="en-US" sz="1800" dirty="0"/>
          </a:p>
        </p:txBody>
      </p:sp>
      <p:sp>
        <p:nvSpPr>
          <p:cNvPr id="7" name="Text 5"/>
          <p:cNvSpPr/>
          <p:nvPr/>
        </p:nvSpPr>
        <p:spPr>
          <a:xfrm>
            <a:off x="914400" y="2834640"/>
            <a:ext cx="7315200" cy="384048"/>
          </a:xfrm>
          <a:prstGeom prst="rect">
            <a:avLst/>
          </a:prstGeom>
          <a:noFill/>
          <a:ln/>
        </p:spPr>
        <p:txBody>
          <a:bodyPr wrap="square" lIns="0" tIns="0" rIns="0" bIns="0" rtlCol="0" anchor="ctr"/>
          <a:lstStyle/>
          <a:p>
            <a:pPr algn="ctr" indent="0" marL="0">
              <a:buNone/>
            </a:pPr>
            <a:r>
              <a:rPr lang="en-US" sz="1200" dirty="0">
                <a:solidFill>
                  <a:srgbClr val="B0BEC5"/>
                </a:solidFill>
              </a:rPr>
              <a:t>Voice-Controlled C++ Programming with GPT-4o AI, Cloud Compilation &amp; Urdu TTS</a:t>
            </a:r>
            <a:endParaRPr lang="en-US" sz="1200" dirty="0"/>
          </a:p>
        </p:txBody>
      </p:sp>
      <p:sp>
        <p:nvSpPr>
          <p:cNvPr id="8" name="Shape 6"/>
          <p:cNvSpPr/>
          <p:nvPr/>
        </p:nvSpPr>
        <p:spPr>
          <a:xfrm>
            <a:off x="0" y="3429000"/>
            <a:ext cx="9144000" cy="1714500"/>
          </a:xfrm>
          <a:prstGeom prst="rect">
            <a:avLst/>
          </a:prstGeom>
          <a:solidFill>
            <a:srgbClr val="1A3358"/>
          </a:solidFill>
          <a:ln w="12700">
            <a:solidFill>
              <a:srgbClr val="1A3358"/>
            </a:solidFill>
            <a:prstDash val="solid"/>
          </a:ln>
        </p:spPr>
      </p:sp>
      <p:sp>
        <p:nvSpPr>
          <p:cNvPr id="9" name="Shape 7"/>
          <p:cNvSpPr/>
          <p:nvPr/>
        </p:nvSpPr>
        <p:spPr>
          <a:xfrm>
            <a:off x="1737360" y="3493008"/>
            <a:ext cx="640080" cy="640080"/>
          </a:xfrm>
          <a:prstGeom prst="ellipse">
            <a:avLst/>
          </a:prstGeom>
          <a:solidFill>
            <a:srgbClr val="00ACC1"/>
          </a:solidFill>
          <a:ln w="12700">
            <a:solidFill>
              <a:srgbClr val="00ACC1"/>
            </a:solidFill>
            <a:prstDash val="solid"/>
          </a:ln>
        </p:spPr>
      </p:sp>
      <p:sp>
        <p:nvSpPr>
          <p:cNvPr id="10" name="Text 8"/>
          <p:cNvSpPr/>
          <p:nvPr/>
        </p:nvSpPr>
        <p:spPr>
          <a:xfrm>
            <a:off x="1737360" y="349300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A</a:t>
            </a:r>
            <a:endParaRPr lang="en-US" sz="2200" dirty="0"/>
          </a:p>
        </p:txBody>
      </p:sp>
      <p:sp>
        <p:nvSpPr>
          <p:cNvPr id="11" name="Text 9"/>
          <p:cNvSpPr/>
          <p:nvPr/>
        </p:nvSpPr>
        <p:spPr>
          <a:xfrm>
            <a:off x="914400" y="4206240"/>
            <a:ext cx="2286000" cy="292608"/>
          </a:xfrm>
          <a:prstGeom prst="rect">
            <a:avLst/>
          </a:prstGeom>
          <a:noFill/>
          <a:ln/>
        </p:spPr>
        <p:txBody>
          <a:bodyPr wrap="square" lIns="0" tIns="0" rIns="0" bIns="0" rtlCol="0" anchor="ctr"/>
          <a:lstStyle/>
          <a:p>
            <a:pPr algn="ctr" indent="0" marL="0">
              <a:buNone/>
            </a:pPr>
            <a:r>
              <a:rPr lang="en-US" sz="1200" b="1" dirty="0">
                <a:solidFill>
                  <a:srgbClr val="FFFFFF"/>
                </a:solidFill>
              </a:rPr>
              <a:t>Alina Ahmed</a:t>
            </a:r>
            <a:endParaRPr lang="en-US" sz="1200" dirty="0"/>
          </a:p>
        </p:txBody>
      </p:sp>
      <p:sp>
        <p:nvSpPr>
          <p:cNvPr id="12" name="Text 10"/>
          <p:cNvSpPr/>
          <p:nvPr/>
        </p:nvSpPr>
        <p:spPr>
          <a:xfrm>
            <a:off x="914400" y="4480560"/>
            <a:ext cx="2286000" cy="228600"/>
          </a:xfrm>
          <a:prstGeom prst="rect">
            <a:avLst/>
          </a:prstGeom>
          <a:noFill/>
          <a:ln/>
        </p:spPr>
        <p:txBody>
          <a:bodyPr wrap="square" lIns="0" tIns="0" rIns="0" bIns="0" rtlCol="0" anchor="ctr"/>
          <a:lstStyle/>
          <a:p>
            <a:pPr algn="ctr" indent="0" marL="0">
              <a:buNone/>
            </a:pPr>
            <a:r>
              <a:rPr lang="en-US" sz="900" dirty="0">
                <a:solidFill>
                  <a:srgbClr val="B0BEC5"/>
                </a:solidFill>
              </a:rPr>
              <a:t>S044 — Team Lead</a:t>
            </a:r>
            <a:endParaRPr lang="en-US" sz="900" dirty="0"/>
          </a:p>
        </p:txBody>
      </p:sp>
      <p:sp>
        <p:nvSpPr>
          <p:cNvPr id="13" name="Shape 11"/>
          <p:cNvSpPr/>
          <p:nvPr/>
        </p:nvSpPr>
        <p:spPr>
          <a:xfrm>
            <a:off x="4480560" y="3493008"/>
            <a:ext cx="640080" cy="640080"/>
          </a:xfrm>
          <a:prstGeom prst="ellipse">
            <a:avLst/>
          </a:prstGeom>
          <a:solidFill>
            <a:srgbClr val="00ACC1"/>
          </a:solidFill>
          <a:ln w="12700">
            <a:solidFill>
              <a:srgbClr val="00ACC1"/>
            </a:solidFill>
            <a:prstDash val="solid"/>
          </a:ln>
        </p:spPr>
      </p:sp>
      <p:sp>
        <p:nvSpPr>
          <p:cNvPr id="14" name="Text 12"/>
          <p:cNvSpPr/>
          <p:nvPr/>
        </p:nvSpPr>
        <p:spPr>
          <a:xfrm>
            <a:off x="4480560" y="349300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M</a:t>
            </a:r>
            <a:endParaRPr lang="en-US" sz="2200" dirty="0"/>
          </a:p>
        </p:txBody>
      </p:sp>
      <p:sp>
        <p:nvSpPr>
          <p:cNvPr id="15" name="Text 13"/>
          <p:cNvSpPr/>
          <p:nvPr/>
        </p:nvSpPr>
        <p:spPr>
          <a:xfrm>
            <a:off x="3657600" y="4206240"/>
            <a:ext cx="2286000" cy="292608"/>
          </a:xfrm>
          <a:prstGeom prst="rect">
            <a:avLst/>
          </a:prstGeom>
          <a:noFill/>
          <a:ln/>
        </p:spPr>
        <p:txBody>
          <a:bodyPr wrap="square" lIns="0" tIns="0" rIns="0" bIns="0" rtlCol="0" anchor="ctr"/>
          <a:lstStyle/>
          <a:p>
            <a:pPr algn="ctr" indent="0" marL="0">
              <a:buNone/>
            </a:pPr>
            <a:r>
              <a:rPr lang="en-US" sz="1200" b="1" dirty="0">
                <a:solidFill>
                  <a:srgbClr val="FFFFFF"/>
                </a:solidFill>
              </a:rPr>
              <a:t>Maryum Javed</a:t>
            </a:r>
            <a:endParaRPr lang="en-US" sz="1200" dirty="0"/>
          </a:p>
        </p:txBody>
      </p:sp>
      <p:sp>
        <p:nvSpPr>
          <p:cNvPr id="16" name="Text 14"/>
          <p:cNvSpPr/>
          <p:nvPr/>
        </p:nvSpPr>
        <p:spPr>
          <a:xfrm>
            <a:off x="3657600" y="4480560"/>
            <a:ext cx="2286000" cy="228600"/>
          </a:xfrm>
          <a:prstGeom prst="rect">
            <a:avLst/>
          </a:prstGeom>
          <a:noFill/>
          <a:ln/>
        </p:spPr>
        <p:txBody>
          <a:bodyPr wrap="square" lIns="0" tIns="0" rIns="0" bIns="0" rtlCol="0" anchor="ctr"/>
          <a:lstStyle/>
          <a:p>
            <a:pPr algn="ctr" indent="0" marL="0">
              <a:buNone/>
            </a:pPr>
            <a:r>
              <a:rPr lang="en-US" sz="900" dirty="0">
                <a:solidFill>
                  <a:srgbClr val="B0BEC5"/>
                </a:solidFill>
              </a:rPr>
              <a:t>S009 — Team Member</a:t>
            </a:r>
            <a:endParaRPr lang="en-US" sz="900" dirty="0"/>
          </a:p>
        </p:txBody>
      </p:sp>
      <p:sp>
        <p:nvSpPr>
          <p:cNvPr id="17" name="Shape 15"/>
          <p:cNvSpPr/>
          <p:nvPr/>
        </p:nvSpPr>
        <p:spPr>
          <a:xfrm>
            <a:off x="7223760" y="3493008"/>
            <a:ext cx="640080" cy="640080"/>
          </a:xfrm>
          <a:prstGeom prst="ellipse">
            <a:avLst/>
          </a:prstGeom>
          <a:solidFill>
            <a:srgbClr val="00ACC1"/>
          </a:solidFill>
          <a:ln w="12700">
            <a:solidFill>
              <a:srgbClr val="00ACC1"/>
            </a:solidFill>
            <a:prstDash val="solid"/>
          </a:ln>
        </p:spPr>
      </p:sp>
      <p:sp>
        <p:nvSpPr>
          <p:cNvPr id="18" name="Text 16"/>
          <p:cNvSpPr/>
          <p:nvPr/>
        </p:nvSpPr>
        <p:spPr>
          <a:xfrm>
            <a:off x="7223760" y="349300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L</a:t>
            </a:r>
            <a:endParaRPr lang="en-US" sz="2200" dirty="0"/>
          </a:p>
        </p:txBody>
      </p:sp>
      <p:sp>
        <p:nvSpPr>
          <p:cNvPr id="19" name="Text 17"/>
          <p:cNvSpPr/>
          <p:nvPr/>
        </p:nvSpPr>
        <p:spPr>
          <a:xfrm>
            <a:off x="6400800" y="4206240"/>
            <a:ext cx="2286000" cy="292608"/>
          </a:xfrm>
          <a:prstGeom prst="rect">
            <a:avLst/>
          </a:prstGeom>
          <a:noFill/>
          <a:ln/>
        </p:spPr>
        <p:txBody>
          <a:bodyPr wrap="square" lIns="0" tIns="0" rIns="0" bIns="0" rtlCol="0" anchor="ctr"/>
          <a:lstStyle/>
          <a:p>
            <a:pPr algn="ctr" indent="0" marL="0">
              <a:buNone/>
            </a:pPr>
            <a:r>
              <a:rPr lang="en-US" sz="1200" b="1" dirty="0">
                <a:solidFill>
                  <a:srgbClr val="FFFFFF"/>
                </a:solidFill>
              </a:rPr>
              <a:t>Laiba Humayun</a:t>
            </a:r>
            <a:endParaRPr lang="en-US" sz="1200" dirty="0"/>
          </a:p>
        </p:txBody>
      </p:sp>
      <p:sp>
        <p:nvSpPr>
          <p:cNvPr id="20" name="Text 18"/>
          <p:cNvSpPr/>
          <p:nvPr/>
        </p:nvSpPr>
        <p:spPr>
          <a:xfrm>
            <a:off x="6400800" y="4480560"/>
            <a:ext cx="2286000" cy="228600"/>
          </a:xfrm>
          <a:prstGeom prst="rect">
            <a:avLst/>
          </a:prstGeom>
          <a:noFill/>
          <a:ln/>
        </p:spPr>
        <p:txBody>
          <a:bodyPr wrap="square" lIns="0" tIns="0" rIns="0" bIns="0" rtlCol="0" anchor="ctr"/>
          <a:lstStyle/>
          <a:p>
            <a:pPr algn="ctr" indent="0" marL="0">
              <a:buNone/>
            </a:pPr>
            <a:r>
              <a:rPr lang="en-US" sz="900" dirty="0">
                <a:solidFill>
                  <a:srgbClr val="B0BEC5"/>
                </a:solidFill>
              </a:rPr>
              <a:t>S031 — Team Member</a:t>
            </a:r>
            <a:endParaRPr lang="en-US" sz="900" dirty="0"/>
          </a:p>
        </p:txBody>
      </p:sp>
      <p:sp>
        <p:nvSpPr>
          <p:cNvPr id="21" name="Text 19"/>
          <p:cNvSpPr/>
          <p:nvPr/>
        </p:nvSpPr>
        <p:spPr>
          <a:xfrm>
            <a:off x="457200" y="4892040"/>
            <a:ext cx="8229600" cy="201168"/>
          </a:xfrm>
          <a:prstGeom prst="rect">
            <a:avLst/>
          </a:prstGeom>
          <a:noFill/>
          <a:ln/>
        </p:spPr>
        <p:txBody>
          <a:bodyPr wrap="square" lIns="0" tIns="0" rIns="0" bIns="0" rtlCol="0" anchor="ctr"/>
          <a:lstStyle/>
          <a:p>
            <a:pPr algn="ctr" indent="0" marL="0">
              <a:buNone/>
            </a:pPr>
            <a:r>
              <a:rPr lang="en-US" sz="850" dirty="0">
                <a:solidFill>
                  <a:srgbClr val="B0BEC5"/>
                </a:solidFill>
              </a:rPr>
              <a:t>Advisor: Mr. Mudassar Ali Zaidi  •  PM: Dr. Muhammad Ilyas  •  University of Sargodha</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VoiceCoder AI — VC-WA01</dc:title>
  <dc:subject>PptxGenJS Presentation</dc:subject>
  <dc:creator>Alina Ahmed, Maryum Javed, Laiba Humayun</dc:creator>
  <cp:lastModifiedBy>Alina Ahmed, Maryum Javed, Laiba Humayun</cp:lastModifiedBy>
  <cp:revision>1</cp:revision>
  <dcterms:created xsi:type="dcterms:W3CDTF">2026-05-19T22:08:58Z</dcterms:created>
  <dcterms:modified xsi:type="dcterms:W3CDTF">2026-05-19T22:08:58Z</dcterms:modified>
</cp:coreProperties>
</file>